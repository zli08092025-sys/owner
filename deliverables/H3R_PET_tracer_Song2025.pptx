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18b037c-1be3-35d8-2dd0-11295cc44771}">
          <p14:sldIdLst>
            <p14:sldId id="256"/>
          </p14:sldIdLst>
        </p14:section>
        <p14:section name="Introduction" id="{e92a8ebd-3b2e-944b-ed73-ce35656472af}">
          <p14:sldIdLst>
            <p14:sldId id="257"/>
            <p14:sldId id="258"/>
          </p14:sldIdLst>
        </p14:section>
        <p14:section name="Chemistry" id="{66243361-7d7b-6a10-b183-2d13cbf206d9}">
          <p14:sldIdLst>
            <p14:sldId id="259"/>
            <p14:sldId id="260"/>
          </p14:sldIdLst>
        </p14:section>
        <p14:section name="Results" id="{2d38d56c-d419-46eb-53c7-b0758d0a9449}">
          <p14:sldIdLst>
            <p14:sldId id="261"/>
            <p14:sldId id="262"/>
            <p14:sldId id="263"/>
          </p14:sldIdLst>
        </p14:section>
        <p14:section name="Conclusion" id="{cbbf35c7-0534-a7c4-1602-06013d0730c9}">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A medicinal chemistry and radiochemistry paper: they design H3 receptor antagonists, label two of them with fluorine-18, and test whether either works as a brain PET tracer.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answered in order: why this receptor, why imaging, and why the existing probes were not good enough. The key design hypothesis is at the bottom right: remove the pyridine of their earlier tracer to improve brain uptake.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aims that map onto the rest of the deck: chemistry, pharmacology, radiochemistry, imaging.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two schemes left to right, then use the toolbox on the right to name each reaction type and say why it was chosen. Yields: 40.6 to 75.4 percent for compounds 1-7, 12.9 percent overall for compound 8, 41.8 percent for the final step to compound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is the precursor strategy. Explain that the boronate ester is made specifically so the copper-mediated reaction can put fluorine-18 onto an electron-rich arene, which older nucleophilic chemistry cannot do. Yields were 32.4 percent for compound 3 and 22.6 percent for compound 4, both non-decay-corrected, with molar activities of 103 and 30 GBq per micromole.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by column. The key number is the 69-fold sigma-1 selectivity of compound 3, because that single figure explains the off-target signal seen later in the imaging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contrast between figures 3 and 4 is the heart of the paper: near-identical in vitro affinity, completely different in vivo behaviour, and lipophilicity is the likely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 stability questions: does the molecule fall apart in blood, does the liver chew it up, and do any radioactive fragments follow the tracer into the brain. The answer is favourable on all three, and the flat bone uptake is the specific check for defluorination.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honest reading: this is a solid lead compound rather than a finished probe, and the authors say so. The sigma-1 cross-reactivity is the thing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737360"/>
            <a:ext cx="6858000" cy="21031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ph idx="101" type="body" hasCustomPrompt="1"/>
          </p:nvPr>
        </p:nvSpPr>
        <p:spPr>
          <a:xfrm>
            <a:off x="640080" y="3977640"/>
            <a:ext cx="6858000" cy="1645920"/>
          </a:xfrm>
          <a:prstGeom prst="rect">
            <a:avLst/>
          </a:prstGeom>
          <a:noFill/>
          <a:ln/>
        </p:spPr>
        <p:txBody>
          <a:bodyPr wrap="square" rtlCol="0"/>
          <a:lstStyle>
            <a:lvl1pPr algn="l" indent="0" marL="0">
              <a:buNone/>
              <a:defRPr lang="en-US" sz="1500" dirty="0">
                <a:solidFill>
                  <a:schemeClr val="accent6"/>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Song et al., J. Med. Chem. 2025, 68, 15372-15385</a:t>
            </a:r>
            <a:endParaRPr lang="en-US" sz="1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0B3C4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rtlCol="0"/>
          <a:lstStyle>
            <a:lvl1pPr algn="l" indent="0" marL="0">
              <a:buNone/>
              <a:defRPr lang="en-US" sz="2600" b="1" dirty="0">
                <a:solidFill>
                  <a:schemeClr val="bg1"/>
                </a:solidFill>
              </a:defRPr>
            </a:lvl1pPr>
          </a:lstStyle>
          <a:p>
            <a:pPr algn="l" indent="0" marL="0">
              <a:buNone/>
            </a:pPr>
            <a:endParaRPr lang="en-US" sz="2600" dirty="0"/>
          </a:p>
        </p:txBody>
      </p:sp>
      <p:sp>
        <p:nvSpPr>
          <p:cNvPr id="3" name="Text 0"/>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chemeClr val="accent6"/>
                </a:solidFill>
              </a:rPr>
              <a:t>Song et al., J. Med. Chem. 2025, 68, 15372-15385</a:t>
            </a:r>
            <a:endParaRPr lang="en-US" sz="10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1143000"/>
            <a:ext cx="68580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JOURNAL CLUB  ·  PET RADIOCHEMISTRY</a:t>
            </a:r>
            <a:endParaRPr lang="en-US" sz="1200" dirty="0"/>
          </a:p>
        </p:txBody>
      </p:sp>
      <p:sp>
        <p:nvSpPr>
          <p:cNvPr id="3" name="Text 0"/>
          <p:cNvSpPr/>
          <p:nvPr>
            <p:ph idx="100" type="title" hasCustomPrompt="1"/>
          </p:nvPr>
        </p:nvSpPr>
        <p:spPr>
          <a:xfrm>
            <a:off x="640080" y="1737360"/>
            <a:ext cx="6858000" cy="2103120"/>
          </a:xfrm>
          <a:prstGeom prst="rect">
            <a:avLst/>
          </a:prstGeom>
          <a:noFill/>
          <a:ln/>
        </p:spPr>
        <p:txBody>
          <a:bodyPr wrap="square" lIns="0" tIns="0" rIns="0" bIns="0" rtlCol="0" anchor="b"/>
          <a:lstStyle/>
          <a:p>
            <a:pPr algn="l" indent="0" marL="0">
              <a:buNone/>
            </a:pPr>
            <a:r>
              <a:rPr lang="en-US" sz="3200" b="1" dirty="0">
                <a:solidFill>
                  <a:schemeClr val="bg1"/>
                </a:solidFill>
              </a:rPr>
              <a:t>Development and preclinical characterization of [¹⁸F]H3-2406 and [¹⁸F]H3-2407 for PET imaging of the histamine H3 receptor</a:t>
            </a:r>
            <a:endParaRPr lang="en-US" sz="3200" dirty="0"/>
          </a:p>
        </p:txBody>
      </p:sp>
      <p:sp>
        <p:nvSpPr>
          <p:cNvPr id="4" name="Text 0"/>
          <p:cNvSpPr/>
          <p:nvPr>
            <p:ph idx="101" type="body" hasCustomPrompt="1"/>
          </p:nvPr>
        </p:nvSpPr>
        <p:spPr>
          <a:xfrm>
            <a:off x="640080" y="3977640"/>
            <a:ext cx="6858000" cy="1645920"/>
          </a:xfrm>
          <a:prstGeom prst="rect">
            <a:avLst/>
          </a:prstGeom>
          <a:noFill/>
          <a:ln/>
        </p:spPr>
        <p:txBody>
          <a:bodyPr wrap="square" lIns="0" tIns="0" rIns="0" bIns="0" rtlCol="0" anchor="t"/>
          <a:lstStyle/>
          <a:p>
            <a:pPr algn="l" indent="0" marL="0">
              <a:buNone/>
            </a:pPr>
            <a:r>
              <a:rPr lang="en-US" sz="1500" b="1" dirty="0">
                <a:solidFill>
                  <a:schemeClr val="bg1"/>
                </a:solidFill>
              </a:rPr>
              <a:t>Song Z, Li Y, Dahl K, … Haider A, Elmore CS, Schou M, Liang SH</a:t>
            </a:r>
            <a:endParaRPr lang="en-US" sz="1500" dirty="0"/>
          </a:p>
          <a:p>
            <a:pPr algn="l" indent="0" marL="0">
              <a:buNone/>
            </a:pPr>
            <a:r>
              <a:rPr lang="en-US" sz="1500" dirty="0">
                <a:solidFill>
                  <a:schemeClr val="accent6"/>
                </a:solidFill>
              </a:rPr>
              <a:t>Emory University, AstraZeneca and Karolinska Institutet · J. Med. Chem., 16 July 2025</a:t>
            </a:r>
            <a:endParaRPr lang="en-US" sz="1500" dirty="0"/>
          </a:p>
          <a:p>
            <a:pPr algn="l" indent="0" marL="0">
              <a:buNone/>
            </a:pPr>
            <a:r>
              <a:rPr lang="en-US" sz="1500" dirty="0">
                <a:solidFill>
                  <a:schemeClr val="accent6"/>
                </a:solidFill>
              </a:rPr>
              <a:t>Two new fluorine-18 H3R antagonists: design, synthesis, radiolabelling and in vivo evaluation</a:t>
            </a:r>
            <a:endParaRPr lang="en-US" sz="1500" dirty="0"/>
          </a:p>
        </p:txBody>
      </p:sp>
      <p:sp>
        <p:nvSpPr>
          <p:cNvPr id="5" name="title art card"/>
          <p:cNvSpPr/>
          <p:nvPr/>
        </p:nvSpPr>
        <p:spPr>
          <a:xfrm>
            <a:off x="8001000" y="1097280"/>
            <a:ext cx="3703320" cy="4663440"/>
          </a:xfrm>
          <a:prstGeom prst="roundRect">
            <a:avLst>
              <a:gd name="adj" fmla="val 2469"/>
            </a:avLst>
          </a:prstGeom>
          <a:solidFill>
            <a:srgbClr val="FFFFFF"/>
          </a:solidFill>
          <a:ln w="12700">
            <a:solidFill>
              <a:srgbClr val="FFFFFF"/>
            </a:solidFill>
            <a:prstDash val="solid"/>
          </a:ln>
        </p:spPr>
      </p:sp>
      <p:pic>
        <p:nvPicPr>
          <p:cNvPr id="6" name="illustration synapse" descr="/tmp/claude-0/-home-user-owner/e66306d4-2675-5ec2-99fe-5e24f3a64605/scratchpad/h3r/build/img/synapse.png">    </p:cNvPr>
          <p:cNvPicPr>
            <a:picLocks noChangeAspect="1"/>
          </p:cNvPicPr>
          <p:nvPr/>
        </p:nvPicPr>
        <p:blipFill>
          <a:blip r:embed="rId1"/>
          <a:stretch>
            <a:fillRect/>
          </a:stretch>
        </p:blipFill>
        <p:spPr>
          <a:xfrm>
            <a:off x="8183880" y="1325880"/>
            <a:ext cx="3337560" cy="2039838"/>
          </a:xfrm>
          <a:prstGeom prst="rect">
            <a:avLst/>
          </a:prstGeom>
        </p:spPr>
      </p:pic>
      <p:pic>
        <p:nvPicPr>
          <p:cNvPr id="7" name="illustration bbb" descr="/tmp/claude-0/-home-user-owner/e66306d4-2675-5ec2-99fe-5e24f3a64605/scratchpad/h3r/build/img/bbb.png">    </p:cNvPr>
          <p:cNvPicPr>
            <a:picLocks noChangeAspect="1"/>
          </p:cNvPicPr>
          <p:nvPr/>
        </p:nvPicPr>
        <p:blipFill>
          <a:blip r:embed="rId2"/>
          <a:stretch>
            <a:fillRect/>
          </a:stretch>
        </p:blipFill>
        <p:spPr>
          <a:xfrm>
            <a:off x="8183880" y="3611880"/>
            <a:ext cx="3337560" cy="16687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tx2"/>
                </a:solidFill>
              </a:rPr>
              <a:t>Background: why the H3 receptor, why PET, and why a new tracer</a:t>
            </a:r>
            <a:endParaRPr lang="en-US" sz="2600" dirty="0"/>
          </a:p>
        </p:txBody>
      </p:sp>
      <p:sp>
        <p:nvSpPr>
          <p:cNvPr id="3" name="icon circle brain"/>
          <p:cNvSpPr/>
          <p:nvPr/>
        </p:nvSpPr>
        <p:spPr>
          <a:xfrm>
            <a:off x="457200" y="1179576"/>
            <a:ext cx="530352" cy="530352"/>
          </a:xfrm>
          <a:prstGeom prst="ellipse">
            <a:avLst/>
          </a:prstGeom>
          <a:solidFill>
            <a:srgbClr val="6A4C93"/>
          </a:solidFill>
          <a:ln w="12700">
            <a:solidFill>
              <a:srgbClr val="6A4C93"/>
            </a:solidFill>
            <a:prstDash val="solid"/>
          </a:ln>
        </p:spPr>
      </p:sp>
      <p:pic>
        <p:nvPicPr>
          <p:cNvPr id="4" name="icon brain" descr="/tmp/claude-0/-home-user-owner/e66306d4-2675-5ec2-99fe-5e24f3a64605/scratchpad/h3r/build/img/ic_brain.png">    </p:cNvPr>
          <p:cNvPicPr>
            <a:picLocks noChangeAspect="1"/>
          </p:cNvPicPr>
          <p:nvPr/>
        </p:nvPicPr>
        <p:blipFill>
          <a:blip r:embed="rId1"/>
          <a:stretch>
            <a:fillRect/>
          </a:stretch>
        </p:blipFill>
        <p:spPr>
          <a:xfrm>
            <a:off x="595092" y="1317468"/>
            <a:ext cx="254569" cy="254569"/>
          </a:xfrm>
          <a:prstGeom prst="rect">
            <a:avLst/>
          </a:prstGeom>
        </p:spPr>
      </p:pic>
      <p:sp>
        <p:nvSpPr>
          <p:cNvPr id="5" name="bg heading 0"/>
          <p:cNvSpPr txBox="1"/>
          <p:nvPr/>
        </p:nvSpPr>
        <p:spPr>
          <a:xfrm>
            <a:off x="1133856" y="1143000"/>
            <a:ext cx="5852160" cy="365760"/>
          </a:xfrm>
          <a:prstGeom prst="rect">
            <a:avLst/>
          </a:prstGeom>
          <a:noFill/>
          <a:ln/>
        </p:spPr>
        <p:txBody>
          <a:bodyPr wrap="square" lIns="0" tIns="0" rIns="0" bIns="0" rtlCol="0" anchor="ctr"/>
          <a:lstStyle/>
          <a:p>
            <a:pPr indent="0" marL="0">
              <a:buNone/>
            </a:pPr>
            <a:r>
              <a:rPr lang="en-US" sz="1450" b="1" dirty="0">
                <a:solidFill>
                  <a:schemeClr val="tx2"/>
                </a:solidFill>
              </a:rPr>
              <a:t>Why H3R: a brake on the whole transmitter system</a:t>
            </a:r>
            <a:endParaRPr lang="en-US" sz="1450" dirty="0"/>
          </a:p>
        </p:txBody>
      </p:sp>
      <p:sp>
        <p:nvSpPr>
          <p:cNvPr id="6" name="bg body 0"/>
          <p:cNvSpPr txBox="1"/>
          <p:nvPr/>
        </p:nvSpPr>
        <p:spPr>
          <a:xfrm>
            <a:off x="1133856" y="1508760"/>
            <a:ext cx="5852160" cy="1371600"/>
          </a:xfrm>
          <a:prstGeom prst="rect">
            <a:avLst/>
          </a:prstGeom>
          <a:noFill/>
          <a:ln/>
        </p:spPr>
        <p:txBody>
          <a:bodyPr wrap="square" lIns="0" tIns="0" rIns="0" bIns="0" rtlCol="0" anchor="t"/>
          <a:lstStyle/>
          <a:p>
            <a:pPr indent="0" marL="0">
              <a:buNone/>
            </a:pPr>
            <a:r>
              <a:rPr lang="en-US" sz="1200" dirty="0">
                <a:solidFill>
                  <a:schemeClr val="tx1"/>
                </a:solidFill>
              </a:rPr>
              <a:t>One of four histamine receptors. H3R is a presynaptic autoreceptor that shuts off histamine synthesis and release, and a heteroreceptor that damps acetylcholine, serotonin and dopamine. It is dense in striatum, cortex, hypothalamus and hippocampus, and is implicated in Alzheimer’s and Parkinson’s disease, sleep-wake disorders, neuropathic pain and epilepsy. Antagonists such as AZD5213, GSK189254 and ABT-288 have reached clinical trials.</a:t>
            </a:r>
            <a:endParaRPr lang="en-US" sz="1200" dirty="0"/>
          </a:p>
        </p:txBody>
      </p:sp>
      <p:sp>
        <p:nvSpPr>
          <p:cNvPr id="7" name="icon circle atom"/>
          <p:cNvSpPr/>
          <p:nvPr/>
        </p:nvSpPr>
        <p:spPr>
          <a:xfrm>
            <a:off x="457200" y="3099816"/>
            <a:ext cx="530352" cy="530352"/>
          </a:xfrm>
          <a:prstGeom prst="ellipse">
            <a:avLst/>
          </a:prstGeom>
          <a:solidFill>
            <a:srgbClr val="1F8A8A"/>
          </a:solidFill>
          <a:ln w="12700">
            <a:solidFill>
              <a:srgbClr val="1F8A8A"/>
            </a:solidFill>
            <a:prstDash val="solid"/>
          </a:ln>
        </p:spPr>
      </p:sp>
      <p:pic>
        <p:nvPicPr>
          <p:cNvPr id="8" name="icon atom" descr="/tmp/claude-0/-home-user-owner/e66306d4-2675-5ec2-99fe-5e24f3a64605/scratchpad/h3r/build/img/ic_atom.png">    </p:cNvPr>
          <p:cNvPicPr>
            <a:picLocks noChangeAspect="1"/>
          </p:cNvPicPr>
          <p:nvPr/>
        </p:nvPicPr>
        <p:blipFill>
          <a:blip r:embed="rId2"/>
          <a:stretch>
            <a:fillRect/>
          </a:stretch>
        </p:blipFill>
        <p:spPr>
          <a:xfrm>
            <a:off x="595092" y="3237708"/>
            <a:ext cx="254569" cy="254569"/>
          </a:xfrm>
          <a:prstGeom prst="rect">
            <a:avLst/>
          </a:prstGeom>
        </p:spPr>
      </p:pic>
      <p:sp>
        <p:nvSpPr>
          <p:cNvPr id="9" name="bg heading 1"/>
          <p:cNvSpPr txBox="1"/>
          <p:nvPr/>
        </p:nvSpPr>
        <p:spPr>
          <a:xfrm>
            <a:off x="1133856" y="3063240"/>
            <a:ext cx="5852160" cy="365760"/>
          </a:xfrm>
          <a:prstGeom prst="rect">
            <a:avLst/>
          </a:prstGeom>
          <a:noFill/>
          <a:ln/>
        </p:spPr>
        <p:txBody>
          <a:bodyPr wrap="square" lIns="0" tIns="0" rIns="0" bIns="0" rtlCol="0" anchor="ctr"/>
          <a:lstStyle/>
          <a:p>
            <a:pPr indent="0" marL="0">
              <a:buNone/>
            </a:pPr>
            <a:r>
              <a:rPr lang="en-US" sz="1450" b="1" dirty="0">
                <a:solidFill>
                  <a:schemeClr val="tx2"/>
                </a:solidFill>
              </a:rPr>
              <a:t>Why PET: the only way to measure target engagement in a living brain</a:t>
            </a:r>
            <a:endParaRPr lang="en-US" sz="1450" dirty="0"/>
          </a:p>
        </p:txBody>
      </p:sp>
      <p:sp>
        <p:nvSpPr>
          <p:cNvPr id="10" name="bg body 1"/>
          <p:cNvSpPr txBox="1"/>
          <p:nvPr/>
        </p:nvSpPr>
        <p:spPr>
          <a:xfrm>
            <a:off x="1133856" y="3429000"/>
            <a:ext cx="5852160" cy="1371600"/>
          </a:xfrm>
          <a:prstGeom prst="rect">
            <a:avLst/>
          </a:prstGeom>
          <a:noFill/>
          <a:ln/>
        </p:spPr>
        <p:txBody>
          <a:bodyPr wrap="square" lIns="0" tIns="0" rIns="0" bIns="0" rtlCol="0" anchor="t"/>
          <a:lstStyle/>
          <a:p>
            <a:pPr indent="0" marL="0">
              <a:buNone/>
            </a:pPr>
            <a:r>
              <a:rPr lang="en-US" sz="1200" dirty="0">
                <a:solidFill>
                  <a:schemeClr val="tx1"/>
                </a:solidFill>
              </a:rPr>
              <a:t>PET quantifies where a receptor sits and how much of it a drug occupies, which is what dose-finding needs. For that you need a radioligand that is potent, selective, brain-penetrant and metabolically stable.</a:t>
            </a:r>
            <a:endParaRPr lang="en-US" sz="1200" dirty="0"/>
          </a:p>
        </p:txBody>
      </p:sp>
      <p:sp>
        <p:nvSpPr>
          <p:cNvPr id="11" name="icon circle clock"/>
          <p:cNvSpPr/>
          <p:nvPr/>
        </p:nvSpPr>
        <p:spPr>
          <a:xfrm>
            <a:off x="457200" y="4700016"/>
            <a:ext cx="530352" cy="530352"/>
          </a:xfrm>
          <a:prstGeom prst="ellipse">
            <a:avLst/>
          </a:prstGeom>
          <a:solidFill>
            <a:srgbClr val="E07A1F"/>
          </a:solidFill>
          <a:ln w="12700">
            <a:solidFill>
              <a:srgbClr val="E07A1F"/>
            </a:solidFill>
            <a:prstDash val="solid"/>
          </a:ln>
        </p:spPr>
      </p:sp>
      <p:pic>
        <p:nvPicPr>
          <p:cNvPr id="12" name="icon clock" descr="/tmp/claude-0/-home-user-owner/e66306d4-2675-5ec2-99fe-5e24f3a64605/scratchpad/h3r/build/img/ic_clock.png">    </p:cNvPr>
          <p:cNvPicPr>
            <a:picLocks noChangeAspect="1"/>
          </p:cNvPicPr>
          <p:nvPr/>
        </p:nvPicPr>
        <p:blipFill>
          <a:blip r:embed="rId3"/>
          <a:stretch>
            <a:fillRect/>
          </a:stretch>
        </p:blipFill>
        <p:spPr>
          <a:xfrm>
            <a:off x="595092" y="4837908"/>
            <a:ext cx="254569" cy="254569"/>
          </a:xfrm>
          <a:prstGeom prst="rect">
            <a:avLst/>
          </a:prstGeom>
        </p:spPr>
      </p:pic>
      <p:sp>
        <p:nvSpPr>
          <p:cNvPr id="13" name="bg heading 2"/>
          <p:cNvSpPr txBox="1"/>
          <p:nvPr/>
        </p:nvSpPr>
        <p:spPr>
          <a:xfrm>
            <a:off x="1133856" y="4663440"/>
            <a:ext cx="5852160" cy="365760"/>
          </a:xfrm>
          <a:prstGeom prst="rect">
            <a:avLst/>
          </a:prstGeom>
          <a:noFill/>
          <a:ln/>
        </p:spPr>
        <p:txBody>
          <a:bodyPr wrap="square" lIns="0" tIns="0" rIns="0" bIns="0" rtlCol="0" anchor="ctr"/>
          <a:lstStyle/>
          <a:p>
            <a:pPr indent="0" marL="0">
              <a:buNone/>
            </a:pPr>
            <a:r>
              <a:rPr lang="en-US" sz="1450" b="1" dirty="0">
                <a:solidFill>
                  <a:schemeClr val="tx2"/>
                </a:solidFill>
              </a:rPr>
              <a:t>Why a new tracer: the existing probes fall short</a:t>
            </a:r>
            <a:endParaRPr lang="en-US" sz="1450" dirty="0"/>
          </a:p>
        </p:txBody>
      </p:sp>
      <p:sp>
        <p:nvSpPr>
          <p:cNvPr id="14" name="bg body 2"/>
          <p:cNvSpPr txBox="1"/>
          <p:nvPr/>
        </p:nvSpPr>
        <p:spPr>
          <a:xfrm>
            <a:off x="1133856" y="5029200"/>
            <a:ext cx="5852160" cy="1371600"/>
          </a:xfrm>
          <a:prstGeom prst="rect">
            <a:avLst/>
          </a:prstGeom>
          <a:noFill/>
          <a:ln/>
        </p:spPr>
        <p:txBody>
          <a:bodyPr wrap="square" lIns="0" tIns="0" rIns="0" bIns="0" rtlCol="0" anchor="t"/>
          <a:lstStyle/>
          <a:p>
            <a:pPr indent="0" marL="0">
              <a:buNone/>
            </a:pPr>
            <a:r>
              <a:rPr lang="en-US" sz="1200" dirty="0">
                <a:solidFill>
                  <a:schemeClr val="tx1"/>
                </a:solidFill>
              </a:rPr>
              <a:t>Most H3R tracers are carbon-11 ([¹¹C]GSK189254, MK-8278, TASP457, AZ13198083). Its 20.4 min half-life ties scanning to an on-site cyclotron. Existing fluorine-18 ligands suffered low brain uptake or poor metabolic stability, and none reached routine human use. The team’s own [¹⁸F]H3-2404 took up poorly and non-specifically.</a:t>
            </a:r>
            <a:endParaRPr lang="en-US" sz="1200" dirty="0"/>
          </a:p>
        </p:txBody>
      </p:sp>
      <p:sp>
        <p:nvSpPr>
          <p:cNvPr id="15" name="bg art card"/>
          <p:cNvSpPr/>
          <p:nvPr/>
        </p:nvSpPr>
        <p:spPr>
          <a:xfrm>
            <a:off x="7269480" y="1097280"/>
            <a:ext cx="4462272" cy="5212080"/>
          </a:xfrm>
          <a:prstGeom prst="roundRect">
            <a:avLst>
              <a:gd name="adj" fmla="val 2049"/>
            </a:avLst>
          </a:prstGeom>
          <a:solidFill>
            <a:srgbClr val="EAF1F3"/>
          </a:solidFill>
          <a:ln w="12700">
            <a:solidFill>
              <a:srgbClr val="EAF1F3"/>
            </a:solidFill>
            <a:prstDash val="solid"/>
          </a:ln>
        </p:spPr>
      </p:sp>
      <p:pic>
        <p:nvPicPr>
          <p:cNvPr id="16" name="illustration synapse" descr="/tmp/claude-0/-home-user-owner/e66306d4-2675-5ec2-99fe-5e24f3a64605/scratchpad/h3r/build/img/synapse.png">    </p:cNvPr>
          <p:cNvPicPr>
            <a:picLocks noChangeAspect="1"/>
          </p:cNvPicPr>
          <p:nvPr/>
        </p:nvPicPr>
        <p:blipFill>
          <a:blip r:embed="rId4"/>
          <a:stretch>
            <a:fillRect/>
          </a:stretch>
        </p:blipFill>
        <p:spPr>
          <a:xfrm>
            <a:off x="7602193" y="1234440"/>
            <a:ext cx="3815134" cy="2331720"/>
          </a:xfrm>
          <a:prstGeom prst="rect">
            <a:avLst/>
          </a:prstGeom>
        </p:spPr>
      </p:pic>
      <p:pic>
        <p:nvPicPr>
          <p:cNvPr id="17" name="illustration bbb" descr="/tmp/claude-0/-home-user-owner/e66306d4-2675-5ec2-99fe-5e24f3a64605/scratchpad/h3r/build/img/bbb.png">    </p:cNvPr>
          <p:cNvPicPr>
            <a:picLocks noChangeAspect="1"/>
          </p:cNvPicPr>
          <p:nvPr/>
        </p:nvPicPr>
        <p:blipFill>
          <a:blip r:embed="rId5"/>
          <a:stretch>
            <a:fillRect/>
          </a:stretch>
        </p:blipFill>
        <p:spPr>
          <a:xfrm>
            <a:off x="7498080" y="3657600"/>
            <a:ext cx="4023360" cy="2011680"/>
          </a:xfrm>
          <a:prstGeom prst="rect">
            <a:avLst/>
          </a:prstGeom>
        </p:spPr>
      </p:pic>
      <p:sp>
        <p:nvSpPr>
          <p:cNvPr id="18" name="bg hypothesis"/>
          <p:cNvSpPr txBox="1"/>
          <p:nvPr/>
        </p:nvSpPr>
        <p:spPr>
          <a:xfrm>
            <a:off x="7452360" y="5760720"/>
            <a:ext cx="4114800" cy="530352"/>
          </a:xfrm>
          <a:prstGeom prst="rect">
            <a:avLst/>
          </a:prstGeom>
          <a:noFill/>
          <a:ln/>
        </p:spPr>
        <p:txBody>
          <a:bodyPr wrap="square" lIns="0" tIns="0" rIns="0" bIns="0" rtlCol="0" anchor="t"/>
          <a:lstStyle/>
          <a:p>
            <a:pPr indent="0" marL="0">
              <a:buNone/>
            </a:pPr>
            <a:r>
              <a:rPr lang="en-US" sz="1100" i="1" dirty="0">
                <a:solidFill>
                  <a:schemeClr val="tx2"/>
                </a:solidFill>
              </a:rPr>
              <a:t>Their hypothesis: the pyridine ring of H3-2404 adds polarity and hydrogen bonding, and its nitrogen may invite P-glycoprotein efflux, so both hurt brain entry.</a:t>
            </a:r>
            <a:endParaRPr lang="en-US" sz="11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tx2"/>
                </a:solidFill>
              </a:rPr>
              <a:t>Objectives: redesign the scaffold, then prove the best candidate in vivo</a:t>
            </a:r>
            <a:endParaRPr lang="en-US" sz="2600" dirty="0"/>
          </a:p>
        </p:txBody>
      </p:sp>
      <p:sp>
        <p:nvSpPr>
          <p:cNvPr id="3" name="obj art card"/>
          <p:cNvSpPr/>
          <p:nvPr/>
        </p:nvSpPr>
        <p:spPr>
          <a:xfrm>
            <a:off x="457200" y="1097280"/>
            <a:ext cx="4800600" cy="5212080"/>
          </a:xfrm>
          <a:prstGeom prst="roundRect">
            <a:avLst>
              <a:gd name="adj" fmla="val 1905"/>
            </a:avLst>
          </a:prstGeom>
          <a:solidFill>
            <a:srgbClr val="EAF1F3"/>
          </a:solidFill>
          <a:ln w="12700">
            <a:solidFill>
              <a:srgbClr val="EAF1F3"/>
            </a:solidFill>
            <a:prstDash val="solid"/>
          </a:ln>
        </p:spPr>
      </p:sp>
      <p:sp>
        <p:nvSpPr>
          <p:cNvPr id="4" name="frame f1c_design"/>
          <p:cNvSpPr/>
          <p:nvPr/>
        </p:nvSpPr>
        <p:spPr>
          <a:xfrm>
            <a:off x="566928" y="1225296"/>
            <a:ext cx="4590288" cy="1489503"/>
          </a:xfrm>
          <a:prstGeom prst="roundRect">
            <a:avLst>
              <a:gd name="adj" fmla="val 4911"/>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5" name="f1c_design" descr="/tmp/claude-0/-home-user-owner/e66306d4-2675-5ec2-99fe-5e24f3a64605/scratchpad/h3r/figs/f1c_design.png">    </p:cNvPr>
          <p:cNvPicPr>
            <a:picLocks noChangeAspect="1"/>
          </p:cNvPicPr>
          <p:nvPr/>
        </p:nvPicPr>
        <p:blipFill>
          <a:blip r:embed="rId1"/>
          <a:stretch>
            <a:fillRect/>
          </a:stretch>
        </p:blipFill>
        <p:spPr>
          <a:xfrm>
            <a:off x="621792" y="1280160"/>
            <a:ext cx="4480560" cy="1379775"/>
          </a:xfrm>
          <a:prstGeom prst="rect">
            <a:avLst/>
          </a:prstGeom>
        </p:spPr>
      </p:pic>
      <p:sp>
        <p:nvSpPr>
          <p:cNvPr id="6" name="caption f1c_design"/>
          <p:cNvSpPr txBox="1"/>
          <p:nvPr/>
        </p:nvSpPr>
        <p:spPr>
          <a:xfrm>
            <a:off x="566928" y="2723943"/>
            <a:ext cx="4590288" cy="274320"/>
          </a:xfrm>
          <a:prstGeom prst="rect">
            <a:avLst/>
          </a:prstGeom>
          <a:noFill/>
          <a:ln/>
        </p:spPr>
        <p:txBody>
          <a:bodyPr wrap="square" lIns="0" tIns="0" rIns="0" bIns="0" rtlCol="0" anchor="ctr"/>
          <a:lstStyle/>
          <a:p>
            <a:pPr indent="0" marL="0">
              <a:buNone/>
            </a:pPr>
            <a:r>
              <a:rPr lang="en-US" sz="1000" i="1" dirty="0">
                <a:solidFill>
                  <a:schemeClr val="accent5"/>
                </a:solidFill>
              </a:rPr>
              <a:t>Fig. 1C  The design: keep the fluorine-18 handle, drop the pyridine, lengthen the half-life</a:t>
            </a:r>
            <a:endParaRPr lang="en-US" sz="1000" dirty="0"/>
          </a:p>
        </p:txBody>
      </p:sp>
      <p:pic>
        <p:nvPicPr>
          <p:cNvPr id="7" name="illustration pet" descr="/tmp/claude-0/-home-user-owner/e66306d4-2675-5ec2-99fe-5e24f3a64605/scratchpad/h3r/build/img/pet.png">    </p:cNvPr>
          <p:cNvPicPr>
            <a:picLocks noChangeAspect="1"/>
          </p:cNvPicPr>
          <p:nvPr/>
        </p:nvPicPr>
        <p:blipFill>
          <a:blip r:embed="rId2"/>
          <a:stretch>
            <a:fillRect/>
          </a:stretch>
        </p:blipFill>
        <p:spPr>
          <a:xfrm>
            <a:off x="717183" y="3200400"/>
            <a:ext cx="4289778" cy="1645920"/>
          </a:xfrm>
          <a:prstGeom prst="rect">
            <a:avLst/>
          </a:prstGeom>
        </p:spPr>
      </p:pic>
      <p:sp>
        <p:nvSpPr>
          <p:cNvPr id="8" name="obj starting point"/>
          <p:cNvSpPr txBox="1"/>
          <p:nvPr/>
        </p:nvSpPr>
        <p:spPr>
          <a:xfrm>
            <a:off x="658368" y="4937760"/>
            <a:ext cx="4434840" cy="1325880"/>
          </a:xfrm>
          <a:prstGeom prst="rect">
            <a:avLst/>
          </a:prstGeom>
          <a:noFill/>
          <a:ln/>
        </p:spPr>
        <p:txBody>
          <a:bodyPr wrap="square" lIns="0" tIns="0" rIns="0" bIns="0" rtlCol="0" anchor="t"/>
          <a:lstStyle/>
          <a:p>
            <a:pPr indent="0" marL="0">
              <a:buNone/>
            </a:pPr>
            <a:r>
              <a:rPr lang="en-US" sz="1150" b="1" dirty="0">
                <a:solidFill>
                  <a:schemeClr val="tx2"/>
                </a:solidFill>
              </a:rPr>
              <a:t>Starting point. </a:t>
            </a:r>
            <a:pPr indent="0" marL="0">
              <a:buNone/>
            </a:pPr>
            <a:r>
              <a:rPr lang="en-US" sz="1150" dirty="0">
                <a:solidFill>
                  <a:schemeClr val="tx1"/>
                </a:solidFill>
              </a:rPr>
              <a:t>[¹⁸F]H3-2404 (Ki 10.2 nM) had poor, non-specific brain uptake. [¹¹C]AZ13153556 (Ki 12.0 nM) bound well but decays too fast. The new compounds aim for the brain uptake of one and the half-life of the other.</a:t>
            </a:r>
            <a:endParaRPr lang="en-US" sz="1150" dirty="0"/>
          </a:p>
        </p:txBody>
      </p:sp>
      <p:sp>
        <p:nvSpPr>
          <p:cNvPr id="9" name="obj card 0"/>
          <p:cNvSpPr/>
          <p:nvPr/>
        </p:nvSpPr>
        <p:spPr>
          <a:xfrm>
            <a:off x="5532120" y="1097280"/>
            <a:ext cx="6199632" cy="1216152"/>
          </a:xfrm>
          <a:prstGeom prst="roundRect">
            <a:avLst>
              <a:gd name="adj" fmla="val 7519"/>
            </a:avLst>
          </a:prstGeom>
          <a:solidFill>
            <a:srgbClr val="FFFFFF"/>
          </a:solidFill>
          <a:ln w="12700">
            <a:solidFill>
              <a:srgbClr val="C7D7DD"/>
            </a:solidFill>
            <a:prstDash val="solid"/>
          </a:ln>
        </p:spPr>
      </p:sp>
      <p:sp>
        <p:nvSpPr>
          <p:cNvPr id="10" name="icon circle flask"/>
          <p:cNvSpPr/>
          <p:nvPr/>
        </p:nvSpPr>
        <p:spPr>
          <a:xfrm>
            <a:off x="5715000" y="1417320"/>
            <a:ext cx="530352" cy="530352"/>
          </a:xfrm>
          <a:prstGeom prst="ellipse">
            <a:avLst/>
          </a:prstGeom>
          <a:solidFill>
            <a:srgbClr val="6A4C93"/>
          </a:solidFill>
          <a:ln w="12700">
            <a:solidFill>
              <a:srgbClr val="6A4C93"/>
            </a:solidFill>
            <a:prstDash val="solid"/>
          </a:ln>
        </p:spPr>
      </p:sp>
      <p:pic>
        <p:nvPicPr>
          <p:cNvPr id="11" name="icon flask" descr="/tmp/claude-0/-home-user-owner/e66306d4-2675-5ec2-99fe-5e24f3a64605/scratchpad/h3r/build/img/ic_flask.png">    </p:cNvPr>
          <p:cNvPicPr>
            <a:picLocks noChangeAspect="1"/>
          </p:cNvPicPr>
          <p:nvPr/>
        </p:nvPicPr>
        <p:blipFill>
          <a:blip r:embed="rId3"/>
          <a:stretch>
            <a:fillRect/>
          </a:stretch>
        </p:blipFill>
        <p:spPr>
          <a:xfrm>
            <a:off x="5852892" y="1555212"/>
            <a:ext cx="254569" cy="254569"/>
          </a:xfrm>
          <a:prstGeom prst="rect">
            <a:avLst/>
          </a:prstGeom>
        </p:spPr>
      </p:pic>
      <p:sp>
        <p:nvSpPr>
          <p:cNvPr id="12" name="obj number 0"/>
          <p:cNvSpPr txBox="1"/>
          <p:nvPr/>
        </p:nvSpPr>
        <p:spPr>
          <a:xfrm>
            <a:off x="6364224" y="1188720"/>
            <a:ext cx="365760" cy="457200"/>
          </a:xfrm>
          <a:prstGeom prst="rect">
            <a:avLst/>
          </a:prstGeom>
          <a:noFill/>
          <a:ln/>
        </p:spPr>
        <p:txBody>
          <a:bodyPr wrap="square" lIns="0" tIns="0" rIns="0" bIns="0" rtlCol="0" anchor="ctr"/>
          <a:lstStyle/>
          <a:p>
            <a:pPr indent="0" marL="0">
              <a:buNone/>
            </a:pPr>
            <a:r>
              <a:rPr lang="en-US" sz="2300" b="1" dirty="0">
                <a:solidFill>
                  <a:srgbClr val="6A4C93"/>
                </a:solidFill>
              </a:rPr>
              <a:t>1</a:t>
            </a:r>
            <a:endParaRPr lang="en-US" sz="2300" dirty="0"/>
          </a:p>
        </p:txBody>
      </p:sp>
      <p:sp>
        <p:nvSpPr>
          <p:cNvPr id="13" name="obj heading 0"/>
          <p:cNvSpPr txBox="1"/>
          <p:nvPr/>
        </p:nvSpPr>
        <p:spPr>
          <a:xfrm>
            <a:off x="6766560" y="1188720"/>
            <a:ext cx="4846320" cy="329184"/>
          </a:xfrm>
          <a:prstGeom prst="rect">
            <a:avLst/>
          </a:prstGeom>
          <a:noFill/>
          <a:ln/>
        </p:spPr>
        <p:txBody>
          <a:bodyPr wrap="square" lIns="0" tIns="0" rIns="0" bIns="0" rtlCol="0" anchor="ctr"/>
          <a:lstStyle/>
          <a:p>
            <a:pPr indent="0" marL="0">
              <a:buNone/>
            </a:pPr>
            <a:r>
              <a:rPr lang="en-US" sz="1400" b="1" dirty="0">
                <a:solidFill>
                  <a:schemeClr val="tx2"/>
                </a:solidFill>
              </a:rPr>
              <a:t>Design and make the analogues</a:t>
            </a:r>
            <a:endParaRPr lang="en-US" sz="1400" dirty="0"/>
          </a:p>
        </p:txBody>
      </p:sp>
      <p:sp>
        <p:nvSpPr>
          <p:cNvPr id="14" name="obj body 0"/>
          <p:cNvSpPr txBox="1"/>
          <p:nvPr/>
        </p:nvSpPr>
        <p:spPr>
          <a:xfrm>
            <a:off x="6766560" y="1517904"/>
            <a:ext cx="4846320" cy="749808"/>
          </a:xfrm>
          <a:prstGeom prst="rect">
            <a:avLst/>
          </a:prstGeom>
          <a:noFill/>
          <a:ln/>
        </p:spPr>
        <p:txBody>
          <a:bodyPr wrap="square" lIns="0" tIns="0" rIns="0" bIns="0" rtlCol="0" anchor="t"/>
          <a:lstStyle/>
          <a:p>
            <a:pPr indent="0" marL="0">
              <a:buNone/>
            </a:pPr>
            <a:r>
              <a:rPr lang="en-US" sz="1150" dirty="0">
                <a:solidFill>
                  <a:schemeClr val="tx1"/>
                </a:solidFill>
              </a:rPr>
              <a:t>Build nine compounds around the H3-2404 core, varying the cycloalkyl ring on the piperazine and the saturated nitrogen heterocycle itself.</a:t>
            </a:r>
            <a:endParaRPr lang="en-US" sz="1150" dirty="0"/>
          </a:p>
        </p:txBody>
      </p:sp>
      <p:sp>
        <p:nvSpPr>
          <p:cNvPr id="15" name="obj card 1"/>
          <p:cNvSpPr/>
          <p:nvPr/>
        </p:nvSpPr>
        <p:spPr>
          <a:xfrm>
            <a:off x="5532120" y="2423160"/>
            <a:ext cx="6199632" cy="1216152"/>
          </a:xfrm>
          <a:prstGeom prst="roundRect">
            <a:avLst>
              <a:gd name="adj" fmla="val 7519"/>
            </a:avLst>
          </a:prstGeom>
          <a:solidFill>
            <a:srgbClr val="FFFFFF"/>
          </a:solidFill>
          <a:ln w="12700">
            <a:solidFill>
              <a:srgbClr val="C7D7DD"/>
            </a:solidFill>
            <a:prstDash val="solid"/>
          </a:ln>
        </p:spPr>
      </p:sp>
      <p:sp>
        <p:nvSpPr>
          <p:cNvPr id="16" name="icon circle scale"/>
          <p:cNvSpPr/>
          <p:nvPr/>
        </p:nvSpPr>
        <p:spPr>
          <a:xfrm>
            <a:off x="5715000" y="2743200"/>
            <a:ext cx="530352" cy="530352"/>
          </a:xfrm>
          <a:prstGeom prst="ellipse">
            <a:avLst/>
          </a:prstGeom>
          <a:solidFill>
            <a:srgbClr val="1F8A8A"/>
          </a:solidFill>
          <a:ln w="12700">
            <a:solidFill>
              <a:srgbClr val="1F8A8A"/>
            </a:solidFill>
            <a:prstDash val="solid"/>
          </a:ln>
        </p:spPr>
      </p:sp>
      <p:pic>
        <p:nvPicPr>
          <p:cNvPr id="17" name="icon scale" descr="/tmp/claude-0/-home-user-owner/e66306d4-2675-5ec2-99fe-5e24f3a64605/scratchpad/h3r/build/img/ic_scale.png">    </p:cNvPr>
          <p:cNvPicPr>
            <a:picLocks noChangeAspect="1"/>
          </p:cNvPicPr>
          <p:nvPr/>
        </p:nvPicPr>
        <p:blipFill>
          <a:blip r:embed="rId4"/>
          <a:stretch>
            <a:fillRect/>
          </a:stretch>
        </p:blipFill>
        <p:spPr>
          <a:xfrm>
            <a:off x="5852892" y="2881092"/>
            <a:ext cx="254569" cy="254569"/>
          </a:xfrm>
          <a:prstGeom prst="rect">
            <a:avLst/>
          </a:prstGeom>
        </p:spPr>
      </p:pic>
      <p:sp>
        <p:nvSpPr>
          <p:cNvPr id="18" name="obj number 1"/>
          <p:cNvSpPr txBox="1"/>
          <p:nvPr/>
        </p:nvSpPr>
        <p:spPr>
          <a:xfrm>
            <a:off x="6364224" y="2514600"/>
            <a:ext cx="365760" cy="457200"/>
          </a:xfrm>
          <a:prstGeom prst="rect">
            <a:avLst/>
          </a:prstGeom>
          <a:noFill/>
          <a:ln/>
        </p:spPr>
        <p:txBody>
          <a:bodyPr wrap="square" lIns="0" tIns="0" rIns="0" bIns="0" rtlCol="0" anchor="ctr"/>
          <a:lstStyle/>
          <a:p>
            <a:pPr indent="0" marL="0">
              <a:buNone/>
            </a:pPr>
            <a:r>
              <a:rPr lang="en-US" sz="2300" b="1" dirty="0">
                <a:solidFill>
                  <a:srgbClr val="1F8A8A"/>
                </a:solidFill>
              </a:rPr>
              <a:t>2</a:t>
            </a:r>
            <a:endParaRPr lang="en-US" sz="2300" dirty="0"/>
          </a:p>
        </p:txBody>
      </p:sp>
      <p:sp>
        <p:nvSpPr>
          <p:cNvPr id="19" name="obj heading 1"/>
          <p:cNvSpPr txBox="1"/>
          <p:nvPr/>
        </p:nvSpPr>
        <p:spPr>
          <a:xfrm>
            <a:off x="6766560" y="2514600"/>
            <a:ext cx="4846320" cy="329184"/>
          </a:xfrm>
          <a:prstGeom prst="rect">
            <a:avLst/>
          </a:prstGeom>
          <a:noFill/>
          <a:ln/>
        </p:spPr>
        <p:txBody>
          <a:bodyPr wrap="square" lIns="0" tIns="0" rIns="0" bIns="0" rtlCol="0" anchor="ctr"/>
          <a:lstStyle/>
          <a:p>
            <a:pPr indent="0" marL="0">
              <a:buNone/>
            </a:pPr>
            <a:r>
              <a:rPr lang="en-US" sz="1400" b="1" dirty="0">
                <a:solidFill>
                  <a:schemeClr val="tx2"/>
                </a:solidFill>
              </a:rPr>
              <a:t>Screen potency, selectivity and physical properties</a:t>
            </a:r>
            <a:endParaRPr lang="en-US" sz="1400" dirty="0"/>
          </a:p>
        </p:txBody>
      </p:sp>
      <p:sp>
        <p:nvSpPr>
          <p:cNvPr id="20" name="obj body 1"/>
          <p:cNvSpPr txBox="1"/>
          <p:nvPr/>
        </p:nvSpPr>
        <p:spPr>
          <a:xfrm>
            <a:off x="6766560" y="2843784"/>
            <a:ext cx="4846320" cy="749808"/>
          </a:xfrm>
          <a:prstGeom prst="rect">
            <a:avLst/>
          </a:prstGeom>
          <a:noFill/>
          <a:ln/>
        </p:spPr>
        <p:txBody>
          <a:bodyPr wrap="square" lIns="0" tIns="0" rIns="0" bIns="0" rtlCol="0" anchor="t"/>
          <a:lstStyle/>
          <a:p>
            <a:pPr indent="0" marL="0">
              <a:buNone/>
            </a:pPr>
            <a:r>
              <a:rPr lang="en-US" sz="1150" dirty="0">
                <a:solidFill>
                  <a:schemeClr val="tx1"/>
                </a:solidFill>
              </a:rPr>
              <a:t>Measure H3R Ki and IC50 by competitive radioligand binding, screen a CNS off-target panel at 10 µM, and measure log D alongside predicted MPO and log BB.</a:t>
            </a:r>
            <a:endParaRPr lang="en-US" sz="1150" dirty="0"/>
          </a:p>
        </p:txBody>
      </p:sp>
      <p:sp>
        <p:nvSpPr>
          <p:cNvPr id="21" name="obj card 2"/>
          <p:cNvSpPr/>
          <p:nvPr/>
        </p:nvSpPr>
        <p:spPr>
          <a:xfrm>
            <a:off x="5532120" y="3749040"/>
            <a:ext cx="6199632" cy="1216152"/>
          </a:xfrm>
          <a:prstGeom prst="roundRect">
            <a:avLst>
              <a:gd name="adj" fmla="val 7519"/>
            </a:avLst>
          </a:prstGeom>
          <a:solidFill>
            <a:srgbClr val="FFFFFF"/>
          </a:solidFill>
          <a:ln w="12700">
            <a:solidFill>
              <a:srgbClr val="C7D7DD"/>
            </a:solidFill>
            <a:prstDash val="solid"/>
          </a:ln>
        </p:spPr>
      </p:sp>
      <p:sp>
        <p:nvSpPr>
          <p:cNvPr id="22" name="icon circle atom"/>
          <p:cNvSpPr/>
          <p:nvPr/>
        </p:nvSpPr>
        <p:spPr>
          <a:xfrm>
            <a:off x="5715000" y="4069080"/>
            <a:ext cx="530352" cy="530352"/>
          </a:xfrm>
          <a:prstGeom prst="ellipse">
            <a:avLst/>
          </a:prstGeom>
          <a:solidFill>
            <a:srgbClr val="E07A1F"/>
          </a:solidFill>
          <a:ln w="12700">
            <a:solidFill>
              <a:srgbClr val="E07A1F"/>
            </a:solidFill>
            <a:prstDash val="solid"/>
          </a:ln>
        </p:spPr>
      </p:sp>
      <p:pic>
        <p:nvPicPr>
          <p:cNvPr id="23" name="icon atom" descr="/tmp/claude-0/-home-user-owner/e66306d4-2675-5ec2-99fe-5e24f3a64605/scratchpad/h3r/build/img/ic_atom.png">    </p:cNvPr>
          <p:cNvPicPr>
            <a:picLocks noChangeAspect="1"/>
          </p:cNvPicPr>
          <p:nvPr/>
        </p:nvPicPr>
        <p:blipFill>
          <a:blip r:embed="rId5"/>
          <a:stretch>
            <a:fillRect/>
          </a:stretch>
        </p:blipFill>
        <p:spPr>
          <a:xfrm>
            <a:off x="5852892" y="4206972"/>
            <a:ext cx="254569" cy="254569"/>
          </a:xfrm>
          <a:prstGeom prst="rect">
            <a:avLst/>
          </a:prstGeom>
        </p:spPr>
      </p:pic>
      <p:sp>
        <p:nvSpPr>
          <p:cNvPr id="24" name="obj number 2"/>
          <p:cNvSpPr txBox="1"/>
          <p:nvPr/>
        </p:nvSpPr>
        <p:spPr>
          <a:xfrm>
            <a:off x="6364224" y="3840480"/>
            <a:ext cx="365760" cy="457200"/>
          </a:xfrm>
          <a:prstGeom prst="rect">
            <a:avLst/>
          </a:prstGeom>
          <a:noFill/>
          <a:ln/>
        </p:spPr>
        <p:txBody>
          <a:bodyPr wrap="square" lIns="0" tIns="0" rIns="0" bIns="0" rtlCol="0" anchor="ctr"/>
          <a:lstStyle/>
          <a:p>
            <a:pPr indent="0" marL="0">
              <a:buNone/>
            </a:pPr>
            <a:r>
              <a:rPr lang="en-US" sz="2300" b="1" dirty="0">
                <a:solidFill>
                  <a:srgbClr val="E07A1F"/>
                </a:solidFill>
              </a:rPr>
              <a:t>3</a:t>
            </a:r>
            <a:endParaRPr lang="en-US" sz="2300" dirty="0"/>
          </a:p>
        </p:txBody>
      </p:sp>
      <p:sp>
        <p:nvSpPr>
          <p:cNvPr id="25" name="obj heading 2"/>
          <p:cNvSpPr txBox="1"/>
          <p:nvPr/>
        </p:nvSpPr>
        <p:spPr>
          <a:xfrm>
            <a:off x="6766560" y="3840480"/>
            <a:ext cx="4846320" cy="329184"/>
          </a:xfrm>
          <a:prstGeom prst="rect">
            <a:avLst/>
          </a:prstGeom>
          <a:noFill/>
          <a:ln/>
        </p:spPr>
        <p:txBody>
          <a:bodyPr wrap="square" lIns="0" tIns="0" rIns="0" bIns="0" rtlCol="0" anchor="ctr"/>
          <a:lstStyle/>
          <a:p>
            <a:pPr indent="0" marL="0">
              <a:buNone/>
            </a:pPr>
            <a:r>
              <a:rPr lang="en-US" sz="1400" b="1" dirty="0">
                <a:solidFill>
                  <a:schemeClr val="tx2"/>
                </a:solidFill>
              </a:rPr>
              <a:t>Radiolabel the two winners with fluorine-18</a:t>
            </a:r>
            <a:endParaRPr lang="en-US" sz="1400" dirty="0"/>
          </a:p>
        </p:txBody>
      </p:sp>
      <p:sp>
        <p:nvSpPr>
          <p:cNvPr id="26" name="obj body 2"/>
          <p:cNvSpPr txBox="1"/>
          <p:nvPr/>
        </p:nvSpPr>
        <p:spPr>
          <a:xfrm>
            <a:off x="6766560" y="4169664"/>
            <a:ext cx="4846320" cy="749808"/>
          </a:xfrm>
          <a:prstGeom prst="rect">
            <a:avLst/>
          </a:prstGeom>
          <a:noFill/>
          <a:ln/>
        </p:spPr>
        <p:txBody>
          <a:bodyPr wrap="square" lIns="0" tIns="0" rIns="0" bIns="0" rtlCol="0" anchor="t"/>
          <a:lstStyle/>
          <a:p>
            <a:pPr indent="0" marL="0">
              <a:buNone/>
            </a:pPr>
            <a:r>
              <a:rPr lang="en-US" sz="1150" dirty="0">
                <a:solidFill>
                  <a:schemeClr val="tx1"/>
                </a:solidFill>
              </a:rPr>
              <a:t>Prepare boronate ester precursors and label them by copper-mediated radiofluorination, then check yield, purity and molar activity.</a:t>
            </a:r>
            <a:endParaRPr lang="en-US" sz="1150" dirty="0"/>
          </a:p>
        </p:txBody>
      </p:sp>
      <p:sp>
        <p:nvSpPr>
          <p:cNvPr id="27" name="obj card 3"/>
          <p:cNvSpPr/>
          <p:nvPr/>
        </p:nvSpPr>
        <p:spPr>
          <a:xfrm>
            <a:off x="5532120" y="5074920"/>
            <a:ext cx="6199632" cy="1216152"/>
          </a:xfrm>
          <a:prstGeom prst="roundRect">
            <a:avLst>
              <a:gd name="adj" fmla="val 7519"/>
            </a:avLst>
          </a:prstGeom>
          <a:solidFill>
            <a:srgbClr val="FFFFFF"/>
          </a:solidFill>
          <a:ln w="12700">
            <a:solidFill>
              <a:srgbClr val="C7D7DD"/>
            </a:solidFill>
            <a:prstDash val="solid"/>
          </a:ln>
        </p:spPr>
      </p:sp>
      <p:sp>
        <p:nvSpPr>
          <p:cNvPr id="28" name="icon circle target"/>
          <p:cNvSpPr/>
          <p:nvPr/>
        </p:nvSpPr>
        <p:spPr>
          <a:xfrm>
            <a:off x="5715000" y="5394960"/>
            <a:ext cx="530352" cy="530352"/>
          </a:xfrm>
          <a:prstGeom prst="ellipse">
            <a:avLst/>
          </a:prstGeom>
          <a:solidFill>
            <a:srgbClr val="3E6B7C"/>
          </a:solidFill>
          <a:ln w="12700">
            <a:solidFill>
              <a:srgbClr val="3E6B7C"/>
            </a:solidFill>
            <a:prstDash val="solid"/>
          </a:ln>
        </p:spPr>
      </p:sp>
      <p:pic>
        <p:nvPicPr>
          <p:cNvPr id="29" name="icon target" descr="/tmp/claude-0/-home-user-owner/e66306d4-2675-5ec2-99fe-5e24f3a64605/scratchpad/h3r/build/img/ic_target.png">    </p:cNvPr>
          <p:cNvPicPr>
            <a:picLocks noChangeAspect="1"/>
          </p:cNvPicPr>
          <p:nvPr/>
        </p:nvPicPr>
        <p:blipFill>
          <a:blip r:embed="rId6"/>
          <a:stretch>
            <a:fillRect/>
          </a:stretch>
        </p:blipFill>
        <p:spPr>
          <a:xfrm>
            <a:off x="5852892" y="5532852"/>
            <a:ext cx="254569" cy="254569"/>
          </a:xfrm>
          <a:prstGeom prst="rect">
            <a:avLst/>
          </a:prstGeom>
        </p:spPr>
      </p:pic>
      <p:sp>
        <p:nvSpPr>
          <p:cNvPr id="30" name="obj number 3"/>
          <p:cNvSpPr txBox="1"/>
          <p:nvPr/>
        </p:nvSpPr>
        <p:spPr>
          <a:xfrm>
            <a:off x="6364224" y="5166360"/>
            <a:ext cx="365760" cy="457200"/>
          </a:xfrm>
          <a:prstGeom prst="rect">
            <a:avLst/>
          </a:prstGeom>
          <a:noFill/>
          <a:ln/>
        </p:spPr>
        <p:txBody>
          <a:bodyPr wrap="square" lIns="0" tIns="0" rIns="0" bIns="0" rtlCol="0" anchor="ctr"/>
          <a:lstStyle/>
          <a:p>
            <a:pPr indent="0" marL="0">
              <a:buNone/>
            </a:pPr>
            <a:r>
              <a:rPr lang="en-US" sz="2300" b="1" dirty="0">
                <a:solidFill>
                  <a:srgbClr val="3E6B7C"/>
                </a:solidFill>
              </a:rPr>
              <a:t>4</a:t>
            </a:r>
            <a:endParaRPr lang="en-US" sz="2300" dirty="0"/>
          </a:p>
        </p:txBody>
      </p:sp>
      <p:sp>
        <p:nvSpPr>
          <p:cNvPr id="31" name="obj heading 3"/>
          <p:cNvSpPr txBox="1"/>
          <p:nvPr/>
        </p:nvSpPr>
        <p:spPr>
          <a:xfrm>
            <a:off x="6766560" y="5166360"/>
            <a:ext cx="4846320" cy="329184"/>
          </a:xfrm>
          <a:prstGeom prst="rect">
            <a:avLst/>
          </a:prstGeom>
          <a:noFill/>
          <a:ln/>
        </p:spPr>
        <p:txBody>
          <a:bodyPr wrap="square" lIns="0" tIns="0" rIns="0" bIns="0" rtlCol="0" anchor="ctr"/>
          <a:lstStyle/>
          <a:p>
            <a:pPr indent="0" marL="0">
              <a:buNone/>
            </a:pPr>
            <a:r>
              <a:rPr lang="en-US" sz="1400" b="1" dirty="0">
                <a:solidFill>
                  <a:schemeClr val="tx2"/>
                </a:solidFill>
              </a:rPr>
              <a:t>Test them as imaging agents</a:t>
            </a:r>
            <a:endParaRPr lang="en-US" sz="1400" dirty="0"/>
          </a:p>
        </p:txBody>
      </p:sp>
      <p:sp>
        <p:nvSpPr>
          <p:cNvPr id="32" name="obj body 3"/>
          <p:cNvSpPr txBox="1"/>
          <p:nvPr/>
        </p:nvSpPr>
        <p:spPr>
          <a:xfrm>
            <a:off x="6766560" y="5495544"/>
            <a:ext cx="4846320" cy="749808"/>
          </a:xfrm>
          <a:prstGeom prst="rect">
            <a:avLst/>
          </a:prstGeom>
          <a:noFill/>
          <a:ln/>
        </p:spPr>
        <p:txBody>
          <a:bodyPr wrap="square" lIns="0" tIns="0" rIns="0" bIns="0" rtlCol="0" anchor="t"/>
          <a:lstStyle/>
          <a:p>
            <a:pPr indent="0" marL="0">
              <a:buNone/>
            </a:pPr>
            <a:r>
              <a:rPr lang="en-US" sz="1150" dirty="0">
                <a:solidFill>
                  <a:schemeClr val="tx1"/>
                </a:solidFill>
              </a:rPr>
              <a:t>Autoradiography in rat brain, dynamic PET with blocking in mice, whole-body biodistribution, and stability plus radiometabolite analysis.</a:t>
            </a:r>
            <a:endParaRPr lang="en-US" sz="115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tx2"/>
                </a:solidFill>
              </a:rPr>
              <a:t>The chemistry: four reaction types build the whole series</a:t>
            </a:r>
            <a:endParaRPr lang="en-US" sz="2600" dirty="0"/>
          </a:p>
        </p:txBody>
      </p:sp>
      <p:sp>
        <p:nvSpPr>
          <p:cNvPr id="3" name="chip Scheme 1  compounds 1-8"/>
          <p:cNvSpPr/>
          <p:nvPr/>
        </p:nvSpPr>
        <p:spPr>
          <a:xfrm>
            <a:off x="457200" y="1097280"/>
            <a:ext cx="2651760" cy="292608"/>
          </a:xfrm>
          <a:prstGeom prst="roundRect">
            <a:avLst>
              <a:gd name="adj" fmla="val 50000"/>
            </a:avLst>
          </a:prstGeom>
          <a:solidFill>
            <a:srgbClr val="6A4C93"/>
          </a:solidFill>
          <a:ln w="12700">
            <a:solidFill>
              <a:srgbClr val="6A4C93"/>
            </a:solidFill>
            <a:prstDash val="solid"/>
          </a:ln>
        </p:spPr>
      </p:sp>
      <p:sp>
        <p:nvSpPr>
          <p:cNvPr id="4" name="chip text Scheme 1  compounds 1-8"/>
          <p:cNvSpPr txBox="1"/>
          <p:nvPr/>
        </p:nvSpPr>
        <p:spPr>
          <a:xfrm>
            <a:off x="457200" y="1097280"/>
            <a:ext cx="2651760" cy="292608"/>
          </a:xfrm>
          <a:prstGeom prst="rect">
            <a:avLst/>
          </a:prstGeom>
          <a:noFill/>
          <a:ln/>
        </p:spPr>
        <p:txBody>
          <a:bodyPr wrap="square" lIns="0" tIns="0" rIns="0" bIns="0" rtlCol="0" anchor="ctr"/>
          <a:lstStyle/>
          <a:p>
            <a:pPr algn="ctr" indent="0" marL="0">
              <a:buNone/>
            </a:pPr>
            <a:r>
              <a:rPr lang="en-US" sz="1100" b="1" dirty="0">
                <a:solidFill>
                  <a:schemeClr val="bg1"/>
                </a:solidFill>
              </a:rPr>
              <a:t>Scheme 1  compounds 1-8</a:t>
            </a:r>
            <a:endParaRPr lang="en-US" sz="1100" dirty="0"/>
          </a:p>
        </p:txBody>
      </p:sp>
      <p:sp>
        <p:nvSpPr>
          <p:cNvPr id="5" name="frame sch1"/>
          <p:cNvSpPr/>
          <p:nvPr/>
        </p:nvSpPr>
        <p:spPr>
          <a:xfrm>
            <a:off x="402336" y="1453896"/>
            <a:ext cx="4448104" cy="2624328"/>
          </a:xfrm>
          <a:prstGeom prst="roundRect">
            <a:avLst>
              <a:gd name="adj" fmla="val 2787"/>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6" name="sch1" descr="/tmp/claude-0/-home-user-owner/e66306d4-2675-5ec2-99fe-5e24f3a64605/scratchpad/h3r/figs/sch1.png">    </p:cNvPr>
          <p:cNvPicPr>
            <a:picLocks noChangeAspect="1"/>
          </p:cNvPicPr>
          <p:nvPr/>
        </p:nvPicPr>
        <p:blipFill>
          <a:blip r:embed="rId1"/>
          <a:stretch>
            <a:fillRect/>
          </a:stretch>
        </p:blipFill>
        <p:spPr>
          <a:xfrm>
            <a:off x="457200" y="1508760"/>
            <a:ext cx="4338376" cy="2514600"/>
          </a:xfrm>
          <a:prstGeom prst="rect">
            <a:avLst/>
          </a:prstGeom>
        </p:spPr>
      </p:pic>
      <p:sp>
        <p:nvSpPr>
          <p:cNvPr id="7" name="caption sch1"/>
          <p:cNvSpPr txBox="1"/>
          <p:nvPr/>
        </p:nvSpPr>
        <p:spPr>
          <a:xfrm>
            <a:off x="402336" y="4087368"/>
            <a:ext cx="4448104" cy="274320"/>
          </a:xfrm>
          <a:prstGeom prst="rect">
            <a:avLst/>
          </a:prstGeom>
          <a:noFill/>
          <a:ln/>
        </p:spPr>
        <p:txBody>
          <a:bodyPr wrap="square" lIns="0" tIns="0" rIns="0" bIns="0" rtlCol="0" anchor="ctr"/>
          <a:lstStyle/>
          <a:p>
            <a:pPr indent="0" marL="0">
              <a:buNone/>
            </a:pPr>
            <a:r>
              <a:rPr lang="en-US" sz="1000" i="1" dirty="0">
                <a:solidFill>
                  <a:schemeClr val="accent5"/>
                </a:solidFill>
              </a:rPr>
              <a:t>Amide coupling of acid 10 with seven cyclic amines gives 1-7; compound 8 adds a protection, deprotection and reductive amination sequence</a:t>
            </a:r>
            <a:endParaRPr lang="en-US" sz="1000" dirty="0"/>
          </a:p>
        </p:txBody>
      </p:sp>
      <p:sp>
        <p:nvSpPr>
          <p:cNvPr id="8" name="chip Scheme 2  compound 9"/>
          <p:cNvSpPr/>
          <p:nvPr/>
        </p:nvSpPr>
        <p:spPr>
          <a:xfrm>
            <a:off x="457200" y="4480560"/>
            <a:ext cx="2377440" cy="292608"/>
          </a:xfrm>
          <a:prstGeom prst="roundRect">
            <a:avLst>
              <a:gd name="adj" fmla="val 50000"/>
            </a:avLst>
          </a:prstGeom>
          <a:solidFill>
            <a:srgbClr val="3E6B7C"/>
          </a:solidFill>
          <a:ln w="12700">
            <a:solidFill>
              <a:srgbClr val="3E6B7C"/>
            </a:solidFill>
            <a:prstDash val="solid"/>
          </a:ln>
        </p:spPr>
      </p:sp>
      <p:sp>
        <p:nvSpPr>
          <p:cNvPr id="9" name="chip text Scheme 2  compound 9"/>
          <p:cNvSpPr txBox="1"/>
          <p:nvPr/>
        </p:nvSpPr>
        <p:spPr>
          <a:xfrm>
            <a:off x="457200" y="4480560"/>
            <a:ext cx="2377440" cy="292608"/>
          </a:xfrm>
          <a:prstGeom prst="rect">
            <a:avLst/>
          </a:prstGeom>
          <a:noFill/>
          <a:ln/>
        </p:spPr>
        <p:txBody>
          <a:bodyPr wrap="square" lIns="0" tIns="0" rIns="0" bIns="0" rtlCol="0" anchor="ctr"/>
          <a:lstStyle/>
          <a:p>
            <a:pPr algn="ctr" indent="0" marL="0">
              <a:buNone/>
            </a:pPr>
            <a:r>
              <a:rPr lang="en-US" sz="1100" b="1" dirty="0">
                <a:solidFill>
                  <a:schemeClr val="bg1"/>
                </a:solidFill>
              </a:rPr>
              <a:t>Scheme 2  compound 9</a:t>
            </a:r>
            <a:endParaRPr lang="en-US" sz="1100" dirty="0"/>
          </a:p>
        </p:txBody>
      </p:sp>
      <p:sp>
        <p:nvSpPr>
          <p:cNvPr id="10" name="frame sch2"/>
          <p:cNvSpPr/>
          <p:nvPr/>
        </p:nvSpPr>
        <p:spPr>
          <a:xfrm>
            <a:off x="402336" y="4837176"/>
            <a:ext cx="5016236" cy="1344168"/>
          </a:xfrm>
          <a:prstGeom prst="roundRect">
            <a:avLst>
              <a:gd name="adj" fmla="val 5442"/>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11" name="sch2" descr="/tmp/claude-0/-home-user-owner/e66306d4-2675-5ec2-99fe-5e24f3a64605/scratchpad/h3r/figs/sch2.png">    </p:cNvPr>
          <p:cNvPicPr>
            <a:picLocks noChangeAspect="1"/>
          </p:cNvPicPr>
          <p:nvPr/>
        </p:nvPicPr>
        <p:blipFill>
          <a:blip r:embed="rId2"/>
          <a:stretch>
            <a:fillRect/>
          </a:stretch>
        </p:blipFill>
        <p:spPr>
          <a:xfrm>
            <a:off x="457200" y="4892040"/>
            <a:ext cx="4906508" cy="1234440"/>
          </a:xfrm>
          <a:prstGeom prst="rect">
            <a:avLst/>
          </a:prstGeom>
        </p:spPr>
      </p:pic>
      <p:sp>
        <p:nvSpPr>
          <p:cNvPr id="12" name="caption sch2"/>
          <p:cNvSpPr txBox="1"/>
          <p:nvPr/>
        </p:nvSpPr>
        <p:spPr>
          <a:xfrm>
            <a:off x="402336" y="6190488"/>
            <a:ext cx="5016236" cy="274320"/>
          </a:xfrm>
          <a:prstGeom prst="rect">
            <a:avLst/>
          </a:prstGeom>
          <a:noFill/>
          <a:ln/>
        </p:spPr>
        <p:txBody>
          <a:bodyPr wrap="square" lIns="0" tIns="0" rIns="0" bIns="0" rtlCol="0" anchor="ctr"/>
          <a:lstStyle/>
          <a:p>
            <a:pPr indent="0" marL="0">
              <a:buNone/>
            </a:pPr>
            <a:r>
              <a:rPr lang="en-US" sz="1000" i="1" dirty="0">
                <a:solidFill>
                  <a:schemeClr val="accent5"/>
                </a:solidFill>
              </a:rPr>
              <a:t>Carbonylation, hydrolysis, then a second amide coupling</a:t>
            </a:r>
            <a:endParaRPr lang="en-US" sz="1000" dirty="0"/>
          </a:p>
        </p:txBody>
      </p:sp>
      <p:sp>
        <p:nvSpPr>
          <p:cNvPr id="13" name="toolbox card"/>
          <p:cNvSpPr/>
          <p:nvPr/>
        </p:nvSpPr>
        <p:spPr>
          <a:xfrm>
            <a:off x="7406640" y="1097280"/>
            <a:ext cx="4325112" cy="5212080"/>
          </a:xfrm>
          <a:prstGeom prst="roundRect">
            <a:avLst>
              <a:gd name="adj" fmla="val 2114"/>
            </a:avLst>
          </a:prstGeom>
          <a:solidFill>
            <a:srgbClr val="EAF1F3"/>
          </a:solidFill>
          <a:ln w="12700">
            <a:solidFill>
              <a:srgbClr val="EAF1F3"/>
            </a:solidFill>
            <a:prstDash val="solid"/>
          </a:ln>
        </p:spPr>
      </p:sp>
      <p:sp>
        <p:nvSpPr>
          <p:cNvPr id="14" name="icon circle flask"/>
          <p:cNvSpPr/>
          <p:nvPr/>
        </p:nvSpPr>
        <p:spPr>
          <a:xfrm>
            <a:off x="7571232" y="1207008"/>
            <a:ext cx="384048" cy="384048"/>
          </a:xfrm>
          <a:prstGeom prst="ellipse">
            <a:avLst/>
          </a:prstGeom>
          <a:solidFill>
            <a:srgbClr val="0B3C4A"/>
          </a:solidFill>
          <a:ln w="12700">
            <a:solidFill>
              <a:srgbClr val="0B3C4A"/>
            </a:solidFill>
            <a:prstDash val="solid"/>
          </a:ln>
        </p:spPr>
      </p:sp>
      <p:pic>
        <p:nvPicPr>
          <p:cNvPr id="15" name="icon flask" descr="/tmp/claude-0/-home-user-owner/e66306d4-2675-5ec2-99fe-5e24f3a64605/scratchpad/h3r/build/img/ic_flask.png">    </p:cNvPr>
          <p:cNvPicPr>
            <a:picLocks noChangeAspect="1"/>
          </p:cNvPicPr>
          <p:nvPr/>
        </p:nvPicPr>
        <p:blipFill>
          <a:blip r:embed="rId3"/>
          <a:stretch>
            <a:fillRect/>
          </a:stretch>
        </p:blipFill>
        <p:spPr>
          <a:xfrm>
            <a:off x="7671084" y="1306860"/>
            <a:ext cx="184343" cy="184343"/>
          </a:xfrm>
          <a:prstGeom prst="rect">
            <a:avLst/>
          </a:prstGeom>
        </p:spPr>
      </p:pic>
      <p:sp>
        <p:nvSpPr>
          <p:cNvPr id="16" name="heading Reaction toolbox"/>
          <p:cNvSpPr txBox="1"/>
          <p:nvPr/>
        </p:nvSpPr>
        <p:spPr>
          <a:xfrm>
            <a:off x="8065008" y="1207008"/>
            <a:ext cx="3291840" cy="365760"/>
          </a:xfrm>
          <a:prstGeom prst="rect">
            <a:avLst/>
          </a:prstGeom>
          <a:noFill/>
          <a:ln/>
        </p:spPr>
        <p:txBody>
          <a:bodyPr wrap="square" lIns="0" tIns="0" rIns="0" bIns="0" rtlCol="0" anchor="ctr"/>
          <a:lstStyle/>
          <a:p>
            <a:pPr indent="0" marL="0">
              <a:buNone/>
            </a:pPr>
            <a:r>
              <a:rPr lang="en-US" sz="1500" b="1" dirty="0">
                <a:solidFill>
                  <a:schemeClr val="tx2"/>
                </a:solidFill>
              </a:rPr>
              <a:t>Reaction toolbox</a:t>
            </a:r>
            <a:endParaRPr lang="en-US" sz="1500" dirty="0"/>
          </a:p>
        </p:txBody>
      </p:sp>
      <p:sp>
        <p:nvSpPr>
          <p:cNvPr id="17" name="tool dot 0"/>
          <p:cNvSpPr/>
          <p:nvPr/>
        </p:nvSpPr>
        <p:spPr>
          <a:xfrm>
            <a:off x="7571232" y="1755648"/>
            <a:ext cx="182880" cy="182880"/>
          </a:xfrm>
          <a:prstGeom prst="ellipse">
            <a:avLst/>
          </a:prstGeom>
          <a:solidFill>
            <a:srgbClr val="6A4C93"/>
          </a:solidFill>
          <a:ln w="12700">
            <a:solidFill>
              <a:srgbClr val="6A4C93"/>
            </a:solidFill>
            <a:prstDash val="solid"/>
          </a:ln>
        </p:spPr>
      </p:sp>
      <p:sp>
        <p:nvSpPr>
          <p:cNvPr id="18" name="tool text 0"/>
          <p:cNvSpPr txBox="1"/>
          <p:nvPr/>
        </p:nvSpPr>
        <p:spPr>
          <a:xfrm>
            <a:off x="7845552" y="1700784"/>
            <a:ext cx="3730752" cy="868680"/>
          </a:xfrm>
          <a:prstGeom prst="rect">
            <a:avLst/>
          </a:prstGeom>
          <a:noFill/>
          <a:ln/>
        </p:spPr>
        <p:txBody>
          <a:bodyPr wrap="square" lIns="0" tIns="0" rIns="0" bIns="0" rtlCol="0" anchor="t"/>
          <a:lstStyle/>
          <a:p>
            <a:pPr indent="0" marL="0">
              <a:lnSpc>
                <a:spcPct val="100000"/>
              </a:lnSpc>
              <a:buNone/>
            </a:pPr>
            <a:r>
              <a:rPr lang="en-US" sz="1200" b="1" dirty="0">
                <a:solidFill>
                  <a:schemeClr val="tx2"/>
                </a:solidFill>
              </a:rPr>
              <a:t>Amide coupling</a:t>
            </a:r>
            <a:endParaRPr lang="en-US" sz="1200" dirty="0"/>
          </a:p>
          <a:p>
            <a:pPr indent="0" marL="0">
              <a:lnSpc>
                <a:spcPct val="100000"/>
              </a:lnSpc>
              <a:buNone/>
            </a:pPr>
            <a:r>
              <a:rPr lang="en-US" sz="1050" dirty="0">
                <a:solidFill>
                  <a:schemeClr val="tx1"/>
                </a:solidFill>
              </a:rPr>
              <a:t>HATU with a base in DMF. The reagent turns the carboxylic acid into an activated ester that the amine attacks. It is fast and gentle, which matters because the cyclopropane here is a single defined stereoisomer that must not scramble.</a:t>
            </a:r>
            <a:endParaRPr lang="en-US" sz="1200" dirty="0"/>
          </a:p>
        </p:txBody>
      </p:sp>
      <p:sp>
        <p:nvSpPr>
          <p:cNvPr id="19" name="tool dot 1"/>
          <p:cNvSpPr/>
          <p:nvPr/>
        </p:nvSpPr>
        <p:spPr>
          <a:xfrm>
            <a:off x="7571232" y="2670048"/>
            <a:ext cx="182880" cy="182880"/>
          </a:xfrm>
          <a:prstGeom prst="ellipse">
            <a:avLst/>
          </a:prstGeom>
          <a:solidFill>
            <a:srgbClr val="3E6B7C"/>
          </a:solidFill>
          <a:ln w="12700">
            <a:solidFill>
              <a:srgbClr val="3E6B7C"/>
            </a:solidFill>
            <a:prstDash val="solid"/>
          </a:ln>
        </p:spPr>
      </p:sp>
      <p:sp>
        <p:nvSpPr>
          <p:cNvPr id="20" name="tool text 1"/>
          <p:cNvSpPr txBox="1"/>
          <p:nvPr/>
        </p:nvSpPr>
        <p:spPr>
          <a:xfrm>
            <a:off x="7845552" y="2615184"/>
            <a:ext cx="3730752" cy="868680"/>
          </a:xfrm>
          <a:prstGeom prst="rect">
            <a:avLst/>
          </a:prstGeom>
          <a:noFill/>
          <a:ln/>
        </p:spPr>
        <p:txBody>
          <a:bodyPr wrap="square" lIns="0" tIns="0" rIns="0" bIns="0" rtlCol="0" anchor="t"/>
          <a:lstStyle/>
          <a:p>
            <a:pPr indent="0" marL="0">
              <a:lnSpc>
                <a:spcPct val="100000"/>
              </a:lnSpc>
              <a:buNone/>
            </a:pPr>
            <a:r>
              <a:rPr lang="en-US" sz="1200" b="1" dirty="0">
                <a:solidFill>
                  <a:schemeClr val="tx2"/>
                </a:solidFill>
              </a:rPr>
              <a:t>Boc deprotection</a:t>
            </a:r>
            <a:endParaRPr lang="en-US" sz="1200" dirty="0"/>
          </a:p>
          <a:p>
            <a:pPr indent="0" marL="0">
              <a:lnSpc>
                <a:spcPct val="100000"/>
              </a:lnSpc>
              <a:buNone/>
            </a:pPr>
            <a:r>
              <a:rPr lang="en-US" sz="1050" dirty="0">
                <a:solidFill>
                  <a:schemeClr val="tx1"/>
                </a:solidFill>
              </a:rPr>
              <a:t>Acid in dichloromethane removes the carbamate and frees the ring nitrogen for the next bond. Protect, couple, deprotect is the standard way to use a molecule with two reactive nitrogens.</a:t>
            </a:r>
            <a:endParaRPr lang="en-US" sz="1200" dirty="0"/>
          </a:p>
        </p:txBody>
      </p:sp>
      <p:sp>
        <p:nvSpPr>
          <p:cNvPr id="21" name="tool dot 2"/>
          <p:cNvSpPr/>
          <p:nvPr/>
        </p:nvSpPr>
        <p:spPr>
          <a:xfrm>
            <a:off x="7571232" y="3584448"/>
            <a:ext cx="182880" cy="182880"/>
          </a:xfrm>
          <a:prstGeom prst="ellipse">
            <a:avLst/>
          </a:prstGeom>
          <a:solidFill>
            <a:srgbClr val="1F8A8A"/>
          </a:solidFill>
          <a:ln w="12700">
            <a:solidFill>
              <a:srgbClr val="1F8A8A"/>
            </a:solidFill>
            <a:prstDash val="solid"/>
          </a:ln>
        </p:spPr>
      </p:sp>
      <p:sp>
        <p:nvSpPr>
          <p:cNvPr id="22" name="tool text 2"/>
          <p:cNvSpPr txBox="1"/>
          <p:nvPr/>
        </p:nvSpPr>
        <p:spPr>
          <a:xfrm>
            <a:off x="7845552" y="3529584"/>
            <a:ext cx="3730752" cy="868680"/>
          </a:xfrm>
          <a:prstGeom prst="rect">
            <a:avLst/>
          </a:prstGeom>
          <a:noFill/>
          <a:ln/>
        </p:spPr>
        <p:txBody>
          <a:bodyPr wrap="square" lIns="0" tIns="0" rIns="0" bIns="0" rtlCol="0" anchor="t"/>
          <a:lstStyle/>
          <a:p>
            <a:pPr indent="0" marL="0">
              <a:lnSpc>
                <a:spcPct val="100000"/>
              </a:lnSpc>
              <a:buNone/>
            </a:pPr>
            <a:r>
              <a:rPr lang="en-US" sz="1200" b="1" dirty="0">
                <a:solidFill>
                  <a:schemeClr val="tx2"/>
                </a:solidFill>
              </a:rPr>
              <a:t>Reductive amination</a:t>
            </a:r>
            <a:endParaRPr lang="en-US" sz="1200" dirty="0"/>
          </a:p>
          <a:p>
            <a:pPr indent="0" marL="0">
              <a:lnSpc>
                <a:spcPct val="100000"/>
              </a:lnSpc>
              <a:buNone/>
            </a:pPr>
            <a:r>
              <a:rPr lang="en-US" sz="1050" dirty="0">
                <a:solidFill>
                  <a:schemeClr val="tx1"/>
                </a:solidFill>
              </a:rPr>
              <a:t>The free amine meets a ketone to form an iminium, which a mild hydride reagent reduces. The mildness is the point: it reduces the iminium and leaves the starting ketone alone.</a:t>
            </a:r>
            <a:endParaRPr lang="en-US" sz="1200" dirty="0"/>
          </a:p>
        </p:txBody>
      </p:sp>
      <p:sp>
        <p:nvSpPr>
          <p:cNvPr id="23" name="tool dot 3"/>
          <p:cNvSpPr/>
          <p:nvPr/>
        </p:nvSpPr>
        <p:spPr>
          <a:xfrm>
            <a:off x="7571232" y="4498848"/>
            <a:ext cx="182880" cy="182880"/>
          </a:xfrm>
          <a:prstGeom prst="ellipse">
            <a:avLst/>
          </a:prstGeom>
          <a:solidFill>
            <a:srgbClr val="E07A1F"/>
          </a:solidFill>
          <a:ln w="12700">
            <a:solidFill>
              <a:srgbClr val="E07A1F"/>
            </a:solidFill>
            <a:prstDash val="solid"/>
          </a:ln>
        </p:spPr>
      </p:sp>
      <p:sp>
        <p:nvSpPr>
          <p:cNvPr id="24" name="tool text 3"/>
          <p:cNvSpPr txBox="1"/>
          <p:nvPr/>
        </p:nvSpPr>
        <p:spPr>
          <a:xfrm>
            <a:off x="7845552" y="4443984"/>
            <a:ext cx="3730752" cy="868680"/>
          </a:xfrm>
          <a:prstGeom prst="rect">
            <a:avLst/>
          </a:prstGeom>
          <a:noFill/>
          <a:ln/>
        </p:spPr>
        <p:txBody>
          <a:bodyPr wrap="square" lIns="0" tIns="0" rIns="0" bIns="0" rtlCol="0" anchor="t"/>
          <a:lstStyle/>
          <a:p>
            <a:pPr indent="0" marL="0">
              <a:lnSpc>
                <a:spcPct val="100000"/>
              </a:lnSpc>
              <a:buNone/>
            </a:pPr>
            <a:r>
              <a:rPr lang="en-US" sz="1200" b="1" dirty="0">
                <a:solidFill>
                  <a:schemeClr val="tx2"/>
                </a:solidFill>
              </a:rPr>
              <a:t>Palladium carbonylation</a:t>
            </a:r>
            <a:endParaRPr lang="en-US" sz="1200" dirty="0"/>
          </a:p>
          <a:p>
            <a:pPr indent="0" marL="0">
              <a:lnSpc>
                <a:spcPct val="100000"/>
              </a:lnSpc>
              <a:buNone/>
            </a:pPr>
            <a:r>
              <a:rPr lang="en-US" sz="1050" dirty="0">
                <a:solidFill>
                  <a:schemeClr val="tx1"/>
                </a:solidFill>
              </a:rPr>
              <a:t>Under carbon monoxide with a palladium catalyst in methanol, an aryl bromide becomes an aryl ester. This installs a carbonyl where the halide was, which the halide alone cannot give.</a:t>
            </a:r>
            <a:endParaRPr lang="en-US" sz="1200" dirty="0"/>
          </a:p>
        </p:txBody>
      </p:sp>
      <p:sp>
        <p:nvSpPr>
          <p:cNvPr id="25" name="tool dot 4"/>
          <p:cNvSpPr/>
          <p:nvPr/>
        </p:nvSpPr>
        <p:spPr>
          <a:xfrm>
            <a:off x="7571232" y="5413248"/>
            <a:ext cx="182880" cy="182880"/>
          </a:xfrm>
          <a:prstGeom prst="ellipse">
            <a:avLst/>
          </a:prstGeom>
          <a:solidFill>
            <a:srgbClr val="6A4C93"/>
          </a:solidFill>
          <a:ln w="12700">
            <a:solidFill>
              <a:srgbClr val="6A4C93"/>
            </a:solidFill>
            <a:prstDash val="solid"/>
          </a:ln>
        </p:spPr>
      </p:sp>
      <p:sp>
        <p:nvSpPr>
          <p:cNvPr id="26" name="tool text 4"/>
          <p:cNvSpPr txBox="1"/>
          <p:nvPr/>
        </p:nvSpPr>
        <p:spPr>
          <a:xfrm>
            <a:off x="7845552" y="5358384"/>
            <a:ext cx="3730752" cy="868680"/>
          </a:xfrm>
          <a:prstGeom prst="rect">
            <a:avLst/>
          </a:prstGeom>
          <a:noFill/>
          <a:ln/>
        </p:spPr>
        <p:txBody>
          <a:bodyPr wrap="square" lIns="0" tIns="0" rIns="0" bIns="0" rtlCol="0" anchor="t"/>
          <a:lstStyle/>
          <a:p>
            <a:pPr indent="0" marL="0">
              <a:lnSpc>
                <a:spcPct val="100000"/>
              </a:lnSpc>
              <a:buNone/>
            </a:pPr>
            <a:r>
              <a:rPr lang="en-US" sz="1200" b="1" dirty="0">
                <a:solidFill>
                  <a:schemeClr val="tx2"/>
                </a:solidFill>
              </a:rPr>
              <a:t>Ester hydrolysis, then a second coupling</a:t>
            </a:r>
            <a:endParaRPr lang="en-US" sz="1200" dirty="0"/>
          </a:p>
          <a:p>
            <a:pPr indent="0" marL="0">
              <a:lnSpc>
                <a:spcPct val="100000"/>
              </a:lnSpc>
              <a:buNone/>
            </a:pPr>
            <a:r>
              <a:rPr lang="en-US" sz="1050" dirty="0">
                <a:solidFill>
                  <a:schemeClr val="tx1"/>
                </a:solidFill>
              </a:rPr>
              <a:t>Base cleaves the methyl ester back to the acid, which is coupled again to attach the fluorinated azetidine of compound 9.</a:t>
            </a:r>
            <a:endParaRPr lang="en-US" sz="12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tx2"/>
                </a:solidFill>
              </a:rPr>
              <a:t>Radiochemistry: a boronate precursor lets copper deliver the fluorine-18</a:t>
            </a:r>
            <a:endParaRPr lang="en-US" sz="2600" dirty="0"/>
          </a:p>
        </p:txBody>
      </p:sp>
      <p:sp>
        <p:nvSpPr>
          <p:cNvPr id="3" name="frame sch3"/>
          <p:cNvSpPr/>
          <p:nvPr/>
        </p:nvSpPr>
        <p:spPr>
          <a:xfrm>
            <a:off x="402336" y="1088136"/>
            <a:ext cx="5669597" cy="3172968"/>
          </a:xfrm>
          <a:prstGeom prst="roundRect">
            <a:avLst>
              <a:gd name="adj" fmla="val 2305"/>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4" name="sch3" descr="/tmp/claude-0/-home-user-owner/e66306d4-2675-5ec2-99fe-5e24f3a64605/scratchpad/h3r/figs/sch3.png">    </p:cNvPr>
          <p:cNvPicPr>
            <a:picLocks noChangeAspect="1"/>
          </p:cNvPicPr>
          <p:nvPr/>
        </p:nvPicPr>
        <p:blipFill>
          <a:blip r:embed="rId1"/>
          <a:stretch>
            <a:fillRect/>
          </a:stretch>
        </p:blipFill>
        <p:spPr>
          <a:xfrm>
            <a:off x="457200" y="1143000"/>
            <a:ext cx="5559869" cy="3063240"/>
          </a:xfrm>
          <a:prstGeom prst="rect">
            <a:avLst/>
          </a:prstGeom>
        </p:spPr>
      </p:pic>
      <p:sp>
        <p:nvSpPr>
          <p:cNvPr id="5" name="caption sch3"/>
          <p:cNvSpPr txBox="1"/>
          <p:nvPr/>
        </p:nvSpPr>
        <p:spPr>
          <a:xfrm>
            <a:off x="402336" y="4270248"/>
            <a:ext cx="5669597" cy="274320"/>
          </a:xfrm>
          <a:prstGeom prst="rect">
            <a:avLst/>
          </a:prstGeom>
          <a:noFill/>
          <a:ln/>
        </p:spPr>
        <p:txBody>
          <a:bodyPr wrap="square" lIns="0" tIns="0" rIns="0" bIns="0" rtlCol="0" anchor="ctr"/>
          <a:lstStyle/>
          <a:p>
            <a:pPr indent="0" marL="0">
              <a:buNone/>
            </a:pPr>
            <a:r>
              <a:rPr lang="en-US" sz="1000" i="1" dirty="0">
                <a:solidFill>
                  <a:schemeClr val="accent5"/>
                </a:solidFill>
              </a:rPr>
              <a:t>Scheme 3  Precursor synthesis and radiolabelling of both tracers</a:t>
            </a:r>
            <a:endParaRPr lang="en-US" sz="1000" dirty="0"/>
          </a:p>
        </p:txBody>
      </p:sp>
      <p:sp>
        <p:nvSpPr>
          <p:cNvPr id="6" name="stat labelling step at 120 °C"/>
          <p:cNvSpPr txBox="1"/>
          <p:nvPr/>
        </p:nvSpPr>
        <p:spPr>
          <a:xfrm>
            <a:off x="457200" y="4617720"/>
            <a:ext cx="1645920" cy="548640"/>
          </a:xfrm>
          <a:prstGeom prst="rect">
            <a:avLst/>
          </a:prstGeom>
          <a:noFill/>
          <a:ln/>
        </p:spPr>
        <p:txBody>
          <a:bodyPr wrap="square" lIns="0" tIns="0" rIns="0" bIns="0" rtlCol="0" anchor="b"/>
          <a:lstStyle/>
          <a:p>
            <a:pPr indent="0" marL="0">
              <a:buNone/>
            </a:pPr>
            <a:r>
              <a:rPr lang="en-US" sz="2800" b="1" dirty="0">
                <a:solidFill>
                  <a:srgbClr val="1F8A8A"/>
                </a:solidFill>
              </a:rPr>
              <a:t>15 min</a:t>
            </a:r>
            <a:endParaRPr lang="en-US" sz="2800" dirty="0"/>
          </a:p>
        </p:txBody>
      </p:sp>
      <p:sp>
        <p:nvSpPr>
          <p:cNvPr id="7" name="stat label labelling step at 120 °C"/>
          <p:cNvSpPr txBox="1"/>
          <p:nvPr/>
        </p:nvSpPr>
        <p:spPr>
          <a:xfrm>
            <a:off x="457200" y="5184648"/>
            <a:ext cx="1645920" cy="384048"/>
          </a:xfrm>
          <a:prstGeom prst="rect">
            <a:avLst/>
          </a:prstGeom>
          <a:noFill/>
          <a:ln/>
        </p:spPr>
        <p:txBody>
          <a:bodyPr wrap="square" lIns="0" tIns="0" rIns="0" bIns="0" rtlCol="0" anchor="t"/>
          <a:lstStyle/>
          <a:p>
            <a:pPr indent="0" marL="0">
              <a:buNone/>
            </a:pPr>
            <a:r>
              <a:rPr lang="en-US" sz="1100" dirty="0">
                <a:solidFill>
                  <a:schemeClr val="accent5"/>
                </a:solidFill>
              </a:rPr>
              <a:t>labelling step at 120 °C</a:t>
            </a:r>
            <a:endParaRPr lang="en-US" sz="1100" dirty="0"/>
          </a:p>
        </p:txBody>
      </p:sp>
      <p:sp>
        <p:nvSpPr>
          <p:cNvPr id="8" name="stat radiochemical yield for [¹⁸F]3"/>
          <p:cNvSpPr txBox="1"/>
          <p:nvPr/>
        </p:nvSpPr>
        <p:spPr>
          <a:xfrm>
            <a:off x="2221992" y="4617720"/>
            <a:ext cx="1645920" cy="548640"/>
          </a:xfrm>
          <a:prstGeom prst="rect">
            <a:avLst/>
          </a:prstGeom>
          <a:noFill/>
          <a:ln/>
        </p:spPr>
        <p:txBody>
          <a:bodyPr wrap="square" lIns="0" tIns="0" rIns="0" bIns="0" rtlCol="0" anchor="b"/>
          <a:lstStyle/>
          <a:p>
            <a:pPr indent="0" marL="0">
              <a:buNone/>
            </a:pPr>
            <a:r>
              <a:rPr lang="en-US" sz="2800" b="1" dirty="0">
                <a:solidFill>
                  <a:srgbClr val="E07A1F"/>
                </a:solidFill>
              </a:rPr>
              <a:t>32.4%</a:t>
            </a:r>
            <a:endParaRPr lang="en-US" sz="2800" dirty="0"/>
          </a:p>
        </p:txBody>
      </p:sp>
      <p:sp>
        <p:nvSpPr>
          <p:cNvPr id="9" name="stat label radiochemical yield for [¹⁸F]3"/>
          <p:cNvSpPr txBox="1"/>
          <p:nvPr/>
        </p:nvSpPr>
        <p:spPr>
          <a:xfrm>
            <a:off x="2221992" y="5184648"/>
            <a:ext cx="1645920" cy="384048"/>
          </a:xfrm>
          <a:prstGeom prst="rect">
            <a:avLst/>
          </a:prstGeom>
          <a:noFill/>
          <a:ln/>
        </p:spPr>
        <p:txBody>
          <a:bodyPr wrap="square" lIns="0" tIns="0" rIns="0" bIns="0" rtlCol="0" anchor="t"/>
          <a:lstStyle/>
          <a:p>
            <a:pPr indent="0" marL="0">
              <a:buNone/>
            </a:pPr>
            <a:r>
              <a:rPr lang="en-US" sz="1100" dirty="0">
                <a:solidFill>
                  <a:schemeClr val="accent5"/>
                </a:solidFill>
              </a:rPr>
              <a:t>radiochemical yield for [¹⁸F]3</a:t>
            </a:r>
            <a:endParaRPr lang="en-US" sz="1100" dirty="0"/>
          </a:p>
        </p:txBody>
      </p:sp>
      <p:sp>
        <p:nvSpPr>
          <p:cNvPr id="10" name="stat radiochemical purity"/>
          <p:cNvSpPr txBox="1"/>
          <p:nvPr/>
        </p:nvSpPr>
        <p:spPr>
          <a:xfrm>
            <a:off x="3986784" y="4617720"/>
            <a:ext cx="1645920" cy="548640"/>
          </a:xfrm>
          <a:prstGeom prst="rect">
            <a:avLst/>
          </a:prstGeom>
          <a:noFill/>
          <a:ln/>
        </p:spPr>
        <p:txBody>
          <a:bodyPr wrap="square" lIns="0" tIns="0" rIns="0" bIns="0" rtlCol="0" anchor="b"/>
          <a:lstStyle/>
          <a:p>
            <a:pPr indent="0" marL="0">
              <a:buNone/>
            </a:pPr>
            <a:r>
              <a:rPr lang="en-US" sz="2800" b="1" dirty="0">
                <a:solidFill>
                  <a:srgbClr val="6A4C93"/>
                </a:solidFill>
              </a:rPr>
              <a:t>&gt;99%</a:t>
            </a:r>
            <a:endParaRPr lang="en-US" sz="2800" dirty="0"/>
          </a:p>
        </p:txBody>
      </p:sp>
      <p:sp>
        <p:nvSpPr>
          <p:cNvPr id="11" name="stat label radiochemical purity"/>
          <p:cNvSpPr txBox="1"/>
          <p:nvPr/>
        </p:nvSpPr>
        <p:spPr>
          <a:xfrm>
            <a:off x="3986784" y="5184648"/>
            <a:ext cx="1645920" cy="384048"/>
          </a:xfrm>
          <a:prstGeom prst="rect">
            <a:avLst/>
          </a:prstGeom>
          <a:noFill/>
          <a:ln/>
        </p:spPr>
        <p:txBody>
          <a:bodyPr wrap="square" lIns="0" tIns="0" rIns="0" bIns="0" rtlCol="0" anchor="t"/>
          <a:lstStyle/>
          <a:p>
            <a:pPr indent="0" marL="0">
              <a:buNone/>
            </a:pPr>
            <a:r>
              <a:rPr lang="en-US" sz="1100" dirty="0">
                <a:solidFill>
                  <a:schemeClr val="accent5"/>
                </a:solidFill>
              </a:rPr>
              <a:t>radiochemical purity</a:t>
            </a:r>
            <a:endParaRPr lang="en-US" sz="1100" dirty="0"/>
          </a:p>
        </p:txBody>
      </p:sp>
      <p:sp>
        <p:nvSpPr>
          <p:cNvPr id="12" name="stat GBq/µmol molar activity"/>
          <p:cNvSpPr txBox="1"/>
          <p:nvPr/>
        </p:nvSpPr>
        <p:spPr>
          <a:xfrm>
            <a:off x="5751576" y="4617720"/>
            <a:ext cx="1645920" cy="548640"/>
          </a:xfrm>
          <a:prstGeom prst="rect">
            <a:avLst/>
          </a:prstGeom>
          <a:noFill/>
          <a:ln/>
        </p:spPr>
        <p:txBody>
          <a:bodyPr wrap="square" lIns="0" tIns="0" rIns="0" bIns="0" rtlCol="0" anchor="b"/>
          <a:lstStyle/>
          <a:p>
            <a:pPr indent="0" marL="0">
              <a:buNone/>
            </a:pPr>
            <a:r>
              <a:rPr lang="en-US" sz="2800" b="1" dirty="0">
                <a:solidFill>
                  <a:srgbClr val="3E6B7C"/>
                </a:solidFill>
              </a:rPr>
              <a:t>103</a:t>
            </a:r>
            <a:endParaRPr lang="en-US" sz="2800" dirty="0"/>
          </a:p>
        </p:txBody>
      </p:sp>
      <p:sp>
        <p:nvSpPr>
          <p:cNvPr id="13" name="stat label GBq/µmol molar activity"/>
          <p:cNvSpPr txBox="1"/>
          <p:nvPr/>
        </p:nvSpPr>
        <p:spPr>
          <a:xfrm>
            <a:off x="5751576" y="5184648"/>
            <a:ext cx="1645920" cy="384048"/>
          </a:xfrm>
          <a:prstGeom prst="rect">
            <a:avLst/>
          </a:prstGeom>
          <a:noFill/>
          <a:ln/>
        </p:spPr>
        <p:txBody>
          <a:bodyPr wrap="square" lIns="0" tIns="0" rIns="0" bIns="0" rtlCol="0" anchor="t"/>
          <a:lstStyle/>
          <a:p>
            <a:pPr indent="0" marL="0">
              <a:buNone/>
            </a:pPr>
            <a:r>
              <a:rPr lang="en-US" sz="1100" dirty="0">
                <a:solidFill>
                  <a:schemeClr val="accent5"/>
                </a:solidFill>
              </a:rPr>
              <a:t>GBq/µmol molar activity</a:t>
            </a:r>
            <a:endParaRPr lang="en-US" sz="1100" dirty="0"/>
          </a:p>
        </p:txBody>
      </p:sp>
      <p:sp>
        <p:nvSpPr>
          <p:cNvPr id="14" name="radio card"/>
          <p:cNvSpPr/>
          <p:nvPr/>
        </p:nvSpPr>
        <p:spPr>
          <a:xfrm>
            <a:off x="7589520" y="1143000"/>
            <a:ext cx="4142232" cy="5166360"/>
          </a:xfrm>
          <a:prstGeom prst="roundRect">
            <a:avLst>
              <a:gd name="adj" fmla="val 2208"/>
            </a:avLst>
          </a:prstGeom>
          <a:solidFill>
            <a:srgbClr val="EAF1F3"/>
          </a:solidFill>
          <a:ln w="12700">
            <a:solidFill>
              <a:srgbClr val="EAF1F3"/>
            </a:solidFill>
            <a:prstDash val="solid"/>
          </a:ln>
        </p:spPr>
      </p:sp>
      <p:sp>
        <p:nvSpPr>
          <p:cNvPr id="15" name="icon circle question"/>
          <p:cNvSpPr/>
          <p:nvPr/>
        </p:nvSpPr>
        <p:spPr>
          <a:xfrm>
            <a:off x="7754112" y="1252728"/>
            <a:ext cx="384048" cy="384048"/>
          </a:xfrm>
          <a:prstGeom prst="ellipse">
            <a:avLst/>
          </a:prstGeom>
          <a:solidFill>
            <a:srgbClr val="0B3C4A"/>
          </a:solidFill>
          <a:ln w="12700">
            <a:solidFill>
              <a:srgbClr val="0B3C4A"/>
            </a:solidFill>
            <a:prstDash val="solid"/>
          </a:ln>
        </p:spPr>
      </p:sp>
      <p:pic>
        <p:nvPicPr>
          <p:cNvPr id="16" name="icon question" descr="/tmp/claude-0/-home-user-owner/e66306d4-2675-5ec2-99fe-5e24f3a64605/scratchpad/h3r/build/img/ic_question.png">    </p:cNvPr>
          <p:cNvPicPr>
            <a:picLocks noChangeAspect="1"/>
          </p:cNvPicPr>
          <p:nvPr/>
        </p:nvPicPr>
        <p:blipFill>
          <a:blip r:embed="rId2"/>
          <a:stretch>
            <a:fillRect/>
          </a:stretch>
        </p:blipFill>
        <p:spPr>
          <a:xfrm>
            <a:off x="7853964" y="1352580"/>
            <a:ext cx="184343" cy="184343"/>
          </a:xfrm>
          <a:prstGeom prst="rect">
            <a:avLst/>
          </a:prstGeom>
        </p:spPr>
      </p:pic>
      <p:sp>
        <p:nvSpPr>
          <p:cNvPr id="17" name="heading Why do it this way?"/>
          <p:cNvSpPr txBox="1"/>
          <p:nvPr/>
        </p:nvSpPr>
        <p:spPr>
          <a:xfrm>
            <a:off x="8247888" y="1252728"/>
            <a:ext cx="3200400" cy="365760"/>
          </a:xfrm>
          <a:prstGeom prst="rect">
            <a:avLst/>
          </a:prstGeom>
          <a:noFill/>
          <a:ln/>
        </p:spPr>
        <p:txBody>
          <a:bodyPr wrap="square" lIns="0" tIns="0" rIns="0" bIns="0" rtlCol="0" anchor="ctr"/>
          <a:lstStyle/>
          <a:p>
            <a:pPr indent="0" marL="0">
              <a:buNone/>
            </a:pPr>
            <a:r>
              <a:rPr lang="en-US" sz="1500" b="1" dirty="0">
                <a:solidFill>
                  <a:schemeClr val="tx2"/>
                </a:solidFill>
              </a:rPr>
              <a:t>Why do it this way?</a:t>
            </a:r>
            <a:endParaRPr lang="en-US" sz="1500" dirty="0"/>
          </a:p>
        </p:txBody>
      </p:sp>
      <p:sp>
        <p:nvSpPr>
          <p:cNvPr id="18" name="radio bullets"/>
          <p:cNvSpPr txBox="1"/>
          <p:nvPr/>
        </p:nvSpPr>
        <p:spPr>
          <a:xfrm>
            <a:off x="7754112" y="1737360"/>
            <a:ext cx="3822192" cy="4434840"/>
          </a:xfrm>
          <a:prstGeom prst="rect">
            <a:avLst/>
          </a:prstGeom>
          <a:noFill/>
          <a:ln/>
        </p:spPr>
        <p:txBody>
          <a:bodyPr wrap="square" lIns="0" tIns="0" rIns="0" bIns="0" rtlCol="0" anchor="t"/>
          <a:lstStyle/>
          <a:p>
            <a:pPr marL="177800" indent="-177800">
              <a:lnSpc>
                <a:spcPct val="105000"/>
              </a:lnSpc>
              <a:spcAft>
                <a:spcPts val="500"/>
              </a:spcAft>
              <a:buSzPct val="100000"/>
              <a:buChar char="•"/>
            </a:pPr>
            <a:r>
              <a:rPr lang="en-US" sz="1100" b="1" dirty="0">
                <a:solidFill>
                  <a:schemeClr val="tx1"/>
                </a:solidFill>
              </a:rPr>
              <a:t>Step 1, amide coupling. </a:t>
            </a:r>
            <a:pPr indent="0" marL="0">
              <a:lnSpc>
                <a:spcPct val="105000"/>
              </a:lnSpc>
              <a:spcAft>
                <a:spcPts val="500"/>
              </a:spcAft>
              <a:buNone/>
            </a:pPr>
            <a:r>
              <a:rPr lang="en-US" sz="1100" dirty="0">
                <a:solidFill>
                  <a:schemeClr val="tx1"/>
                </a:solidFill>
              </a:rPr>
              <a:t>A phosphonic anhydride reagent joins the bromo acid to the piperazine. It behaves like the earlier coupling agent but washes out in water, which simplifies work-up.</a:t>
            </a:r>
            <a:endParaRPr lang="en-US" sz="1100" dirty="0"/>
          </a:p>
          <a:p>
            <a:pPr marL="177800" indent="-177800">
              <a:lnSpc>
                <a:spcPct val="105000"/>
              </a:lnSpc>
              <a:spcAft>
                <a:spcPts val="500"/>
              </a:spcAft>
              <a:buSzPct val="100000"/>
              <a:buChar char="•"/>
            </a:pPr>
            <a:r>
              <a:rPr lang="en-US" sz="1100" b="1" dirty="0">
                <a:solidFill>
                  <a:schemeClr val="tx1"/>
                </a:solidFill>
              </a:rPr>
              <a:t>Step 2, borylation. </a:t>
            </a:r>
            <a:pPr indent="0" marL="0">
              <a:lnSpc>
                <a:spcPct val="105000"/>
              </a:lnSpc>
              <a:spcAft>
                <a:spcPts val="500"/>
              </a:spcAft>
              <a:buNone/>
            </a:pPr>
            <a:r>
              <a:rPr lang="en-US" sz="1100" dirty="0">
                <a:solidFill>
                  <a:schemeClr val="tx1"/>
                </a:solidFill>
              </a:rPr>
              <a:t>A palladium catalyst swaps the aryl bromide for a pinacol boronate ester. This is the key move: the boronate is the handle copper needs.</a:t>
            </a:r>
            <a:endParaRPr lang="en-US" sz="1100" dirty="0"/>
          </a:p>
          <a:p>
            <a:pPr marL="177800" indent="-177800">
              <a:lnSpc>
                <a:spcPct val="105000"/>
              </a:lnSpc>
              <a:spcAft>
                <a:spcPts val="500"/>
              </a:spcAft>
              <a:buSzPct val="100000"/>
              <a:buChar char="•"/>
            </a:pPr>
            <a:r>
              <a:rPr lang="en-US" sz="1100" b="1" dirty="0">
                <a:solidFill>
                  <a:schemeClr val="tx1"/>
                </a:solidFill>
              </a:rPr>
              <a:t>Step 3, copper-mediated radiofluorination. </a:t>
            </a:r>
            <a:pPr indent="0" marL="0">
              <a:lnSpc>
                <a:spcPct val="105000"/>
              </a:lnSpc>
              <a:spcAft>
                <a:spcPts val="500"/>
              </a:spcAft>
              <a:buNone/>
            </a:pPr>
            <a:r>
              <a:rPr lang="en-US" sz="1100" dirty="0">
                <a:solidFill>
                  <a:schemeClr val="tx1"/>
                </a:solidFill>
              </a:rPr>
              <a:t>A copper complex transfers fluoride onto the boronate-bearing ring. Classical aromatic substitution only works on electron-poor rings, so without this chemistry an electron-rich ring like this one could not carry fluorine-18 at all.</a:t>
            </a:r>
            <a:endParaRPr lang="en-US" sz="1100" dirty="0"/>
          </a:p>
          <a:p>
            <a:pPr marL="177800" indent="-177800">
              <a:lnSpc>
                <a:spcPct val="105000"/>
              </a:lnSpc>
              <a:spcAft>
                <a:spcPts val="500"/>
              </a:spcAft>
              <a:buSzPct val="100000"/>
              <a:buChar char="•"/>
            </a:pPr>
            <a:r>
              <a:rPr lang="en-US" sz="1100" b="1" dirty="0">
                <a:solidFill>
                  <a:schemeClr val="tx1"/>
                </a:solidFill>
              </a:rPr>
              <a:t>Why fluorine-18, not carbon-11. </a:t>
            </a:r>
            <a:pPr indent="0" marL="0">
              <a:lnSpc>
                <a:spcPct val="105000"/>
              </a:lnSpc>
              <a:spcAft>
                <a:spcPts val="500"/>
              </a:spcAft>
              <a:buNone/>
            </a:pPr>
            <a:r>
              <a:rPr lang="en-US" sz="1100" dirty="0">
                <a:solidFill>
                  <a:schemeClr val="tx1"/>
                </a:solidFill>
              </a:rPr>
              <a:t>A 109.8 min half-life against 20.4 min means the tracer can be shipped off site, scans can run longer, and counting statistics improve. Its low positron energy also sharpens resolution.</a:t>
            </a:r>
            <a:endParaRPr lang="en-US" sz="1100" dirty="0"/>
          </a:p>
          <a:p>
            <a:pPr marL="177800" indent="-177800">
              <a:lnSpc>
                <a:spcPct val="105000"/>
              </a:lnSpc>
              <a:spcAft>
                <a:spcPts val="500"/>
              </a:spcAft>
              <a:buSzPct val="100000"/>
              <a:buChar char="•"/>
            </a:pPr>
            <a:r>
              <a:rPr lang="en-US" sz="1100" b="1" dirty="0">
                <a:solidFill>
                  <a:schemeClr val="tx1"/>
                </a:solidFill>
              </a:rPr>
              <a:t>Trace chemistry. </a:t>
            </a:r>
            <a:pPr indent="0" marL="0">
              <a:lnSpc>
                <a:spcPct val="105000"/>
              </a:lnSpc>
              <a:spcAft>
                <a:spcPts val="500"/>
              </a:spcAft>
              <a:buNone/>
            </a:pPr>
            <a:r>
              <a:rPr lang="en-US" sz="1100" dirty="0">
                <a:solidFill>
                  <a:schemeClr val="tx1"/>
                </a:solidFill>
              </a:rPr>
              <a:t>Everything runs on about 1.5 mg of precursor in 15 min, then purifies by HPLC. Molar activity matters because the tracer must not occupy the receptor it is measuring.</a:t>
            </a:r>
            <a:endParaRPr lang="en-US" sz="11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tx2"/>
                </a:solidFill>
              </a:rPr>
              <a:t>Result 1: a C5 or C6 ring on the piperazine is what the receptor wants</a:t>
            </a:r>
            <a:endParaRPr lang="en-US" sz="2600" dirty="0"/>
          </a:p>
        </p:txBody>
      </p:sp>
      <p:sp>
        <p:nvSpPr>
          <p:cNvPr id="3" name="frame tab1_struct"/>
          <p:cNvSpPr/>
          <p:nvPr/>
        </p:nvSpPr>
        <p:spPr>
          <a:xfrm>
            <a:off x="402336" y="1133856"/>
            <a:ext cx="3127248" cy="2463014"/>
          </a:xfrm>
          <a:prstGeom prst="roundRect">
            <a:avLst>
              <a:gd name="adj" fmla="val 2970"/>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4" name="tab1_struct" descr="/tmp/claude-0/-home-user-owner/e66306d4-2675-5ec2-99fe-5e24f3a64605/scratchpad/h3r/figs/tab1_struct.png">    </p:cNvPr>
          <p:cNvPicPr>
            <a:picLocks noChangeAspect="1"/>
          </p:cNvPicPr>
          <p:nvPr/>
        </p:nvPicPr>
        <p:blipFill>
          <a:blip r:embed="rId1"/>
          <a:stretch>
            <a:fillRect/>
          </a:stretch>
        </p:blipFill>
        <p:spPr>
          <a:xfrm>
            <a:off x="457200" y="1188720"/>
            <a:ext cx="3017520" cy="2353286"/>
          </a:xfrm>
          <a:prstGeom prst="rect">
            <a:avLst/>
          </a:prstGeom>
        </p:spPr>
      </p:pic>
      <p:sp>
        <p:nvSpPr>
          <p:cNvPr id="5" name="caption tab1_struct"/>
          <p:cNvSpPr txBox="1"/>
          <p:nvPr/>
        </p:nvSpPr>
        <p:spPr>
          <a:xfrm>
            <a:off x="402336" y="3606014"/>
            <a:ext cx="3127248" cy="274320"/>
          </a:xfrm>
          <a:prstGeom prst="rect">
            <a:avLst/>
          </a:prstGeom>
          <a:noFill/>
          <a:ln/>
        </p:spPr>
        <p:txBody>
          <a:bodyPr wrap="square" lIns="0" tIns="0" rIns="0" bIns="0" rtlCol="0" anchor="ctr"/>
          <a:lstStyle/>
          <a:p>
            <a:pPr indent="0" marL="0">
              <a:buNone/>
            </a:pPr>
            <a:r>
              <a:rPr lang="en-US" sz="1000" i="1" dirty="0">
                <a:solidFill>
                  <a:schemeClr val="accent5"/>
                </a:solidFill>
              </a:rPr>
              <a:t>Table 1  The nine analogues</a:t>
            </a:r>
            <a:endParaRPr lang="en-US" sz="1000" dirty="0"/>
          </a:p>
        </p:txBody>
      </p:sp>
      <p:sp>
        <p:nvSpPr>
          <p:cNvPr id="6" name="frame tab1_data"/>
          <p:cNvSpPr/>
          <p:nvPr/>
        </p:nvSpPr>
        <p:spPr>
          <a:xfrm>
            <a:off x="3602736" y="1133856"/>
            <a:ext cx="8183880" cy="1998873"/>
          </a:xfrm>
          <a:prstGeom prst="roundRect">
            <a:avLst>
              <a:gd name="adj" fmla="val 3660"/>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7" name="tab1_data" descr="/tmp/claude-0/-home-user-owner/e66306d4-2675-5ec2-99fe-5e24f3a64605/scratchpad/h3r/figs/tab1_data.png">    </p:cNvPr>
          <p:cNvPicPr>
            <a:picLocks noChangeAspect="1"/>
          </p:cNvPicPr>
          <p:nvPr/>
        </p:nvPicPr>
        <p:blipFill>
          <a:blip r:embed="rId2"/>
          <a:stretch>
            <a:fillRect/>
          </a:stretch>
        </p:blipFill>
        <p:spPr>
          <a:xfrm>
            <a:off x="3657600" y="1188720"/>
            <a:ext cx="8074152" cy="1889145"/>
          </a:xfrm>
          <a:prstGeom prst="rect">
            <a:avLst/>
          </a:prstGeom>
        </p:spPr>
      </p:pic>
      <p:sp>
        <p:nvSpPr>
          <p:cNvPr id="8" name="caption tab1_data"/>
          <p:cNvSpPr txBox="1"/>
          <p:nvPr/>
        </p:nvSpPr>
        <p:spPr>
          <a:xfrm>
            <a:off x="3602736" y="3141873"/>
            <a:ext cx="8183880" cy="274320"/>
          </a:xfrm>
          <a:prstGeom prst="rect">
            <a:avLst/>
          </a:prstGeom>
          <a:noFill/>
          <a:ln/>
        </p:spPr>
        <p:txBody>
          <a:bodyPr wrap="square" lIns="0" tIns="0" rIns="0" bIns="0" rtlCol="0" anchor="ctr"/>
          <a:lstStyle/>
          <a:p>
            <a:pPr indent="0" marL="0">
              <a:buNone/>
            </a:pPr>
            <a:r>
              <a:rPr lang="en-US" sz="1000" i="1" dirty="0">
                <a:solidFill>
                  <a:schemeClr val="accent5"/>
                </a:solidFill>
              </a:rPr>
              <a:t>Table 1  Affinity and calculated properties</a:t>
            </a:r>
            <a:endParaRPr lang="en-US" sz="1000" dirty="0"/>
          </a:p>
        </p:txBody>
      </p:sp>
      <p:sp>
        <p:nvSpPr>
          <p:cNvPr id="9" name="sar bullets left"/>
          <p:cNvSpPr txBox="1"/>
          <p:nvPr/>
        </p:nvSpPr>
        <p:spPr>
          <a:xfrm>
            <a:off x="457200" y="4114800"/>
            <a:ext cx="5760720" cy="21945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00" b="1" dirty="0">
                <a:solidFill>
                  <a:schemeClr val="tx1"/>
                </a:solidFill>
              </a:rPr>
              <a:t>Ring size drives potency. </a:t>
            </a:r>
            <a:pPr indent="0" marL="0">
              <a:lnSpc>
                <a:spcPct val="105000"/>
              </a:lnSpc>
              <a:spcAft>
                <a:spcPts val="600"/>
              </a:spcAft>
              <a:buNone/>
            </a:pPr>
            <a:r>
              <a:rPr lang="en-US" sz="1200" dirty="0">
                <a:solidFill>
                  <a:schemeClr val="tx1"/>
                </a:solidFill>
              </a:rPr>
              <a:t>Cyclopropyl (1) is only moderate at 71.3 nM. Moving to cyclobutyl (2), cyclopentyl (3) and cyclohexyl (4) gives 2.46, 2.87 and 3.15 nM, but cycloheptyl (5) collapses past 1000 nM. C4 to C6 is the window.</a:t>
            </a:r>
            <a:endParaRPr lang="en-US" sz="1200" dirty="0"/>
          </a:p>
          <a:p>
            <a:pPr marL="177800" indent="-177800">
              <a:lnSpc>
                <a:spcPct val="105000"/>
              </a:lnSpc>
              <a:spcAft>
                <a:spcPts val="600"/>
              </a:spcAft>
              <a:buSzPct val="100000"/>
              <a:buChar char="•"/>
            </a:pPr>
            <a:r>
              <a:rPr lang="en-US" sz="1200" b="1" dirty="0">
                <a:solidFill>
                  <a:schemeClr val="tx1"/>
                </a:solidFill>
              </a:rPr>
              <a:t>The piperazine itself cannot be replaced. </a:t>
            </a:r>
            <a:pPr indent="0" marL="0">
              <a:lnSpc>
                <a:spcPct val="105000"/>
              </a:lnSpc>
              <a:spcAft>
                <a:spcPts val="600"/>
              </a:spcAft>
              <a:buNone/>
            </a:pPr>
            <a:r>
              <a:rPr lang="en-US" sz="1200" dirty="0">
                <a:solidFill>
                  <a:schemeClr val="tx1"/>
                </a:solidFill>
              </a:rPr>
              <a:t>Three rigid replacements (6, 7 and 8) all lose activity entirely, so the geometry and basicity of that ring are doing real work.</a:t>
            </a:r>
            <a:endParaRPr lang="en-US" sz="1200" dirty="0"/>
          </a:p>
          <a:p>
            <a:pPr marL="177800" indent="-177800">
              <a:lnSpc>
                <a:spcPct val="105000"/>
              </a:lnSpc>
              <a:spcAft>
                <a:spcPts val="600"/>
              </a:spcAft>
              <a:buSzPct val="100000"/>
              <a:buChar char="•"/>
            </a:pPr>
            <a:r>
              <a:rPr lang="en-US" sz="1200" b="1" dirty="0">
                <a:solidFill>
                  <a:schemeClr val="tx1"/>
                </a:solidFill>
              </a:rPr>
              <a:t>The fluorine handle has to stay on the ring. </a:t>
            </a:r>
            <a:pPr indent="0" marL="0">
              <a:lnSpc>
                <a:spcPct val="105000"/>
              </a:lnSpc>
              <a:spcAft>
                <a:spcPts val="600"/>
              </a:spcAft>
              <a:buNone/>
            </a:pPr>
            <a:r>
              <a:rPr lang="en-US" sz="1200" dirty="0">
                <a:solidFill>
                  <a:schemeClr val="tx1"/>
                </a:solidFill>
              </a:rPr>
              <a:t>Swapping the fluoropyridine for a fluorinated azetidine (9) drops affinity to 98.3 nM.</a:t>
            </a:r>
            <a:endParaRPr lang="en-US" sz="1200" dirty="0"/>
          </a:p>
        </p:txBody>
      </p:sp>
      <p:sp>
        <p:nvSpPr>
          <p:cNvPr id="10" name="sel card"/>
          <p:cNvSpPr/>
          <p:nvPr/>
        </p:nvSpPr>
        <p:spPr>
          <a:xfrm>
            <a:off x="6400800" y="3931920"/>
            <a:ext cx="5330952" cy="2377440"/>
          </a:xfrm>
          <a:prstGeom prst="roundRect">
            <a:avLst>
              <a:gd name="adj" fmla="val 3846"/>
            </a:avLst>
          </a:prstGeom>
          <a:solidFill>
            <a:srgbClr val="EAF1F3"/>
          </a:solidFill>
          <a:ln w="12700">
            <a:solidFill>
              <a:srgbClr val="EAF1F3"/>
            </a:solidFill>
            <a:prstDash val="solid"/>
          </a:ln>
        </p:spPr>
      </p:sp>
      <p:sp>
        <p:nvSpPr>
          <p:cNvPr id="11" name="icon circle scale"/>
          <p:cNvSpPr/>
          <p:nvPr/>
        </p:nvSpPr>
        <p:spPr>
          <a:xfrm>
            <a:off x="6565392" y="4041648"/>
            <a:ext cx="365760" cy="365760"/>
          </a:xfrm>
          <a:prstGeom prst="ellipse">
            <a:avLst/>
          </a:prstGeom>
          <a:solidFill>
            <a:srgbClr val="E07A1F"/>
          </a:solidFill>
          <a:ln w="12700">
            <a:solidFill>
              <a:srgbClr val="E07A1F"/>
            </a:solidFill>
            <a:prstDash val="solid"/>
          </a:ln>
        </p:spPr>
      </p:sp>
      <p:pic>
        <p:nvPicPr>
          <p:cNvPr id="12" name="icon scale" descr="/tmp/claude-0/-home-user-owner/e66306d4-2675-5ec2-99fe-5e24f3a64605/scratchpad/h3r/build/img/ic_scale.png">    </p:cNvPr>
          <p:cNvPicPr>
            <a:picLocks noChangeAspect="1"/>
          </p:cNvPicPr>
          <p:nvPr/>
        </p:nvPicPr>
        <p:blipFill>
          <a:blip r:embed="rId3"/>
          <a:stretch>
            <a:fillRect/>
          </a:stretch>
        </p:blipFill>
        <p:spPr>
          <a:xfrm>
            <a:off x="6660490" y="4136746"/>
            <a:ext cx="175565" cy="175565"/>
          </a:xfrm>
          <a:prstGeom prst="rect">
            <a:avLst/>
          </a:prstGeom>
        </p:spPr>
      </p:pic>
      <p:sp>
        <p:nvSpPr>
          <p:cNvPr id="13" name="heading Selectivity decided which two advanced"/>
          <p:cNvSpPr txBox="1"/>
          <p:nvPr/>
        </p:nvSpPr>
        <p:spPr>
          <a:xfrm>
            <a:off x="7022592" y="4041648"/>
            <a:ext cx="4572000" cy="365760"/>
          </a:xfrm>
          <a:prstGeom prst="rect">
            <a:avLst/>
          </a:prstGeom>
          <a:noFill/>
          <a:ln/>
        </p:spPr>
        <p:txBody>
          <a:bodyPr wrap="square" lIns="0" tIns="0" rIns="0" bIns="0" rtlCol="0" anchor="ctr"/>
          <a:lstStyle/>
          <a:p>
            <a:pPr indent="0" marL="0">
              <a:buNone/>
            </a:pPr>
            <a:r>
              <a:rPr lang="en-US" sz="1350" b="1" dirty="0">
                <a:solidFill>
                  <a:schemeClr val="tx2"/>
                </a:solidFill>
              </a:rPr>
              <a:t>Selectivity decided which two advanced</a:t>
            </a:r>
            <a:endParaRPr lang="en-US" sz="1350" dirty="0"/>
          </a:p>
        </p:txBody>
      </p:sp>
      <p:sp>
        <p:nvSpPr>
          <p:cNvPr id="14" name="sel bullets"/>
          <p:cNvSpPr txBox="1"/>
          <p:nvPr/>
        </p:nvSpPr>
        <p:spPr>
          <a:xfrm>
            <a:off x="6565392" y="4498848"/>
            <a:ext cx="5029200" cy="173736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100" b="1" dirty="0">
                <a:solidFill>
                  <a:schemeClr val="tx1"/>
                </a:solidFill>
              </a:rPr>
              <a:t>Compound 2 was dropped: </a:t>
            </a:r>
            <a:pPr indent="0" marL="0">
              <a:lnSpc>
                <a:spcPct val="105000"/>
              </a:lnSpc>
              <a:spcAft>
                <a:spcPts val="400"/>
              </a:spcAft>
              <a:buNone/>
            </a:pPr>
            <a:r>
              <a:rPr lang="en-US" sz="1100" dirty="0">
                <a:solidFill>
                  <a:schemeClr val="tx1"/>
                </a:solidFill>
              </a:rPr>
              <a:t>it hits sigma-1 at 1.61 nM, making it a dual antagonist rather than an H3R probe.</a:t>
            </a:r>
            <a:endParaRPr lang="en-US" sz="1100" dirty="0"/>
          </a:p>
          <a:p>
            <a:pPr marL="177800" indent="-177800">
              <a:lnSpc>
                <a:spcPct val="105000"/>
              </a:lnSpc>
              <a:spcAft>
                <a:spcPts val="400"/>
              </a:spcAft>
              <a:buSzPct val="100000"/>
              <a:buChar char="•"/>
            </a:pPr>
            <a:r>
              <a:rPr lang="en-US" sz="1100" b="1" dirty="0">
                <a:solidFill>
                  <a:schemeClr val="tx1"/>
                </a:solidFill>
              </a:rPr>
              <a:t>Compound 3 keeps 69-fold </a:t>
            </a:r>
            <a:pPr indent="0" marL="0">
              <a:lnSpc>
                <a:spcPct val="105000"/>
              </a:lnSpc>
              <a:spcAft>
                <a:spcPts val="400"/>
              </a:spcAft>
              <a:buNone/>
            </a:pPr>
            <a:r>
              <a:rPr lang="en-US" sz="1100" dirty="0">
                <a:solidFill>
                  <a:schemeClr val="tx1"/>
                </a:solidFill>
              </a:rPr>
              <a:t>selectivity over sigma-1 (199 nM) and compound 4 keeps 407-fold (1282 nM); both are clean at 5-HT2C.</a:t>
            </a:r>
            <a:endParaRPr lang="en-US" sz="1100" dirty="0"/>
          </a:p>
          <a:p>
            <a:pPr marL="177800" indent="-177800">
              <a:lnSpc>
                <a:spcPct val="105000"/>
              </a:lnSpc>
              <a:spcAft>
                <a:spcPts val="400"/>
              </a:spcAft>
              <a:buSzPct val="100000"/>
              <a:buChar char="•"/>
            </a:pPr>
            <a:r>
              <a:rPr lang="en-US" sz="1100" b="1" dirty="0">
                <a:solidFill>
                  <a:schemeClr val="tx1"/>
                </a:solidFill>
              </a:rPr>
              <a:t>Properties look drug-like: </a:t>
            </a:r>
            <a:pPr indent="0" marL="0">
              <a:lnSpc>
                <a:spcPct val="105000"/>
              </a:lnSpc>
              <a:spcAft>
                <a:spcPts val="400"/>
              </a:spcAft>
              <a:buNone/>
            </a:pPr>
            <a:r>
              <a:rPr lang="en-US" sz="1100" dirty="0">
                <a:solidFill>
                  <a:schemeClr val="tx1"/>
                </a:solidFill>
              </a:rPr>
              <a:t>log D 2.76 to 3.35, low polar surface area, MPO above 4.5 and predicted log BB above -1, so all three should enter the brain.</a:t>
            </a:r>
            <a:endParaRPr lang="en-US" sz="11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tx2"/>
                </a:solidFill>
              </a:rPr>
              <a:t>Result 2: both tracers reach the brain, but only one is blockable in vivo</a:t>
            </a:r>
            <a:endParaRPr lang="en-US" sz="2600" dirty="0"/>
          </a:p>
        </p:txBody>
      </p:sp>
      <p:sp>
        <p:nvSpPr>
          <p:cNvPr id="3" name="chip Rat brain autoradiography"/>
          <p:cNvSpPr/>
          <p:nvPr/>
        </p:nvSpPr>
        <p:spPr>
          <a:xfrm>
            <a:off x="457200" y="1097280"/>
            <a:ext cx="2651760" cy="292608"/>
          </a:xfrm>
          <a:prstGeom prst="roundRect">
            <a:avLst>
              <a:gd name="adj" fmla="val 50000"/>
            </a:avLst>
          </a:prstGeom>
          <a:solidFill>
            <a:srgbClr val="6A4C93"/>
          </a:solidFill>
          <a:ln w="12700">
            <a:solidFill>
              <a:srgbClr val="6A4C93"/>
            </a:solidFill>
            <a:prstDash val="solid"/>
          </a:ln>
        </p:spPr>
      </p:sp>
      <p:sp>
        <p:nvSpPr>
          <p:cNvPr id="4" name="chip text Rat brain autoradiography"/>
          <p:cNvSpPr txBox="1"/>
          <p:nvPr/>
        </p:nvSpPr>
        <p:spPr>
          <a:xfrm>
            <a:off x="457200" y="1097280"/>
            <a:ext cx="2651760" cy="292608"/>
          </a:xfrm>
          <a:prstGeom prst="rect">
            <a:avLst/>
          </a:prstGeom>
          <a:noFill/>
          <a:ln/>
        </p:spPr>
        <p:txBody>
          <a:bodyPr wrap="square" lIns="0" tIns="0" rIns="0" bIns="0" rtlCol="0" anchor="ctr"/>
          <a:lstStyle/>
          <a:p>
            <a:pPr algn="ctr" indent="0" marL="0">
              <a:buNone/>
            </a:pPr>
            <a:r>
              <a:rPr lang="en-US" sz="1100" b="1" dirty="0">
                <a:solidFill>
                  <a:schemeClr val="bg1"/>
                </a:solidFill>
              </a:rPr>
              <a:t>Rat brain autoradiography</a:t>
            </a:r>
            <a:endParaRPr lang="en-US" sz="1100" dirty="0"/>
          </a:p>
        </p:txBody>
      </p:sp>
      <p:sp>
        <p:nvSpPr>
          <p:cNvPr id="5" name="frame f2_arg"/>
          <p:cNvSpPr/>
          <p:nvPr/>
        </p:nvSpPr>
        <p:spPr>
          <a:xfrm>
            <a:off x="402336" y="1453896"/>
            <a:ext cx="4286312" cy="3081528"/>
          </a:xfrm>
          <a:prstGeom prst="roundRect">
            <a:avLst>
              <a:gd name="adj" fmla="val 2374"/>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6" name="f2_arg" descr="/tmp/claude-0/-home-user-owner/e66306d4-2675-5ec2-99fe-5e24f3a64605/scratchpad/h3r/figs/f2_arg.png">    </p:cNvPr>
          <p:cNvPicPr>
            <a:picLocks noChangeAspect="1"/>
          </p:cNvPicPr>
          <p:nvPr/>
        </p:nvPicPr>
        <p:blipFill>
          <a:blip r:embed="rId1"/>
          <a:stretch>
            <a:fillRect/>
          </a:stretch>
        </p:blipFill>
        <p:spPr>
          <a:xfrm>
            <a:off x="457200" y="1508760"/>
            <a:ext cx="4176584" cy="2971800"/>
          </a:xfrm>
          <a:prstGeom prst="rect">
            <a:avLst/>
          </a:prstGeom>
        </p:spPr>
      </p:pic>
      <p:sp>
        <p:nvSpPr>
          <p:cNvPr id="7" name="caption f2_arg"/>
          <p:cNvSpPr txBox="1"/>
          <p:nvPr/>
        </p:nvSpPr>
        <p:spPr>
          <a:xfrm>
            <a:off x="402336" y="4544568"/>
            <a:ext cx="4286312" cy="274320"/>
          </a:xfrm>
          <a:prstGeom prst="rect">
            <a:avLst/>
          </a:prstGeom>
          <a:noFill/>
          <a:ln/>
        </p:spPr>
        <p:txBody>
          <a:bodyPr wrap="square" lIns="0" tIns="0" rIns="0" bIns="0" rtlCol="0" anchor="ctr"/>
          <a:lstStyle/>
          <a:p>
            <a:pPr indent="0" marL="0">
              <a:buNone/>
            </a:pPr>
            <a:r>
              <a:rPr lang="en-US" sz="1000" i="1" dirty="0">
                <a:solidFill>
                  <a:schemeClr val="accent5"/>
                </a:solidFill>
              </a:rPr>
              <a:t>Fig. 2  Baseline, blocked with GSK189254, and self-blocked</a:t>
            </a:r>
            <a:endParaRPr lang="en-US" sz="1000" dirty="0"/>
          </a:p>
        </p:txBody>
      </p:sp>
      <p:sp>
        <p:nvSpPr>
          <p:cNvPr id="8" name="arg bullets"/>
          <p:cNvSpPr txBox="1"/>
          <p:nvPr/>
        </p:nvSpPr>
        <p:spPr>
          <a:xfrm>
            <a:off x="457200" y="4800600"/>
            <a:ext cx="5257800" cy="155448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00" b="1" dirty="0">
                <a:solidFill>
                  <a:schemeClr val="tx1"/>
                </a:solidFill>
              </a:rPr>
              <a:t>Both tracers trace the receptor. </a:t>
            </a:r>
            <a:pPr indent="0" marL="0">
              <a:lnSpc>
                <a:spcPct val="105000"/>
              </a:lnSpc>
              <a:spcAft>
                <a:spcPts val="600"/>
              </a:spcAft>
              <a:buNone/>
            </a:pPr>
            <a:r>
              <a:rPr lang="en-US" sz="1200" dirty="0">
                <a:solidFill>
                  <a:schemeClr val="tx1"/>
                </a:solidFill>
              </a:rPr>
              <a:t>Signal is high in cortex, striatum, hippocampus and hypothalamus, matching known H3R distribution.</a:t>
            </a:r>
            <a:endParaRPr lang="en-US" sz="1200" dirty="0"/>
          </a:p>
          <a:p>
            <a:pPr marL="177800" indent="-177800">
              <a:lnSpc>
                <a:spcPct val="105000"/>
              </a:lnSpc>
              <a:spcAft>
                <a:spcPts val="600"/>
              </a:spcAft>
              <a:buSzPct val="100000"/>
              <a:buChar char="•"/>
            </a:pPr>
            <a:r>
              <a:rPr lang="en-US" sz="1200" b="1" dirty="0">
                <a:solidFill>
                  <a:schemeClr val="tx1"/>
                </a:solidFill>
              </a:rPr>
              <a:t>Blocking works, but not completely. </a:t>
            </a:r>
            <a:pPr indent="0" marL="0">
              <a:lnSpc>
                <a:spcPct val="105000"/>
              </a:lnSpc>
              <a:spcAft>
                <a:spcPts val="600"/>
              </a:spcAft>
              <a:buNone/>
            </a:pPr>
            <a:r>
              <a:rPr lang="en-US" sz="1200" dirty="0">
                <a:solidFill>
                  <a:schemeClr val="tx1"/>
                </a:solidFill>
              </a:rPr>
              <a:t>An H3R antagonist cuts the signal by 43.6 to 86.0 percent, yet self-blocking with the cold compound removes over 90 percent. That gap, plus a stubborn cerebellar signal in a region poor in H3R, is the first hint of off-target binding.</a:t>
            </a:r>
            <a:endParaRPr lang="en-US" sz="1200" dirty="0"/>
          </a:p>
        </p:txBody>
      </p:sp>
      <p:sp>
        <p:nvSpPr>
          <p:cNvPr id="9" name="chip Dynamic PET in mice, 0 to 60 min"/>
          <p:cNvSpPr/>
          <p:nvPr/>
        </p:nvSpPr>
        <p:spPr>
          <a:xfrm>
            <a:off x="5943600" y="1097280"/>
            <a:ext cx="3017520" cy="292608"/>
          </a:xfrm>
          <a:prstGeom prst="roundRect">
            <a:avLst>
              <a:gd name="adj" fmla="val 50000"/>
            </a:avLst>
          </a:prstGeom>
          <a:solidFill>
            <a:srgbClr val="E07A1F"/>
          </a:solidFill>
          <a:ln w="12700">
            <a:solidFill>
              <a:srgbClr val="E07A1F"/>
            </a:solidFill>
            <a:prstDash val="solid"/>
          </a:ln>
        </p:spPr>
      </p:sp>
      <p:sp>
        <p:nvSpPr>
          <p:cNvPr id="10" name="chip text Dynamic PET in mice, 0 to 60 min"/>
          <p:cNvSpPr txBox="1"/>
          <p:nvPr/>
        </p:nvSpPr>
        <p:spPr>
          <a:xfrm>
            <a:off x="5943600" y="1097280"/>
            <a:ext cx="3017520" cy="292608"/>
          </a:xfrm>
          <a:prstGeom prst="rect">
            <a:avLst/>
          </a:prstGeom>
          <a:noFill/>
          <a:ln/>
        </p:spPr>
        <p:txBody>
          <a:bodyPr wrap="square" lIns="0" tIns="0" rIns="0" bIns="0" rtlCol="0" anchor="ctr"/>
          <a:lstStyle/>
          <a:p>
            <a:pPr algn="ctr" indent="0" marL="0">
              <a:buNone/>
            </a:pPr>
            <a:r>
              <a:rPr lang="en-US" sz="1100" b="1" dirty="0">
                <a:solidFill>
                  <a:schemeClr val="bg1"/>
                </a:solidFill>
              </a:rPr>
              <a:t>Dynamic PET in mice, 0 to 60 min</a:t>
            </a:r>
            <a:endParaRPr lang="en-US" sz="1100" dirty="0"/>
          </a:p>
        </p:txBody>
      </p:sp>
      <p:sp>
        <p:nvSpPr>
          <p:cNvPr id="11" name="frame f3_pet"/>
          <p:cNvSpPr/>
          <p:nvPr/>
        </p:nvSpPr>
        <p:spPr>
          <a:xfrm>
            <a:off x="5888736" y="1426464"/>
            <a:ext cx="3497580" cy="1892808"/>
          </a:xfrm>
          <a:prstGeom prst="roundRect">
            <a:avLst>
              <a:gd name="adj" fmla="val 3865"/>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12" name="f3_pet" descr="/tmp/claude-0/-home-user-owner/e66306d4-2675-5ec2-99fe-5e24f3a64605/scratchpad/h3r/figs/f3_pet.png">    </p:cNvPr>
          <p:cNvPicPr>
            <a:picLocks noChangeAspect="1"/>
          </p:cNvPicPr>
          <p:nvPr/>
        </p:nvPicPr>
        <p:blipFill>
          <a:blip r:embed="rId2"/>
          <a:stretch>
            <a:fillRect/>
          </a:stretch>
        </p:blipFill>
        <p:spPr>
          <a:xfrm>
            <a:off x="5943600" y="1481328"/>
            <a:ext cx="3387852" cy="1783080"/>
          </a:xfrm>
          <a:prstGeom prst="rect">
            <a:avLst/>
          </a:prstGeom>
        </p:spPr>
      </p:pic>
      <p:sp>
        <p:nvSpPr>
          <p:cNvPr id="13" name="caption f3_pet"/>
          <p:cNvSpPr txBox="1"/>
          <p:nvPr/>
        </p:nvSpPr>
        <p:spPr>
          <a:xfrm>
            <a:off x="5888736" y="3328416"/>
            <a:ext cx="3497580" cy="274320"/>
          </a:xfrm>
          <a:prstGeom prst="rect">
            <a:avLst/>
          </a:prstGeom>
          <a:noFill/>
          <a:ln/>
        </p:spPr>
        <p:txBody>
          <a:bodyPr wrap="square" lIns="0" tIns="0" rIns="0" bIns="0" rtlCol="0" anchor="ctr"/>
          <a:lstStyle/>
          <a:p>
            <a:pPr indent="0" marL="0">
              <a:buNone/>
            </a:pPr>
            <a:r>
              <a:rPr lang="en-US" sz="1000" i="1" dirty="0">
                <a:solidFill>
                  <a:schemeClr val="accent5"/>
                </a:solidFill>
              </a:rPr>
              <a:t>Fig. 3  [¹⁸F]3 blocked by three different H3R antagonists</a:t>
            </a:r>
            <a:endParaRPr lang="en-US" sz="1000" dirty="0"/>
          </a:p>
        </p:txBody>
      </p:sp>
      <p:sp>
        <p:nvSpPr>
          <p:cNvPr id="14" name="frame f4_pet4"/>
          <p:cNvSpPr/>
          <p:nvPr/>
        </p:nvSpPr>
        <p:spPr>
          <a:xfrm>
            <a:off x="5888736" y="3529584"/>
            <a:ext cx="4296138" cy="1252728"/>
          </a:xfrm>
          <a:prstGeom prst="roundRect">
            <a:avLst>
              <a:gd name="adj" fmla="val 5839"/>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15" name="f4_pet4" descr="/tmp/claude-0/-home-user-owner/e66306d4-2675-5ec2-99fe-5e24f3a64605/scratchpad/h3r/figs/f4_pet4.png">    </p:cNvPr>
          <p:cNvPicPr>
            <a:picLocks noChangeAspect="1"/>
          </p:cNvPicPr>
          <p:nvPr/>
        </p:nvPicPr>
        <p:blipFill>
          <a:blip r:embed="rId3"/>
          <a:stretch>
            <a:fillRect/>
          </a:stretch>
        </p:blipFill>
        <p:spPr>
          <a:xfrm>
            <a:off x="5943600" y="3584448"/>
            <a:ext cx="4186410" cy="1143000"/>
          </a:xfrm>
          <a:prstGeom prst="rect">
            <a:avLst/>
          </a:prstGeom>
        </p:spPr>
      </p:pic>
      <p:sp>
        <p:nvSpPr>
          <p:cNvPr id="16" name="caption f4_pet4"/>
          <p:cNvSpPr txBox="1"/>
          <p:nvPr/>
        </p:nvSpPr>
        <p:spPr>
          <a:xfrm>
            <a:off x="5888736" y="4791456"/>
            <a:ext cx="4296138" cy="274320"/>
          </a:xfrm>
          <a:prstGeom prst="rect">
            <a:avLst/>
          </a:prstGeom>
          <a:noFill/>
          <a:ln/>
        </p:spPr>
        <p:txBody>
          <a:bodyPr wrap="square" lIns="0" tIns="0" rIns="0" bIns="0" rtlCol="0" anchor="ctr"/>
          <a:lstStyle/>
          <a:p>
            <a:pPr indent="0" marL="0">
              <a:buNone/>
            </a:pPr>
            <a:r>
              <a:rPr lang="en-US" sz="1000" i="1" dirty="0">
                <a:solidFill>
                  <a:schemeClr val="accent5"/>
                </a:solidFill>
              </a:rPr>
              <a:t>Fig. 4  [¹⁸F]4 is not blocked at all</a:t>
            </a:r>
            <a:endParaRPr lang="en-US" sz="1000" dirty="0"/>
          </a:p>
        </p:txBody>
      </p:sp>
      <p:sp>
        <p:nvSpPr>
          <p:cNvPr id="17" name="pet bullets"/>
          <p:cNvSpPr txBox="1"/>
          <p:nvPr/>
        </p:nvSpPr>
        <p:spPr>
          <a:xfrm>
            <a:off x="5943600" y="5029200"/>
            <a:ext cx="5788152" cy="1325880"/>
          </a:xfrm>
          <a:prstGeom prst="rect">
            <a:avLst/>
          </a:prstGeom>
          <a:noFill/>
          <a:ln/>
        </p:spPr>
        <p:txBody>
          <a:bodyPr wrap="square" lIns="0" tIns="0" rIns="0" bIns="0" rtlCol="0" anchor="t"/>
          <a:lstStyle/>
          <a:p>
            <a:pPr marL="177800" indent="-177800">
              <a:lnSpc>
                <a:spcPct val="105000"/>
              </a:lnSpc>
              <a:spcAft>
                <a:spcPts val="400"/>
              </a:spcAft>
              <a:buSzPct val="100000"/>
              <a:buChar char="•"/>
            </a:pPr>
            <a:r>
              <a:rPr lang="en-US" sz="1100" b="1" dirty="0">
                <a:solidFill>
                  <a:schemeClr val="tx1"/>
                </a:solidFill>
              </a:rPr>
              <a:t>[¹⁸F]3 behaves like a tracer. </a:t>
            </a:r>
            <a:pPr indent="0" marL="0">
              <a:lnSpc>
                <a:spcPct val="105000"/>
              </a:lnSpc>
              <a:spcAft>
                <a:spcPts val="400"/>
              </a:spcAft>
              <a:buNone/>
            </a:pPr>
            <a:r>
              <a:rPr lang="en-US" sz="1100" dirty="0">
                <a:solidFill>
                  <a:schemeClr val="tx1"/>
                </a:solidFill>
              </a:rPr>
              <a:t>Uptake peaks at SUV 2.4 by 2.3 min and washes out. Three structurally unrelated antagonists cut the area under the curve by 32.5, 35.6 and 38.4 percent.</a:t>
            </a:r>
            <a:endParaRPr lang="en-US" sz="1100" dirty="0"/>
          </a:p>
          <a:p>
            <a:pPr marL="177800" indent="-177800">
              <a:lnSpc>
                <a:spcPct val="105000"/>
              </a:lnSpc>
              <a:spcAft>
                <a:spcPts val="400"/>
              </a:spcAft>
              <a:buSzPct val="100000"/>
              <a:buChar char="•"/>
            </a:pPr>
            <a:r>
              <a:rPr lang="en-US" sz="1100" b="1" dirty="0">
                <a:solidFill>
                  <a:schemeClr val="tx1"/>
                </a:solidFill>
              </a:rPr>
              <a:t>[¹⁸F]4 does not. </a:t>
            </a:r>
            <a:pPr indent="0" marL="0">
              <a:lnSpc>
                <a:spcPct val="105000"/>
              </a:lnSpc>
              <a:spcAft>
                <a:spcPts val="400"/>
              </a:spcAft>
              <a:buNone/>
            </a:pPr>
            <a:r>
              <a:rPr lang="en-US" sz="1100" dirty="0">
                <a:solidFill>
                  <a:schemeClr val="tx1"/>
                </a:solidFill>
              </a:rPr>
              <a:t>It peaks at 1.83 but blocking changes it by only 3.3 percent. Its higher log D of 3.35 points to non-specific binding in white matter.</a:t>
            </a:r>
            <a:endParaRPr lang="en-US" sz="1100" dirty="0"/>
          </a:p>
          <a:p>
            <a:pPr marL="177800" indent="-177800">
              <a:lnSpc>
                <a:spcPct val="105000"/>
              </a:lnSpc>
              <a:spcAft>
                <a:spcPts val="400"/>
              </a:spcAft>
              <a:buSzPct val="100000"/>
              <a:buChar char="•"/>
            </a:pPr>
            <a:r>
              <a:rPr lang="en-US" sz="1100" b="1" dirty="0">
                <a:solidFill>
                  <a:schemeClr val="tx1"/>
                </a:solidFill>
              </a:rPr>
              <a:t>Chasing the residue. </a:t>
            </a:r>
            <a:pPr indent="0" marL="0">
              <a:lnSpc>
                <a:spcPct val="105000"/>
              </a:lnSpc>
              <a:spcAft>
                <a:spcPts val="400"/>
              </a:spcAft>
              <a:buNone/>
            </a:pPr>
            <a:r>
              <a:rPr lang="en-US" sz="1100" dirty="0">
                <a:solidFill>
                  <a:schemeClr val="tx1"/>
                </a:solidFill>
              </a:rPr>
              <a:t>A sigma-1 antagonist partly reduced uptake and a dual H3R/sigma-1 compound blocked it almost completely, so part of the retained signal really is sigma-1. An efflux inhibitor made no significant difference, so P-glycoprotein is not the problem.</a:t>
            </a:r>
            <a:endParaRPr lang="en-US" sz="11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tx2"/>
                </a:solidFill>
              </a:rPr>
              <a:t>Result 3: good brain delivery, clean metabolism and no defluorination</a:t>
            </a:r>
            <a:endParaRPr lang="en-US" sz="2600" dirty="0"/>
          </a:p>
        </p:txBody>
      </p:sp>
      <p:sp>
        <p:nvSpPr>
          <p:cNvPr id="3" name="chip Whole-body distribution"/>
          <p:cNvSpPr/>
          <p:nvPr/>
        </p:nvSpPr>
        <p:spPr>
          <a:xfrm>
            <a:off x="457200" y="1097280"/>
            <a:ext cx="2286000" cy="292608"/>
          </a:xfrm>
          <a:prstGeom prst="roundRect">
            <a:avLst>
              <a:gd name="adj" fmla="val 50000"/>
            </a:avLst>
          </a:prstGeom>
          <a:solidFill>
            <a:srgbClr val="1F8A8A"/>
          </a:solidFill>
          <a:ln w="12700">
            <a:solidFill>
              <a:srgbClr val="1F8A8A"/>
            </a:solidFill>
            <a:prstDash val="solid"/>
          </a:ln>
        </p:spPr>
      </p:sp>
      <p:sp>
        <p:nvSpPr>
          <p:cNvPr id="4" name="chip text Whole-body distribution"/>
          <p:cNvSpPr txBox="1"/>
          <p:nvPr/>
        </p:nvSpPr>
        <p:spPr>
          <a:xfrm>
            <a:off x="457200" y="1097280"/>
            <a:ext cx="2286000" cy="292608"/>
          </a:xfrm>
          <a:prstGeom prst="rect">
            <a:avLst/>
          </a:prstGeom>
          <a:noFill/>
          <a:ln/>
        </p:spPr>
        <p:txBody>
          <a:bodyPr wrap="square" lIns="0" tIns="0" rIns="0" bIns="0" rtlCol="0" anchor="ctr"/>
          <a:lstStyle/>
          <a:p>
            <a:pPr algn="ctr" indent="0" marL="0">
              <a:buNone/>
            </a:pPr>
            <a:r>
              <a:rPr lang="en-US" sz="1100" b="1" dirty="0">
                <a:solidFill>
                  <a:schemeClr val="bg1"/>
                </a:solidFill>
              </a:rPr>
              <a:t>Whole-body distribution</a:t>
            </a:r>
            <a:endParaRPr lang="en-US" sz="1100" dirty="0"/>
          </a:p>
        </p:txBody>
      </p:sp>
      <p:sp>
        <p:nvSpPr>
          <p:cNvPr id="5" name="frame f5_biodist"/>
          <p:cNvSpPr/>
          <p:nvPr/>
        </p:nvSpPr>
        <p:spPr>
          <a:xfrm>
            <a:off x="402336" y="1453896"/>
            <a:ext cx="5687568" cy="1942447"/>
          </a:xfrm>
          <a:prstGeom prst="roundRect">
            <a:avLst>
              <a:gd name="adj" fmla="val 3766"/>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6" name="f5_biodist" descr="/tmp/claude-0/-home-user-owner/e66306d4-2675-5ec2-99fe-5e24f3a64605/scratchpad/h3r/figs/f5_biodist.png">    </p:cNvPr>
          <p:cNvPicPr>
            <a:picLocks noChangeAspect="1"/>
          </p:cNvPicPr>
          <p:nvPr/>
        </p:nvPicPr>
        <p:blipFill>
          <a:blip r:embed="rId1"/>
          <a:stretch>
            <a:fillRect/>
          </a:stretch>
        </p:blipFill>
        <p:spPr>
          <a:xfrm>
            <a:off x="457200" y="1508760"/>
            <a:ext cx="5577840" cy="1832719"/>
          </a:xfrm>
          <a:prstGeom prst="rect">
            <a:avLst/>
          </a:prstGeom>
        </p:spPr>
      </p:pic>
      <p:sp>
        <p:nvSpPr>
          <p:cNvPr id="7" name="caption f5_biodist"/>
          <p:cNvSpPr txBox="1"/>
          <p:nvPr/>
        </p:nvSpPr>
        <p:spPr>
          <a:xfrm>
            <a:off x="402336" y="3405487"/>
            <a:ext cx="5687568" cy="274320"/>
          </a:xfrm>
          <a:prstGeom prst="rect">
            <a:avLst/>
          </a:prstGeom>
          <a:noFill/>
          <a:ln/>
        </p:spPr>
        <p:txBody>
          <a:bodyPr wrap="square" lIns="0" tIns="0" rIns="0" bIns="0" rtlCol="0" anchor="ctr"/>
          <a:lstStyle/>
          <a:p>
            <a:pPr indent="0" marL="0">
              <a:buNone/>
            </a:pPr>
            <a:r>
              <a:rPr lang="en-US" sz="1000" i="1" dirty="0">
                <a:solidFill>
                  <a:schemeClr val="accent5"/>
                </a:solidFill>
              </a:rPr>
              <a:t>Fig. 5  [¹⁸F]3 in mice at 5, 15, 30 and 60 min</a:t>
            </a:r>
            <a:endParaRPr lang="en-US" sz="1000" dirty="0"/>
          </a:p>
        </p:txBody>
      </p:sp>
      <p:sp>
        <p:nvSpPr>
          <p:cNvPr id="8" name="biod bullets"/>
          <p:cNvSpPr txBox="1"/>
          <p:nvPr/>
        </p:nvSpPr>
        <p:spPr>
          <a:xfrm>
            <a:off x="457200" y="3703320"/>
            <a:ext cx="5577840" cy="237744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00" b="1" dirty="0">
                <a:solidFill>
                  <a:schemeClr val="tx1"/>
                </a:solidFill>
              </a:rPr>
              <a:t>Brain delivery is substantial: </a:t>
            </a:r>
            <a:pPr indent="0" marL="0">
              <a:lnSpc>
                <a:spcPct val="105000"/>
              </a:lnSpc>
              <a:spcAft>
                <a:spcPts val="600"/>
              </a:spcAft>
              <a:buNone/>
            </a:pPr>
            <a:r>
              <a:rPr lang="en-US" sz="1200" dirty="0">
                <a:solidFill>
                  <a:schemeClr val="tx1"/>
                </a:solidFill>
              </a:rPr>
              <a:t>10.9 percent of injected dose per gram at 5 min, then a steady washout, which is the shape a reversible tracer should have.</a:t>
            </a:r>
            <a:endParaRPr lang="en-US" sz="1200" dirty="0"/>
          </a:p>
          <a:p>
            <a:pPr marL="177800" indent="-177800">
              <a:lnSpc>
                <a:spcPct val="105000"/>
              </a:lnSpc>
              <a:spcAft>
                <a:spcPts val="600"/>
              </a:spcAft>
              <a:buSzPct val="100000"/>
              <a:buChar char="•"/>
            </a:pPr>
            <a:r>
              <a:rPr lang="en-US" sz="1200" b="1" dirty="0">
                <a:solidFill>
                  <a:schemeClr val="tx1"/>
                </a:solidFill>
              </a:rPr>
              <a:t>Clearance is hepatobiliary: </a:t>
            </a:r>
            <a:pPr indent="0" marL="0">
              <a:lnSpc>
                <a:spcPct val="105000"/>
              </a:lnSpc>
              <a:spcAft>
                <a:spcPts val="600"/>
              </a:spcAft>
              <a:buNone/>
            </a:pPr>
            <a:r>
              <a:rPr lang="en-US" sz="1200" dirty="0">
                <a:solidFill>
                  <a:schemeClr val="tx1"/>
                </a:solidFill>
              </a:rPr>
              <a:t>early signal in heart, lung and kidney clears, while liver and intestine rise later.</a:t>
            </a:r>
            <a:endParaRPr lang="en-US" sz="1200" dirty="0"/>
          </a:p>
          <a:p>
            <a:pPr marL="177800" indent="-177800">
              <a:lnSpc>
                <a:spcPct val="105000"/>
              </a:lnSpc>
              <a:spcAft>
                <a:spcPts val="600"/>
              </a:spcAft>
              <a:buSzPct val="100000"/>
              <a:buChar char="•"/>
            </a:pPr>
            <a:r>
              <a:rPr lang="en-US" sz="1200" b="1" dirty="0">
                <a:solidFill>
                  <a:schemeClr val="tx1"/>
                </a:solidFill>
              </a:rPr>
              <a:t>Bone stays at about 2 percent </a:t>
            </a:r>
            <a:pPr indent="0" marL="0">
              <a:lnSpc>
                <a:spcPct val="105000"/>
              </a:lnSpc>
              <a:spcAft>
                <a:spcPts val="600"/>
              </a:spcAft>
              <a:buNone/>
            </a:pPr>
            <a:r>
              <a:rPr lang="en-US" sz="1200" dirty="0">
                <a:solidFill>
                  <a:schemeClr val="tx1"/>
                </a:solidFill>
              </a:rPr>
              <a:t>and does not climb, so the carbon-fluorine bond is holding. Free fluorine-18 would accumulate in bone and ruin a brain scan.</a:t>
            </a:r>
            <a:endParaRPr lang="en-US" sz="1200" dirty="0"/>
          </a:p>
          <a:p>
            <a:pPr marL="177800" indent="-177800">
              <a:lnSpc>
                <a:spcPct val="105000"/>
              </a:lnSpc>
              <a:spcAft>
                <a:spcPts val="600"/>
              </a:spcAft>
              <a:buSzPct val="100000"/>
              <a:buChar char="•"/>
            </a:pPr>
            <a:r>
              <a:rPr lang="en-US" sz="1200" b="1" dirty="0">
                <a:solidFill>
                  <a:schemeClr val="tx1"/>
                </a:solidFill>
              </a:rPr>
              <a:t>The early lung and pancreas peak </a:t>
            </a:r>
            <a:pPr indent="0" marL="0">
              <a:lnSpc>
                <a:spcPct val="105000"/>
              </a:lnSpc>
              <a:spcAft>
                <a:spcPts val="600"/>
              </a:spcAft>
              <a:buNone/>
            </a:pPr>
            <a:r>
              <a:rPr lang="en-US" sz="1200" dirty="0">
                <a:solidFill>
                  <a:schemeClr val="tx1"/>
                </a:solidFill>
              </a:rPr>
              <a:t>is what a lipophilic amine usually does, and it clears over the hour rather than building up.</a:t>
            </a:r>
            <a:endParaRPr lang="en-US" sz="1200" dirty="0"/>
          </a:p>
        </p:txBody>
      </p:sp>
      <p:sp>
        <p:nvSpPr>
          <p:cNvPr id="9" name="chip Stability and metabolites"/>
          <p:cNvSpPr/>
          <p:nvPr/>
        </p:nvSpPr>
        <p:spPr>
          <a:xfrm>
            <a:off x="6355080" y="1097280"/>
            <a:ext cx="2468880" cy="292608"/>
          </a:xfrm>
          <a:prstGeom prst="roundRect">
            <a:avLst>
              <a:gd name="adj" fmla="val 50000"/>
            </a:avLst>
          </a:prstGeom>
          <a:solidFill>
            <a:srgbClr val="3E6B7C"/>
          </a:solidFill>
          <a:ln w="12700">
            <a:solidFill>
              <a:srgbClr val="3E6B7C"/>
            </a:solidFill>
            <a:prstDash val="solid"/>
          </a:ln>
        </p:spPr>
      </p:sp>
      <p:sp>
        <p:nvSpPr>
          <p:cNvPr id="10" name="chip text Stability and metabolites"/>
          <p:cNvSpPr txBox="1"/>
          <p:nvPr/>
        </p:nvSpPr>
        <p:spPr>
          <a:xfrm>
            <a:off x="6355080" y="1097280"/>
            <a:ext cx="2468880" cy="292608"/>
          </a:xfrm>
          <a:prstGeom prst="rect">
            <a:avLst/>
          </a:prstGeom>
          <a:noFill/>
          <a:ln/>
        </p:spPr>
        <p:txBody>
          <a:bodyPr wrap="square" lIns="0" tIns="0" rIns="0" bIns="0" rtlCol="0" anchor="ctr"/>
          <a:lstStyle/>
          <a:p>
            <a:pPr algn="ctr" indent="0" marL="0">
              <a:buNone/>
            </a:pPr>
            <a:r>
              <a:rPr lang="en-US" sz="1100" b="1" dirty="0">
                <a:solidFill>
                  <a:schemeClr val="bg1"/>
                </a:solidFill>
              </a:rPr>
              <a:t>Stability and metabolites</a:t>
            </a:r>
            <a:endParaRPr lang="en-US" sz="1100" dirty="0"/>
          </a:p>
        </p:txBody>
      </p:sp>
      <p:sp>
        <p:nvSpPr>
          <p:cNvPr id="11" name="frame f6_stability"/>
          <p:cNvSpPr/>
          <p:nvPr/>
        </p:nvSpPr>
        <p:spPr>
          <a:xfrm>
            <a:off x="6300216" y="1453896"/>
            <a:ext cx="3675888" cy="2244881"/>
          </a:xfrm>
          <a:prstGeom prst="roundRect">
            <a:avLst>
              <a:gd name="adj" fmla="val 3259"/>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12" name="f6_stability" descr="/tmp/claude-0/-home-user-owner/e66306d4-2675-5ec2-99fe-5e24f3a64605/scratchpad/h3r/figs/f6_stability.png">    </p:cNvPr>
          <p:cNvPicPr>
            <a:picLocks noChangeAspect="1"/>
          </p:cNvPicPr>
          <p:nvPr/>
        </p:nvPicPr>
        <p:blipFill>
          <a:blip r:embed="rId2"/>
          <a:stretch>
            <a:fillRect/>
          </a:stretch>
        </p:blipFill>
        <p:spPr>
          <a:xfrm>
            <a:off x="6355080" y="1508760"/>
            <a:ext cx="3566160" cy="2135153"/>
          </a:xfrm>
          <a:prstGeom prst="rect">
            <a:avLst/>
          </a:prstGeom>
        </p:spPr>
      </p:pic>
      <p:sp>
        <p:nvSpPr>
          <p:cNvPr id="13" name="caption f6_stability"/>
          <p:cNvSpPr txBox="1"/>
          <p:nvPr/>
        </p:nvSpPr>
        <p:spPr>
          <a:xfrm>
            <a:off x="6300216" y="3707921"/>
            <a:ext cx="3675888" cy="274320"/>
          </a:xfrm>
          <a:prstGeom prst="rect">
            <a:avLst/>
          </a:prstGeom>
          <a:noFill/>
          <a:ln/>
        </p:spPr>
        <p:txBody>
          <a:bodyPr wrap="square" lIns="0" tIns="0" rIns="0" bIns="0" rtlCol="0" anchor="ctr"/>
          <a:lstStyle/>
          <a:p>
            <a:pPr indent="0" marL="0">
              <a:buNone/>
            </a:pPr>
            <a:r>
              <a:rPr lang="en-US" sz="1000" i="1" dirty="0">
                <a:solidFill>
                  <a:schemeClr val="accent5"/>
                </a:solidFill>
              </a:rPr>
              <a:t>Fig. 6  Serum and liver microsomes, three species</a:t>
            </a:r>
            <a:endParaRPr lang="en-US" sz="1000" dirty="0"/>
          </a:p>
        </p:txBody>
      </p:sp>
      <p:sp>
        <p:nvSpPr>
          <p:cNvPr id="14" name="frame f7_metab"/>
          <p:cNvSpPr/>
          <p:nvPr/>
        </p:nvSpPr>
        <p:spPr>
          <a:xfrm>
            <a:off x="10094976" y="1453896"/>
            <a:ext cx="1691640" cy="1135499"/>
          </a:xfrm>
          <a:prstGeom prst="roundRect">
            <a:avLst>
              <a:gd name="adj" fmla="val 6442"/>
            </a:avLst>
          </a:prstGeom>
          <a:solidFill>
            <a:schemeClr val="bg1"/>
          </a:solidFill>
          <a:ln w="9525">
            <a:solidFill>
              <a:srgbClr val="C7D7DD"/>
            </a:solidFill>
            <a:prstDash val="solid"/>
          </a:ln>
          <a:effectLst>
            <a:outerShdw sx="100000" sy="100000" kx="0" ky="0" algn="bl" rotWithShape="0" blurRad="76200" dist="19050" dir="5400000">
              <a:srgbClr val="0B3C4A">
                <a:alpha val="16000"/>
              </a:srgbClr>
            </a:outerShdw>
          </a:effectLst>
        </p:spPr>
      </p:sp>
      <p:pic>
        <p:nvPicPr>
          <p:cNvPr id="15" name="f7_metab" descr="/tmp/claude-0/-home-user-owner/e66306d4-2675-5ec2-99fe-5e24f3a64605/scratchpad/h3r/figs/f7_metab.png">    </p:cNvPr>
          <p:cNvPicPr>
            <a:picLocks noChangeAspect="1"/>
          </p:cNvPicPr>
          <p:nvPr/>
        </p:nvPicPr>
        <p:blipFill>
          <a:blip r:embed="rId3"/>
          <a:stretch>
            <a:fillRect/>
          </a:stretch>
        </p:blipFill>
        <p:spPr>
          <a:xfrm>
            <a:off x="10149840" y="1508760"/>
            <a:ext cx="1581912" cy="1025771"/>
          </a:xfrm>
          <a:prstGeom prst="rect">
            <a:avLst/>
          </a:prstGeom>
        </p:spPr>
      </p:pic>
      <p:sp>
        <p:nvSpPr>
          <p:cNvPr id="16" name="caption f7_metab"/>
          <p:cNvSpPr txBox="1"/>
          <p:nvPr/>
        </p:nvSpPr>
        <p:spPr>
          <a:xfrm>
            <a:off x="10094976" y="2598539"/>
            <a:ext cx="1691640" cy="274320"/>
          </a:xfrm>
          <a:prstGeom prst="rect">
            <a:avLst/>
          </a:prstGeom>
          <a:noFill/>
          <a:ln/>
        </p:spPr>
        <p:txBody>
          <a:bodyPr wrap="square" lIns="0" tIns="0" rIns="0" bIns="0" rtlCol="0" anchor="ctr"/>
          <a:lstStyle/>
          <a:p>
            <a:pPr indent="0" marL="0">
              <a:buNone/>
            </a:pPr>
            <a:r>
              <a:rPr lang="en-US" sz="1000" i="1" dirty="0">
                <a:solidFill>
                  <a:schemeClr val="accent5"/>
                </a:solidFill>
              </a:rPr>
              <a:t>Fig. 7  Parent fraction</a:t>
            </a:r>
            <a:endParaRPr lang="en-US" sz="1000" dirty="0"/>
          </a:p>
        </p:txBody>
      </p:sp>
      <p:sp>
        <p:nvSpPr>
          <p:cNvPr id="17" name="stab bullets"/>
          <p:cNvSpPr txBox="1"/>
          <p:nvPr/>
        </p:nvSpPr>
        <p:spPr>
          <a:xfrm>
            <a:off x="6355080" y="4114800"/>
            <a:ext cx="5376672" cy="2194560"/>
          </a:xfrm>
          <a:prstGeom prst="rect">
            <a:avLst/>
          </a:prstGeom>
          <a:noFill/>
          <a:ln/>
        </p:spPr>
        <p:txBody>
          <a:bodyPr wrap="square" lIns="0" tIns="0" rIns="0" bIns="0" rtlCol="0" anchor="t"/>
          <a:lstStyle/>
          <a:p>
            <a:pPr marL="177800" indent="-177800">
              <a:lnSpc>
                <a:spcPct val="105000"/>
              </a:lnSpc>
              <a:spcAft>
                <a:spcPts val="600"/>
              </a:spcAft>
              <a:buSzPct val="100000"/>
              <a:buChar char="•"/>
            </a:pPr>
            <a:r>
              <a:rPr lang="en-US" sz="1200" b="1" dirty="0">
                <a:solidFill>
                  <a:schemeClr val="tx1"/>
                </a:solidFill>
              </a:rPr>
              <a:t>Stable in serum: </a:t>
            </a:r>
            <a:pPr indent="0" marL="0">
              <a:lnSpc>
                <a:spcPct val="105000"/>
              </a:lnSpc>
              <a:spcAft>
                <a:spcPts val="600"/>
              </a:spcAft>
              <a:buNone/>
            </a:pPr>
            <a:r>
              <a:rPr lang="en-US" sz="1200" dirty="0">
                <a:solidFill>
                  <a:schemeClr val="tx1"/>
                </a:solidFill>
              </a:rPr>
              <a:t>over 95 percent of the parent compound survives at 90 min in mouse, monkey and human serum.</a:t>
            </a:r>
            <a:endParaRPr lang="en-US" sz="1200" dirty="0"/>
          </a:p>
          <a:p>
            <a:pPr marL="177800" indent="-177800">
              <a:lnSpc>
                <a:spcPct val="105000"/>
              </a:lnSpc>
              <a:spcAft>
                <a:spcPts val="600"/>
              </a:spcAft>
              <a:buSzPct val="100000"/>
              <a:buChar char="•"/>
            </a:pPr>
            <a:r>
              <a:rPr lang="en-US" sz="1200" b="1" dirty="0">
                <a:solidFill>
                  <a:schemeClr val="tx1"/>
                </a:solidFill>
              </a:rPr>
              <a:t>Stable in microsomes: </a:t>
            </a:r>
            <a:pPr indent="0" marL="0">
              <a:lnSpc>
                <a:spcPct val="105000"/>
              </a:lnSpc>
              <a:spcAft>
                <a:spcPts val="600"/>
              </a:spcAft>
              <a:buNone/>
            </a:pPr>
            <a:r>
              <a:rPr lang="en-US" sz="1200" dirty="0">
                <a:solidFill>
                  <a:schemeClr val="tx1"/>
                </a:solidFill>
              </a:rPr>
              <a:t>78 percent parent in mouse, 85 percent in monkey and 95 percent in human at 90 min, so the human prediction is the most favourable of the three.</a:t>
            </a:r>
            <a:endParaRPr lang="en-US" sz="1200" dirty="0"/>
          </a:p>
          <a:p>
            <a:pPr marL="177800" indent="-177800">
              <a:lnSpc>
                <a:spcPct val="105000"/>
              </a:lnSpc>
              <a:spcAft>
                <a:spcPts val="600"/>
              </a:spcAft>
              <a:buSzPct val="100000"/>
              <a:buChar char="•"/>
            </a:pPr>
            <a:r>
              <a:rPr lang="en-US" sz="1200" b="1" dirty="0">
                <a:solidFill>
                  <a:schemeClr val="tx1"/>
                </a:solidFill>
              </a:rPr>
              <a:t>What matters is the brain: </a:t>
            </a:r>
            <a:pPr indent="0" marL="0">
              <a:lnSpc>
                <a:spcPct val="105000"/>
              </a:lnSpc>
              <a:spcAft>
                <a:spcPts val="600"/>
              </a:spcAft>
              <a:buNone/>
            </a:pPr>
            <a:r>
              <a:rPr lang="en-US" sz="1200" dirty="0">
                <a:solidFill>
                  <a:schemeClr val="tx1"/>
                </a:solidFill>
              </a:rPr>
              <a:t>at 30 min after injection, 96 percent of brain radioactivity is still intact tracer, against 31 percent in plasma. Radioactive fragments are staying out of the brain.</a:t>
            </a:r>
            <a:endParaRPr lang="en-US" sz="120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74552" cy="713232"/>
          </a:xfrm>
          <a:prstGeom prst="rect">
            <a:avLst/>
          </a:prstGeom>
          <a:noFill/>
          <a:ln/>
        </p:spPr>
        <p:txBody>
          <a:bodyPr wrap="square" lIns="0" tIns="0" rIns="0" bIns="0" rtlCol="0" anchor="ctr"/>
          <a:lstStyle/>
          <a:p>
            <a:pPr algn="l" indent="0" marL="0">
              <a:buNone/>
            </a:pPr>
            <a:r>
              <a:rPr lang="en-US" sz="2600" b="1" dirty="0">
                <a:solidFill>
                  <a:schemeClr val="bg1"/>
                </a:solidFill>
              </a:rPr>
              <a:t>Take-aways and critical appraisal</a:t>
            </a:r>
            <a:endParaRPr lang="en-US" sz="2600" dirty="0"/>
          </a:p>
        </p:txBody>
      </p:sp>
      <p:sp>
        <p:nvSpPr>
          <p:cNvPr id="3" name="takeaway card"/>
          <p:cNvSpPr/>
          <p:nvPr/>
        </p:nvSpPr>
        <p:spPr>
          <a:xfrm>
            <a:off x="457200" y="1097280"/>
            <a:ext cx="5532120" cy="5166360"/>
          </a:xfrm>
          <a:prstGeom prst="roundRect">
            <a:avLst>
              <a:gd name="adj" fmla="val 1770"/>
            </a:avLst>
          </a:prstGeom>
          <a:solidFill>
            <a:srgbClr val="FFFFFF"/>
          </a:solidFill>
          <a:ln w="12700">
            <a:solidFill>
              <a:srgbClr val="FFFFFF"/>
            </a:solidFill>
            <a:prstDash val="solid"/>
          </a:ln>
        </p:spPr>
      </p:sp>
      <p:sp>
        <p:nvSpPr>
          <p:cNvPr id="4" name="icon circle bulb"/>
          <p:cNvSpPr/>
          <p:nvPr/>
        </p:nvSpPr>
        <p:spPr>
          <a:xfrm>
            <a:off x="640080" y="1234440"/>
            <a:ext cx="457200" cy="457200"/>
          </a:xfrm>
          <a:prstGeom prst="ellipse">
            <a:avLst/>
          </a:prstGeom>
          <a:solidFill>
            <a:srgbClr val="E07A1F"/>
          </a:solidFill>
          <a:ln w="12700">
            <a:solidFill>
              <a:srgbClr val="E07A1F"/>
            </a:solidFill>
            <a:prstDash val="solid"/>
          </a:ln>
        </p:spPr>
      </p:sp>
      <p:pic>
        <p:nvPicPr>
          <p:cNvPr id="5" name="icon bulb" descr="/tmp/claude-0/-home-user-owner/e66306d4-2675-5ec2-99fe-5e24f3a64605/scratchpad/h3r/build/img/ic_bulb.png">    </p:cNvPr>
          <p:cNvPicPr>
            <a:picLocks noChangeAspect="1"/>
          </p:cNvPicPr>
          <p:nvPr/>
        </p:nvPicPr>
        <p:blipFill>
          <a:blip r:embed="rId1"/>
          <a:stretch>
            <a:fillRect/>
          </a:stretch>
        </p:blipFill>
        <p:spPr>
          <a:xfrm>
            <a:off x="758952" y="1353312"/>
            <a:ext cx="219456" cy="219456"/>
          </a:xfrm>
          <a:prstGeom prst="rect">
            <a:avLst/>
          </a:prstGeom>
        </p:spPr>
      </p:pic>
      <p:sp>
        <p:nvSpPr>
          <p:cNvPr id="6" name="heading What the paper delivers"/>
          <p:cNvSpPr txBox="1"/>
          <p:nvPr/>
        </p:nvSpPr>
        <p:spPr>
          <a:xfrm>
            <a:off x="1234440" y="1280160"/>
            <a:ext cx="4480560" cy="365760"/>
          </a:xfrm>
          <a:prstGeom prst="rect">
            <a:avLst/>
          </a:prstGeom>
          <a:noFill/>
          <a:ln/>
        </p:spPr>
        <p:txBody>
          <a:bodyPr wrap="square" lIns="0" tIns="0" rIns="0" bIns="0" rtlCol="0" anchor="ctr"/>
          <a:lstStyle/>
          <a:p>
            <a:pPr indent="0" marL="0">
              <a:buNone/>
            </a:pPr>
            <a:r>
              <a:rPr lang="en-US" sz="1600" b="1" dirty="0">
                <a:solidFill>
                  <a:schemeClr val="tx2"/>
                </a:solidFill>
              </a:rPr>
              <a:t>What the paper delivers</a:t>
            </a:r>
            <a:endParaRPr lang="en-US" sz="1600" dirty="0"/>
          </a:p>
        </p:txBody>
      </p:sp>
      <p:sp>
        <p:nvSpPr>
          <p:cNvPr id="7" name="takeaway bullets"/>
          <p:cNvSpPr txBox="1"/>
          <p:nvPr/>
        </p:nvSpPr>
        <p:spPr>
          <a:xfrm>
            <a:off x="685800" y="1783080"/>
            <a:ext cx="5120640" cy="434340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250" b="1" dirty="0">
                <a:solidFill>
                  <a:schemeClr val="tx1"/>
                </a:solidFill>
              </a:rPr>
              <a:t>A one-ring edit paid off. </a:t>
            </a:r>
            <a:pPr indent="0" marL="0">
              <a:lnSpc>
                <a:spcPct val="105000"/>
              </a:lnSpc>
              <a:spcAft>
                <a:spcPts val="900"/>
              </a:spcAft>
              <a:buNone/>
            </a:pPr>
            <a:r>
              <a:rPr lang="en-US" sz="1250" dirty="0">
                <a:solidFill>
                  <a:schemeClr val="tx1"/>
                </a:solidFill>
              </a:rPr>
              <a:t>Removing the pyridine from their earlier tracer and tuning the cycloalkyl gave compounds with low-nanomolar affinity and drug-like properties.</a:t>
            </a:r>
            <a:endParaRPr lang="en-US" sz="1250" dirty="0"/>
          </a:p>
          <a:p>
            <a:pPr marL="177800" indent="-177800">
              <a:lnSpc>
                <a:spcPct val="105000"/>
              </a:lnSpc>
              <a:spcAft>
                <a:spcPts val="900"/>
              </a:spcAft>
              <a:buSzPct val="100000"/>
              <a:buChar char="•"/>
            </a:pPr>
            <a:r>
              <a:rPr lang="en-US" sz="1250" b="1" dirty="0">
                <a:solidFill>
                  <a:schemeClr val="tx1"/>
                </a:solidFill>
              </a:rPr>
              <a:t>A clean radiochemical route. </a:t>
            </a:r>
            <a:pPr indent="0" marL="0">
              <a:lnSpc>
                <a:spcPct val="105000"/>
              </a:lnSpc>
              <a:spcAft>
                <a:spcPts val="900"/>
              </a:spcAft>
              <a:buNone/>
            </a:pPr>
            <a:r>
              <a:rPr lang="en-US" sz="1250" dirty="0">
                <a:solidFill>
                  <a:schemeClr val="tx1"/>
                </a:solidFill>
              </a:rPr>
              <a:t>Copper-mediated labelling of boronate precursors delivered both tracers in 15 min with high purity and useful molar activity.</a:t>
            </a:r>
            <a:endParaRPr lang="en-US" sz="1250" dirty="0"/>
          </a:p>
          <a:p>
            <a:pPr marL="177800" indent="-177800">
              <a:lnSpc>
                <a:spcPct val="105000"/>
              </a:lnSpc>
              <a:spcAft>
                <a:spcPts val="900"/>
              </a:spcAft>
              <a:buSzPct val="100000"/>
              <a:buChar char="•"/>
            </a:pPr>
            <a:r>
              <a:rPr lang="en-US" sz="1250" b="1" dirty="0">
                <a:solidFill>
                  <a:schemeClr val="tx1"/>
                </a:solidFill>
              </a:rPr>
              <a:t>[¹⁸F]H3-2406 is the lead. </a:t>
            </a:r>
            <a:pPr indent="0" marL="0">
              <a:lnSpc>
                <a:spcPct val="105000"/>
              </a:lnSpc>
              <a:spcAft>
                <a:spcPts val="900"/>
              </a:spcAft>
              <a:buNone/>
            </a:pPr>
            <a:r>
              <a:rPr lang="en-US" sz="1250" dirty="0">
                <a:solidFill>
                  <a:schemeClr val="tx1"/>
                </a:solidFill>
              </a:rPr>
              <a:t>Good brain uptake, the right regional pattern, blockade by three unrelated antagonists, 96 percent intact in brain and no defluorination.</a:t>
            </a:r>
            <a:endParaRPr lang="en-US" sz="1250" dirty="0"/>
          </a:p>
          <a:p>
            <a:pPr marL="177800" indent="-177800">
              <a:lnSpc>
                <a:spcPct val="105000"/>
              </a:lnSpc>
              <a:spcAft>
                <a:spcPts val="900"/>
              </a:spcAft>
              <a:buSzPct val="100000"/>
              <a:buChar char="•"/>
            </a:pPr>
            <a:r>
              <a:rPr lang="en-US" sz="1250" b="1" dirty="0">
                <a:solidFill>
                  <a:schemeClr val="tx1"/>
                </a:solidFill>
              </a:rPr>
              <a:t>A new scaffold for the field. </a:t>
            </a:r>
            <a:pPr indent="0" marL="0">
              <a:lnSpc>
                <a:spcPct val="105000"/>
              </a:lnSpc>
              <a:spcAft>
                <a:spcPts val="900"/>
              </a:spcAft>
              <a:buNone/>
            </a:pPr>
            <a:r>
              <a:rPr lang="en-US" sz="1250" dirty="0">
                <a:solidFill>
                  <a:schemeClr val="tx1"/>
                </a:solidFill>
              </a:rPr>
              <a:t>The 4-cyclopentylpiperazine core had not been described for H3R imaging before.</a:t>
            </a:r>
            <a:endParaRPr lang="en-US" sz="1250" dirty="0"/>
          </a:p>
          <a:p>
            <a:pPr marL="177800" indent="-177800">
              <a:lnSpc>
                <a:spcPct val="105000"/>
              </a:lnSpc>
              <a:spcAft>
                <a:spcPts val="900"/>
              </a:spcAft>
              <a:buSzPct val="100000"/>
              <a:buChar char="•"/>
            </a:pPr>
            <a:r>
              <a:rPr lang="en-US" sz="1250" b="1" dirty="0">
                <a:solidFill>
                  <a:schemeClr val="tx1"/>
                </a:solidFill>
              </a:rPr>
              <a:t>A useful negative result. </a:t>
            </a:r>
            <a:pPr indent="0" marL="0">
              <a:lnSpc>
                <a:spcPct val="105000"/>
              </a:lnSpc>
              <a:spcAft>
                <a:spcPts val="900"/>
              </a:spcAft>
              <a:buNone/>
            </a:pPr>
            <a:r>
              <a:rPr lang="en-US" sz="1250" dirty="0">
                <a:solidFill>
                  <a:schemeClr val="tx1"/>
                </a:solidFill>
              </a:rPr>
              <a:t>Its cyclohexyl twin failed in vivo despite near-identical affinity, a reminder that lipophilicity, not potency, often decides whether a tracer works.</a:t>
            </a:r>
            <a:endParaRPr lang="en-US" sz="1250" dirty="0"/>
          </a:p>
        </p:txBody>
      </p:sp>
      <p:sp>
        <p:nvSpPr>
          <p:cNvPr id="8" name="critique card"/>
          <p:cNvSpPr/>
          <p:nvPr/>
        </p:nvSpPr>
        <p:spPr>
          <a:xfrm>
            <a:off x="6217920" y="1097280"/>
            <a:ext cx="5513832" cy="5166360"/>
          </a:xfrm>
          <a:prstGeom prst="roundRect">
            <a:avLst>
              <a:gd name="adj" fmla="val 1770"/>
            </a:avLst>
          </a:prstGeom>
          <a:solidFill>
            <a:srgbClr val="FFFFFF"/>
          </a:solidFill>
          <a:ln w="12700">
            <a:solidFill>
              <a:srgbClr val="FFFFFF"/>
            </a:solidFill>
            <a:prstDash val="solid"/>
          </a:ln>
        </p:spPr>
      </p:sp>
      <p:sp>
        <p:nvSpPr>
          <p:cNvPr id="9" name="icon circle warn"/>
          <p:cNvSpPr/>
          <p:nvPr/>
        </p:nvSpPr>
        <p:spPr>
          <a:xfrm>
            <a:off x="6400800" y="1234440"/>
            <a:ext cx="457200" cy="457200"/>
          </a:xfrm>
          <a:prstGeom prst="ellipse">
            <a:avLst/>
          </a:prstGeom>
          <a:solidFill>
            <a:srgbClr val="6A4C93"/>
          </a:solidFill>
          <a:ln w="12700">
            <a:solidFill>
              <a:srgbClr val="6A4C93"/>
            </a:solidFill>
            <a:prstDash val="solid"/>
          </a:ln>
        </p:spPr>
      </p:sp>
      <p:pic>
        <p:nvPicPr>
          <p:cNvPr id="10" name="icon warn" descr="/tmp/claude-0/-home-user-owner/e66306d4-2675-5ec2-99fe-5e24f3a64605/scratchpad/h3r/build/img/ic_warn.png">    </p:cNvPr>
          <p:cNvPicPr>
            <a:picLocks noChangeAspect="1"/>
          </p:cNvPicPr>
          <p:nvPr/>
        </p:nvPicPr>
        <p:blipFill>
          <a:blip r:embed="rId2"/>
          <a:stretch>
            <a:fillRect/>
          </a:stretch>
        </p:blipFill>
        <p:spPr>
          <a:xfrm>
            <a:off x="6519672" y="1353312"/>
            <a:ext cx="219456" cy="219456"/>
          </a:xfrm>
          <a:prstGeom prst="rect">
            <a:avLst/>
          </a:prstGeom>
        </p:spPr>
      </p:pic>
      <p:sp>
        <p:nvSpPr>
          <p:cNvPr id="11" name="heading Questions to raise in discussion"/>
          <p:cNvSpPr txBox="1"/>
          <p:nvPr/>
        </p:nvSpPr>
        <p:spPr>
          <a:xfrm>
            <a:off x="6995160" y="1280160"/>
            <a:ext cx="4480560" cy="365760"/>
          </a:xfrm>
          <a:prstGeom prst="rect">
            <a:avLst/>
          </a:prstGeom>
          <a:noFill/>
          <a:ln/>
        </p:spPr>
        <p:txBody>
          <a:bodyPr wrap="square" lIns="0" tIns="0" rIns="0" bIns="0" rtlCol="0" anchor="ctr"/>
          <a:lstStyle/>
          <a:p>
            <a:pPr indent="0" marL="0">
              <a:buNone/>
            </a:pPr>
            <a:r>
              <a:rPr lang="en-US" sz="1600" b="1" dirty="0">
                <a:solidFill>
                  <a:schemeClr val="tx2"/>
                </a:solidFill>
              </a:rPr>
              <a:t>Questions to raise in discussion</a:t>
            </a:r>
            <a:endParaRPr lang="en-US" sz="1600" dirty="0"/>
          </a:p>
        </p:txBody>
      </p:sp>
      <p:sp>
        <p:nvSpPr>
          <p:cNvPr id="12" name="critique bullets"/>
          <p:cNvSpPr txBox="1"/>
          <p:nvPr/>
        </p:nvSpPr>
        <p:spPr>
          <a:xfrm>
            <a:off x="6446520" y="1783080"/>
            <a:ext cx="5120640" cy="4343400"/>
          </a:xfrm>
          <a:prstGeom prst="rect">
            <a:avLst/>
          </a:prstGeom>
          <a:noFill/>
          <a:ln/>
        </p:spPr>
        <p:txBody>
          <a:bodyPr wrap="square" lIns="0" tIns="0" rIns="0" bIns="0" rtlCol="0" anchor="t"/>
          <a:lstStyle/>
          <a:p>
            <a:pPr marL="177800" indent="-177800">
              <a:lnSpc>
                <a:spcPct val="105000"/>
              </a:lnSpc>
              <a:spcAft>
                <a:spcPts val="900"/>
              </a:spcAft>
              <a:buSzPct val="100000"/>
              <a:buChar char="•"/>
            </a:pPr>
            <a:r>
              <a:rPr lang="en-US" sz="1250" b="1" dirty="0">
                <a:solidFill>
                  <a:schemeClr val="tx1"/>
                </a:solidFill>
              </a:rPr>
              <a:t>Selectivity is the real limitation. </a:t>
            </a:r>
            <a:pPr indent="0" marL="0">
              <a:lnSpc>
                <a:spcPct val="105000"/>
              </a:lnSpc>
              <a:spcAft>
                <a:spcPts val="900"/>
              </a:spcAft>
              <a:buNone/>
            </a:pPr>
            <a:r>
              <a:rPr lang="en-US" sz="1250" dirty="0">
                <a:solidFill>
                  <a:schemeClr val="tx1"/>
                </a:solidFill>
              </a:rPr>
              <a:t>69-fold over sigma-1 sounds adequate until you remember sigma-1 is abundant in brain. The authors prove the problem themselves with the sigma-1 blocking experiments, and blockade never reaches baseline.</a:t>
            </a:r>
            <a:endParaRPr lang="en-US" sz="1250" dirty="0"/>
          </a:p>
          <a:p>
            <a:pPr marL="177800" indent="-177800">
              <a:lnSpc>
                <a:spcPct val="105000"/>
              </a:lnSpc>
              <a:spcAft>
                <a:spcPts val="900"/>
              </a:spcAft>
              <a:buSzPct val="100000"/>
              <a:buChar char="•"/>
            </a:pPr>
            <a:r>
              <a:rPr lang="en-US" sz="1250" b="1" dirty="0">
                <a:solidFill>
                  <a:schemeClr val="tx1"/>
                </a:solidFill>
              </a:rPr>
              <a:t>Quantification rests on assumptions. </a:t>
            </a:r>
            <a:pPr indent="0" marL="0">
              <a:lnSpc>
                <a:spcPct val="105000"/>
              </a:lnSpc>
              <a:spcAft>
                <a:spcPts val="900"/>
              </a:spcAft>
              <a:buNone/>
            </a:pPr>
            <a:r>
              <a:rPr lang="en-US" sz="1250" dirty="0">
                <a:solidFill>
                  <a:schemeClr val="tx1"/>
                </a:solidFill>
              </a:rPr>
              <a:t>An image-derived input function without metabolite correction, Logan analysis, and n = 4 per PET group with n = 2 for metabolites.</a:t>
            </a:r>
            <a:endParaRPr lang="en-US" sz="1250" dirty="0"/>
          </a:p>
          <a:p>
            <a:pPr marL="177800" indent="-177800">
              <a:lnSpc>
                <a:spcPct val="105000"/>
              </a:lnSpc>
              <a:spcAft>
                <a:spcPts val="900"/>
              </a:spcAft>
              <a:buSzPct val="100000"/>
              <a:buChar char="•"/>
            </a:pPr>
            <a:r>
              <a:rPr lang="en-US" sz="1250" b="1" dirty="0">
                <a:solidFill>
                  <a:schemeClr val="tx1"/>
                </a:solidFill>
              </a:rPr>
              <a:t>Species are mixed. </a:t>
            </a:r>
            <a:pPr indent="0" marL="0">
              <a:lnSpc>
                <a:spcPct val="105000"/>
              </a:lnSpc>
              <a:spcAft>
                <a:spcPts val="900"/>
              </a:spcAft>
              <a:buNone/>
            </a:pPr>
            <a:r>
              <a:rPr lang="en-US" sz="1250" dirty="0">
                <a:solidFill>
                  <a:schemeClr val="tx1"/>
                </a:solidFill>
              </a:rPr>
              <a:t>Autoradiography in rat, PET and biodistribution in mouse, stability in three species, but no primate imaging. Human translation is untested.</a:t>
            </a:r>
            <a:endParaRPr lang="en-US" sz="1250" dirty="0"/>
          </a:p>
          <a:p>
            <a:pPr marL="177800" indent="-177800">
              <a:lnSpc>
                <a:spcPct val="105000"/>
              </a:lnSpc>
              <a:spcAft>
                <a:spcPts val="900"/>
              </a:spcAft>
              <a:buSzPct val="100000"/>
              <a:buChar char="•"/>
            </a:pPr>
            <a:r>
              <a:rPr lang="en-US" sz="1250" b="1" dirty="0">
                <a:solidFill>
                  <a:schemeClr val="tx1"/>
                </a:solidFill>
              </a:rPr>
              <a:t>Missing pieces for a real probe. </a:t>
            </a:r>
            <a:pPr indent="0" marL="0">
              <a:lnSpc>
                <a:spcPct val="105000"/>
              </a:lnSpc>
              <a:spcAft>
                <a:spcPts val="900"/>
              </a:spcAft>
              <a:buNone/>
            </a:pPr>
            <a:r>
              <a:rPr lang="en-US" sz="1250" dirty="0">
                <a:solidFill>
                  <a:schemeClr val="tx1"/>
                </a:solidFill>
              </a:rPr>
              <a:t>No test-retest reproducibility, no dosimetry, no occupancy study in a disease model, and no demonstration that the tracer detects a change in H3R rather than just finding it.</a:t>
            </a:r>
            <a:endParaRPr lang="en-US" sz="1250" dirty="0"/>
          </a:p>
          <a:p>
            <a:pPr marL="177800" indent="-177800">
              <a:lnSpc>
                <a:spcPct val="105000"/>
              </a:lnSpc>
              <a:spcAft>
                <a:spcPts val="900"/>
              </a:spcAft>
              <a:buSzPct val="100000"/>
              <a:buChar char="•"/>
            </a:pPr>
            <a:r>
              <a:rPr lang="en-US" sz="1250" b="1" dirty="0">
                <a:solidFill>
                  <a:schemeClr val="tx1"/>
                </a:solidFill>
              </a:rPr>
              <a:t>Where it should go next. </a:t>
            </a:r>
            <a:pPr indent="0" marL="0">
              <a:lnSpc>
                <a:spcPct val="105000"/>
              </a:lnSpc>
              <a:spcAft>
                <a:spcPts val="900"/>
              </a:spcAft>
              <a:buNone/>
            </a:pPr>
            <a:r>
              <a:rPr lang="en-US" sz="1250" dirty="0">
                <a:solidFill>
                  <a:schemeClr val="tx1"/>
                </a:solidFill>
              </a:rPr>
              <a:t>Engineer out the sigma-1 affinity, repeat in non-human primates, then test in Alzheimer’s and Parkinson’s models where H3R is thought to be dysregulated.</a:t>
            </a:r>
            <a:endParaRPr lang="en-US" sz="1250" dirty="0"/>
          </a:p>
        </p:txBody>
      </p:sp>
      <p:sp>
        <p:nvSpPr>
          <p:cNvPr id="25" name="Slide Number Placeholder 0"/>
          <p:cNvSpPr>
            <a:spLocks noGrp="1"/>
          </p:cNvSpPr>
          <p:nvPr>
            <p:ph type="sldNum" sz="quarter" idx="4294967295"/>
          </p:nvPr>
        </p:nvSpPr>
        <p:spPr>
          <a:xfrm>
            <a:off x="11247120" y="644652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H3R PET">
  <a:themeElements>
    <a:clrScheme name="H3R PET">
      <a:dk1>
        <a:srgbClr val="112A33"/>
      </a:dk1>
      <a:lt1>
        <a:srgbClr val="FFFFFF"/>
      </a:lt1>
      <a:dk2>
        <a:srgbClr val="0B3C4A"/>
      </a:dk2>
      <a:lt2>
        <a:srgbClr val="EAF1F3"/>
      </a:lt2>
      <a:accent1>
        <a:srgbClr val="E07A1F"/>
      </a:accent1>
      <a:accent2>
        <a:srgbClr val="1F8A8A"/>
      </a:accent2>
      <a:accent3>
        <a:srgbClr val="6A4C93"/>
      </a:accent3>
      <a:accent4>
        <a:srgbClr val="3E6B7C"/>
      </a:accent4>
      <a:accent5>
        <a:srgbClr val="6E8794"/>
      </a:accent5>
      <a:accent6>
        <a:srgbClr val="C7D7DD"/>
      </a:accent6>
      <a:hlink>
        <a:srgbClr val="1F8A8A"/>
      </a:hlink>
      <a:folHlink>
        <a:srgbClr val="3E6B7C"/>
      </a:folHlink>
    </a:clrScheme>
    <a:fontScheme name="H3R P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Development and Preclinical Characterization of [18F]H3-2406 and [18F]H3-2407</dc:title>
  <dc:subject>PptxGenJS Presentation</dc:subject>
  <dc:creator>Journal club</dc:creator>
  <cp:lastModifiedBy>Journal club</cp:lastModifiedBy>
  <cp:revision>1</cp:revision>
  <dcterms:created xsi:type="dcterms:W3CDTF">2026-10-29T20:14:01Z</dcterms:created>
  <dcterms:modified xsi:type="dcterms:W3CDTF">2026-10-29T20:14:01Z</dcterms:modified>
</cp:coreProperties>
</file>