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4fc548-10be-e292-057f-bb995d010b60}">
          <p14:sldIdLst>
            <p14:sldId id="256"/>
          </p14:sldIdLst>
        </p14:section>
        <p14:section name="Introduction" id="{2e09b5b4-5ea9-8176-bb86-4dab8ed40634}">
          <p14:sldIdLst>
            <p14:sldId id="257"/>
            <p14:sldId id="258"/>
          </p14:sldIdLst>
        </p14:section>
        <p14:section name="Methods" id="{40b71dd5-655d-1f87-28a5-f7e40d780db5}">
          <p14:sldIdLst>
            <p14:sldId id="259"/>
          </p14:sldIdLst>
        </p14:section>
        <p14:section name="Results" id="{5c1f9825-fc7a-a34d-c8cf-a38801d92731}">
          <p14:sldIdLst>
            <p14:sldId id="260"/>
            <p14:sldId id="261"/>
            <p14:sldId id="262"/>
          </p14:sldIdLst>
        </p14:section>
        <p14:section name="Conclusion" id="{40b4c02c-7084-3780-3446-62649d8892b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Paper: Zhu et al., Sci Transl Med 2024, first single-cell portrait of the PD prefrontal cortex paired with proteomics.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gap: PD pathology (nigral loss, Lewy bodies) is classic, but which cortical cell types change in PD, and whether glia or neurons drive inflammation, was unknown. Prefrontal cortex BA9 chosen because it carries Lewy pathology in late PD and is the same region profiled in the AD single-cell atlas used later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aims, matching the four results blocks: atlas; pathology and genetics; communication and proteome; PD versus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lanes left to right. Emphasise: pre-mRNA reference, integration across donors, Wilcoxon DEGs, uncorrected t test for proteins, WGCNA modules mapped to cell types with Fisher tests, and the Lewy pathology score correlated with chaperone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Clusters are driven by cell type not donor. Highlight the inverse pattern: neurons down-regulate chaperones, glia up-regulate activation programs. T cell increase validated by RNAscope on independent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Figure 2. The chaperone/Lewy correlation is in the same brains, computed per donor (n = 6 PD points), so it is suggestive, not causal. Right: Figure 4A matrix of interaction-count differences from CellPhoneDB.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Figure 5. Right: Figure 6 comparison to Mathys et al. 2019 (AD snRNA-seq, BA10) and Ping et al. 2018 (AD proteome, BA9).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the critique: small n, nucleus-level tests, uncorrected proteomics, and correlation vs causation. Strengths: paired modalities from the same donors, independent RNAscope cohort,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2B2D5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2011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931920"/>
            <a:ext cx="6949440" cy="146304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Zhu et al., Sci. Transl. Med. 16, eabo1997 (2024)</a:t>
            </a:r>
            <a:endParaRPr lang="en-US" sz="10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rgbClr val="2B2D5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Zhu et al., Sci. Transl. Med. 16, eabo1997 (2024)</a:t>
            </a:r>
            <a:endParaRPr lang="en-US" sz="10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640080" y="1188720"/>
            <a:ext cx="6949440" cy="365760"/>
          </a:xfrm>
          <a:prstGeom prst="rect">
            <a:avLst/>
          </a:prstGeom>
          <a:noFill/>
          <a:ln/>
        </p:spPr>
        <p:txBody>
          <a:bodyPr wrap="square" lIns="0" tIns="0" rIns="0" bIns="0" rtlCol="0" anchor="ctr"/>
          <a:lstStyle/>
          <a:p>
            <a:pPr indent="0" marL="0">
              <a:buNone/>
            </a:pPr>
            <a:r>
              <a:rPr lang="en-US" sz="1200" b="1" spc="300" kern="0" dirty="0">
                <a:solidFill>
                  <a:schemeClr val="accent1"/>
                </a:solidFill>
              </a:rPr>
              <a:t>JOURNAL CLUB  ·  PARKINSON’S DISEASE</a:t>
            </a:r>
            <a:endParaRPr lang="en-US" sz="1200" dirty="0"/>
          </a:p>
        </p:txBody>
      </p:sp>
      <p:sp>
        <p:nvSpPr>
          <p:cNvPr id="3" name="Text 0"/>
          <p:cNvSpPr/>
          <p:nvPr>
            <p:ph idx="100" type="title" hasCustomPrompt="1"/>
          </p:nvPr>
        </p:nvSpPr>
        <p:spPr>
          <a:xfrm>
            <a:off x="640080" y="1828800"/>
            <a:ext cx="6949440" cy="2011680"/>
          </a:xfrm>
          <a:prstGeom prst="rect">
            <a:avLst/>
          </a:prstGeom>
          <a:noFill/>
          <a:ln/>
        </p:spPr>
        <p:txBody>
          <a:bodyPr wrap="square" lIns="0" tIns="0" rIns="0" bIns="0" rtlCol="0" anchor="b"/>
          <a:lstStyle/>
          <a:p>
            <a:pPr algn="l" indent="0" marL="0">
              <a:buNone/>
            </a:pPr>
            <a:r>
              <a:rPr lang="en-US" sz="3600" b="1" dirty="0">
                <a:solidFill>
                  <a:schemeClr val="bg1"/>
                </a:solidFill>
              </a:rPr>
              <a:t>Single-cell transcriptomic and proteomic analysis of Parkinson’s disease brains</a:t>
            </a:r>
            <a:endParaRPr lang="en-US" sz="3600" dirty="0"/>
          </a:p>
        </p:txBody>
      </p:sp>
      <p:sp>
        <p:nvSpPr>
          <p:cNvPr id="4" name="Text 0"/>
          <p:cNvSpPr/>
          <p:nvPr>
            <p:ph idx="101" type="body" hasCustomPrompt="1"/>
          </p:nvPr>
        </p:nvSpPr>
        <p:spPr>
          <a:xfrm>
            <a:off x="640080" y="3931920"/>
            <a:ext cx="6949440" cy="1463040"/>
          </a:xfrm>
          <a:prstGeom prst="rect">
            <a:avLst/>
          </a:prstGeom>
          <a:noFill/>
          <a:ln/>
        </p:spPr>
        <p:txBody>
          <a:bodyPr wrap="square" lIns="0" tIns="0" rIns="0" bIns="0" rtlCol="0" anchor="t"/>
          <a:lstStyle/>
          <a:p>
            <a:pPr indent="0" marL="0">
              <a:buNone/>
            </a:pPr>
            <a:r>
              <a:rPr lang="en-US" sz="1600" b="1" dirty="0">
                <a:solidFill>
                  <a:schemeClr val="bg1"/>
                </a:solidFill>
              </a:rPr>
              <a:t>Zhu B, Park J-M, Coffey SR, … Hafler DA, Chandra SS, Zhang L</a:t>
            </a:r>
            <a:endParaRPr lang="en-US" sz="1600" dirty="0"/>
          </a:p>
          <a:p>
            <a:pPr indent="0" marL="0">
              <a:buNone/>
            </a:pPr>
            <a:r>
              <a:rPr lang="en-US" sz="1600" dirty="0">
                <a:solidFill>
                  <a:schemeClr val="accent6"/>
                </a:solidFill>
              </a:rPr>
              <a:t>Yale School of Medicine · Science Translational Medicine, 30 Oct 2024</a:t>
            </a:r>
            <a:endParaRPr lang="en-US" sz="1600" dirty="0"/>
          </a:p>
          <a:p>
            <a:pPr indent="0" marL="0">
              <a:buNone/>
            </a:pPr>
            <a:r>
              <a:rPr lang="en-US" sz="1600" dirty="0">
                <a:solidFill>
                  <a:schemeClr val="accent6"/>
                </a:solidFill>
              </a:rPr>
              <a:t>snRNA-seq + proteomics + Lewy pathology of the prefrontal cortex, 6 PD vs 6 controls</a:t>
            </a:r>
            <a:endParaRPr lang="en-US" sz="1600" dirty="0"/>
          </a:p>
        </p:txBody>
      </p:sp>
      <p:sp>
        <p:nvSpPr>
          <p:cNvPr id="5" name="title art card"/>
          <p:cNvSpPr/>
          <p:nvPr/>
        </p:nvSpPr>
        <p:spPr>
          <a:xfrm>
            <a:off x="8138160" y="1188720"/>
            <a:ext cx="3566160" cy="4480560"/>
          </a:xfrm>
          <a:prstGeom prst="roundRect">
            <a:avLst>
              <a:gd name="adj" fmla="val 2564"/>
            </a:avLst>
          </a:prstGeom>
          <a:solidFill>
            <a:srgbClr val="FFFFFF"/>
          </a:solidFill>
          <a:ln w="12700">
            <a:solidFill>
              <a:srgbClr val="FFFFFF"/>
            </a:solidFill>
            <a:prstDash val="solid"/>
          </a:ln>
        </p:spPr>
      </p:sp>
      <p:pic>
        <p:nvPicPr>
          <p:cNvPr id="6" name="illustration brain" descr="/tmp/claude-0/-home-user-owner/e66306d4-2675-5ec2-99fe-5e24f3a64605/scratchpad/build/img/brain.png">    </p:cNvPr>
          <p:cNvPicPr>
            <a:picLocks noChangeAspect="1"/>
          </p:cNvPicPr>
          <p:nvPr/>
        </p:nvPicPr>
        <p:blipFill>
          <a:blip r:embed="rId1"/>
          <a:stretch>
            <a:fillRect/>
          </a:stretch>
        </p:blipFill>
        <p:spPr>
          <a:xfrm>
            <a:off x="8336280" y="1371600"/>
            <a:ext cx="3169920" cy="2377440"/>
          </a:xfrm>
          <a:prstGeom prst="rect">
            <a:avLst/>
          </a:prstGeom>
        </p:spPr>
      </p:pic>
      <p:pic>
        <p:nvPicPr>
          <p:cNvPr id="7" name="illustration lewy" descr="/tmp/claude-0/-home-user-owner/e66306d4-2675-5ec2-99fe-5e24f3a64605/scratchpad/build/img/lewy.png">    </p:cNvPr>
          <p:cNvPicPr>
            <a:picLocks noChangeAspect="1"/>
          </p:cNvPicPr>
          <p:nvPr/>
        </p:nvPicPr>
        <p:blipFill>
          <a:blip r:embed="rId2"/>
          <a:stretch>
            <a:fillRect/>
          </a:stretch>
        </p:blipFill>
        <p:spPr>
          <a:xfrm>
            <a:off x="8458200" y="3657600"/>
            <a:ext cx="2926080" cy="1920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Background: PD pathology is known, its cellular architecture is not</a:t>
            </a:r>
            <a:endParaRPr lang="en-US" sz="2600" dirty="0"/>
          </a:p>
        </p:txBody>
      </p:sp>
      <p:sp>
        <p:nvSpPr>
          <p:cNvPr id="3" name="icon circle brain"/>
          <p:cNvSpPr/>
          <p:nvPr/>
        </p:nvSpPr>
        <p:spPr>
          <a:xfrm>
            <a:off x="457200" y="1280160"/>
            <a:ext cx="566928" cy="566928"/>
          </a:xfrm>
          <a:prstGeom prst="ellipse">
            <a:avLst/>
          </a:prstGeom>
          <a:solidFill>
            <a:schemeClr val="accent1"/>
          </a:solidFill>
          <a:ln w="12700">
            <a:solidFill>
              <a:schemeClr val="accent1"/>
            </a:solidFill>
            <a:prstDash val="solid"/>
          </a:ln>
        </p:spPr>
      </p:sp>
      <p:pic>
        <p:nvPicPr>
          <p:cNvPr id="4" name="icon brain" descr="/tmp/claude-0/-home-user-owner/e66306d4-2675-5ec2-99fe-5e24f3a64605/scratchpad/build/img/ic_brain.png">    </p:cNvPr>
          <p:cNvPicPr>
            <a:picLocks noChangeAspect="1"/>
          </p:cNvPicPr>
          <p:nvPr/>
        </p:nvPicPr>
        <p:blipFill>
          <a:blip r:embed="rId1"/>
          <a:stretch>
            <a:fillRect/>
          </a:stretch>
        </p:blipFill>
        <p:spPr>
          <a:xfrm>
            <a:off x="604601" y="1427561"/>
            <a:ext cx="272125" cy="272125"/>
          </a:xfrm>
          <a:prstGeom prst="rect">
            <a:avLst/>
          </a:prstGeom>
        </p:spPr>
      </p:pic>
      <p:sp>
        <p:nvSpPr>
          <p:cNvPr id="5" name="bg heading"/>
          <p:cNvSpPr txBox="1"/>
          <p:nvPr/>
        </p:nvSpPr>
        <p:spPr>
          <a:xfrm>
            <a:off x="1188720" y="1234440"/>
            <a:ext cx="5394960" cy="365760"/>
          </a:xfrm>
          <a:prstGeom prst="rect">
            <a:avLst/>
          </a:prstGeom>
          <a:noFill/>
          <a:ln/>
        </p:spPr>
        <p:txBody>
          <a:bodyPr wrap="square" lIns="0" tIns="0" rIns="0" bIns="0" rtlCol="0" anchor="ctr"/>
          <a:lstStyle/>
          <a:p>
            <a:pPr indent="0" marL="0">
              <a:buNone/>
            </a:pPr>
            <a:r>
              <a:rPr lang="en-US" sz="1600" b="1" dirty="0">
                <a:solidFill>
                  <a:schemeClr val="tx2"/>
                </a:solidFill>
              </a:rPr>
              <a:t>A common movement disorder with a classic signature</a:t>
            </a:r>
            <a:endParaRPr lang="en-US" sz="1600" dirty="0"/>
          </a:p>
        </p:txBody>
      </p:sp>
      <p:sp>
        <p:nvSpPr>
          <p:cNvPr id="6" name="bg body"/>
          <p:cNvSpPr txBox="1"/>
          <p:nvPr/>
        </p:nvSpPr>
        <p:spPr>
          <a:xfrm>
            <a:off x="1188720" y="1618488"/>
            <a:ext cx="5394960" cy="1097280"/>
          </a:xfrm>
          <a:prstGeom prst="rect">
            <a:avLst/>
          </a:prstGeom>
          <a:noFill/>
          <a:ln/>
        </p:spPr>
        <p:txBody>
          <a:bodyPr wrap="square" lIns="0" tIns="0" rIns="0" bIns="0" rtlCol="0" anchor="t"/>
          <a:lstStyle/>
          <a:p>
            <a:pPr indent="0" marL="0">
              <a:buNone/>
            </a:pPr>
            <a:r>
              <a:rPr lang="en-US" sz="1300" dirty="0">
                <a:solidFill>
                  <a:schemeClr val="tx1"/>
                </a:solidFill>
              </a:rPr>
              <a:t>~1 million people in the US and ~6 million worldwide. Hallmarks: loss of substantia nigra dopamine neurons and intracellular α-synuclein aggregates (Lewy bodies).</a:t>
            </a:r>
            <a:endParaRPr lang="en-US" sz="1300" dirty="0"/>
          </a:p>
        </p:txBody>
      </p:sp>
      <p:sp>
        <p:nvSpPr>
          <p:cNvPr id="7" name="icon circle users"/>
          <p:cNvSpPr/>
          <p:nvPr/>
        </p:nvSpPr>
        <p:spPr>
          <a:xfrm>
            <a:off x="457200" y="2944368"/>
            <a:ext cx="566928" cy="566928"/>
          </a:xfrm>
          <a:prstGeom prst="ellipse">
            <a:avLst/>
          </a:prstGeom>
          <a:solidFill>
            <a:schemeClr val="accent2"/>
          </a:solidFill>
          <a:ln w="12700">
            <a:solidFill>
              <a:schemeClr val="accent2"/>
            </a:solidFill>
            <a:prstDash val="solid"/>
          </a:ln>
        </p:spPr>
      </p:sp>
      <p:pic>
        <p:nvPicPr>
          <p:cNvPr id="8" name="icon users" descr="/tmp/claude-0/-home-user-owner/e66306d4-2675-5ec2-99fe-5e24f3a64605/scratchpad/build/img/ic_users.png">    </p:cNvPr>
          <p:cNvPicPr>
            <a:picLocks noChangeAspect="1"/>
          </p:cNvPicPr>
          <p:nvPr/>
        </p:nvPicPr>
        <p:blipFill>
          <a:blip r:embed="rId2"/>
          <a:stretch>
            <a:fillRect/>
          </a:stretch>
        </p:blipFill>
        <p:spPr>
          <a:xfrm>
            <a:off x="604601" y="3091769"/>
            <a:ext cx="272125" cy="272125"/>
          </a:xfrm>
          <a:prstGeom prst="rect">
            <a:avLst/>
          </a:prstGeom>
        </p:spPr>
      </p:pic>
      <p:sp>
        <p:nvSpPr>
          <p:cNvPr id="9" name="bg heading"/>
          <p:cNvSpPr txBox="1"/>
          <p:nvPr/>
        </p:nvSpPr>
        <p:spPr>
          <a:xfrm>
            <a:off x="1188720" y="2898648"/>
            <a:ext cx="5394960" cy="365760"/>
          </a:xfrm>
          <a:prstGeom prst="rect">
            <a:avLst/>
          </a:prstGeom>
          <a:noFill/>
          <a:ln/>
        </p:spPr>
        <p:txBody>
          <a:bodyPr wrap="square" lIns="0" tIns="0" rIns="0" bIns="0" rtlCol="0" anchor="ctr"/>
          <a:lstStyle/>
          <a:p>
            <a:pPr indent="0" marL="0">
              <a:buNone/>
            </a:pPr>
            <a:r>
              <a:rPr lang="en-US" sz="1600" b="1" dirty="0">
                <a:solidFill>
                  <a:schemeClr val="tx2"/>
                </a:solidFill>
              </a:rPr>
              <a:t>Neuroinflammation is implicated, but which cells drive it?</a:t>
            </a:r>
            <a:endParaRPr lang="en-US" sz="1600" dirty="0"/>
          </a:p>
        </p:txBody>
      </p:sp>
      <p:sp>
        <p:nvSpPr>
          <p:cNvPr id="10" name="bg body"/>
          <p:cNvSpPr txBox="1"/>
          <p:nvPr/>
        </p:nvSpPr>
        <p:spPr>
          <a:xfrm>
            <a:off x="1188720" y="3282696"/>
            <a:ext cx="5394960" cy="1097280"/>
          </a:xfrm>
          <a:prstGeom prst="rect">
            <a:avLst/>
          </a:prstGeom>
          <a:noFill/>
          <a:ln/>
        </p:spPr>
        <p:txBody>
          <a:bodyPr wrap="square" lIns="0" tIns="0" rIns="0" bIns="0" rtlCol="0" anchor="t"/>
          <a:lstStyle/>
          <a:p>
            <a:pPr indent="0" marL="0">
              <a:buNone/>
            </a:pPr>
            <a:r>
              <a:rPr lang="en-US" sz="1300" dirty="0">
                <a:solidFill>
                  <a:schemeClr val="tx1"/>
                </a:solidFill>
              </a:rPr>
              <a:t>Glial and immune pathways are linked to PD, yet the relative contribution of neurons versus glia to sporadic disease is unresolved. Bulk tissue averages all cell types together.</a:t>
            </a:r>
            <a:endParaRPr lang="en-US" sz="1300" dirty="0"/>
          </a:p>
        </p:txBody>
      </p:sp>
      <p:sp>
        <p:nvSpPr>
          <p:cNvPr id="11" name="icon circle search"/>
          <p:cNvSpPr/>
          <p:nvPr/>
        </p:nvSpPr>
        <p:spPr>
          <a:xfrm>
            <a:off x="457200" y="4608576"/>
            <a:ext cx="566928" cy="566928"/>
          </a:xfrm>
          <a:prstGeom prst="ellipse">
            <a:avLst/>
          </a:prstGeom>
          <a:solidFill>
            <a:schemeClr val="accent3"/>
          </a:solidFill>
          <a:ln w="12700">
            <a:solidFill>
              <a:schemeClr val="accent3"/>
            </a:solidFill>
            <a:prstDash val="solid"/>
          </a:ln>
        </p:spPr>
      </p:sp>
      <p:pic>
        <p:nvPicPr>
          <p:cNvPr id="12" name="icon search" descr="/tmp/claude-0/-home-user-owner/e66306d4-2675-5ec2-99fe-5e24f3a64605/scratchpad/build/img/ic_search.png">    </p:cNvPr>
          <p:cNvPicPr>
            <a:picLocks noChangeAspect="1"/>
          </p:cNvPicPr>
          <p:nvPr/>
        </p:nvPicPr>
        <p:blipFill>
          <a:blip r:embed="rId3"/>
          <a:stretch>
            <a:fillRect/>
          </a:stretch>
        </p:blipFill>
        <p:spPr>
          <a:xfrm>
            <a:off x="604601" y="4755977"/>
            <a:ext cx="272125" cy="272125"/>
          </a:xfrm>
          <a:prstGeom prst="rect">
            <a:avLst/>
          </a:prstGeom>
        </p:spPr>
      </p:pic>
      <p:sp>
        <p:nvSpPr>
          <p:cNvPr id="13" name="bg heading"/>
          <p:cNvSpPr txBox="1"/>
          <p:nvPr/>
        </p:nvSpPr>
        <p:spPr>
          <a:xfrm>
            <a:off x="1188720" y="4562856"/>
            <a:ext cx="5394960" cy="365760"/>
          </a:xfrm>
          <a:prstGeom prst="rect">
            <a:avLst/>
          </a:prstGeom>
          <a:noFill/>
          <a:ln/>
        </p:spPr>
        <p:txBody>
          <a:bodyPr wrap="square" lIns="0" tIns="0" rIns="0" bIns="0" rtlCol="0" anchor="ctr"/>
          <a:lstStyle/>
          <a:p>
            <a:pPr indent="0" marL="0">
              <a:buNone/>
            </a:pPr>
            <a:r>
              <a:rPr lang="en-US" sz="1600" b="1" dirty="0">
                <a:solidFill>
                  <a:schemeClr val="tx2"/>
                </a:solidFill>
              </a:rPr>
              <a:t>The cortex was a blind spot</a:t>
            </a:r>
            <a:endParaRPr lang="en-US" sz="1600" dirty="0"/>
          </a:p>
        </p:txBody>
      </p:sp>
      <p:sp>
        <p:nvSpPr>
          <p:cNvPr id="14" name="bg body"/>
          <p:cNvSpPr txBox="1"/>
          <p:nvPr/>
        </p:nvSpPr>
        <p:spPr>
          <a:xfrm>
            <a:off x="1188720" y="4946904"/>
            <a:ext cx="5394960" cy="1097280"/>
          </a:xfrm>
          <a:prstGeom prst="rect">
            <a:avLst/>
          </a:prstGeom>
          <a:noFill/>
          <a:ln/>
        </p:spPr>
        <p:txBody>
          <a:bodyPr wrap="square" lIns="0" tIns="0" rIns="0" bIns="0" rtlCol="0" anchor="t"/>
          <a:lstStyle/>
          <a:p>
            <a:pPr indent="0" marL="0">
              <a:buNone/>
            </a:pPr>
            <a:r>
              <a:rPr lang="en-US" sz="1300" dirty="0">
                <a:solidFill>
                  <a:schemeClr val="tx1"/>
                </a:solidFill>
              </a:rPr>
              <a:t>Lewy pathology reaches the prefrontal cortex in late-stage PD, and bulk data flagged this region, but no single-cell map of PD cortex existed. Single-nucleus methods now make postmortem brain tractable.</a:t>
            </a:r>
            <a:endParaRPr lang="en-US" sz="1300" dirty="0"/>
          </a:p>
        </p:txBody>
      </p:sp>
      <p:sp>
        <p:nvSpPr>
          <p:cNvPr id="15" name="bg art card"/>
          <p:cNvSpPr/>
          <p:nvPr/>
        </p:nvSpPr>
        <p:spPr>
          <a:xfrm>
            <a:off x="6903720" y="1188720"/>
            <a:ext cx="4828032" cy="5074920"/>
          </a:xfrm>
          <a:prstGeom prst="roundRect">
            <a:avLst>
              <a:gd name="adj" fmla="val 1894"/>
            </a:avLst>
          </a:prstGeom>
          <a:solidFill>
            <a:srgbClr val="EEF0F8"/>
          </a:solidFill>
          <a:ln w="12700">
            <a:solidFill>
              <a:srgbClr val="EEF0F8"/>
            </a:solidFill>
            <a:prstDash val="solid"/>
          </a:ln>
        </p:spPr>
      </p:sp>
      <p:pic>
        <p:nvPicPr>
          <p:cNvPr id="16" name="illustration brain" descr="/tmp/claude-0/-home-user-owner/e66306d4-2675-5ec2-99fe-5e24f3a64605/scratchpad/build/img/brain.png">    </p:cNvPr>
          <p:cNvPicPr>
            <a:picLocks noChangeAspect="1"/>
          </p:cNvPicPr>
          <p:nvPr/>
        </p:nvPicPr>
        <p:blipFill>
          <a:blip r:embed="rId4"/>
          <a:stretch>
            <a:fillRect/>
          </a:stretch>
        </p:blipFill>
        <p:spPr>
          <a:xfrm>
            <a:off x="7589520" y="1280160"/>
            <a:ext cx="3474720" cy="2606040"/>
          </a:xfrm>
          <a:prstGeom prst="rect">
            <a:avLst/>
          </a:prstGeom>
        </p:spPr>
      </p:pic>
      <p:pic>
        <p:nvPicPr>
          <p:cNvPr id="17" name="illustration lewy" descr="/tmp/claude-0/-home-user-owner/e66306d4-2675-5ec2-99fe-5e24f3a64605/scratchpad/build/img/lewy.png">    </p:cNvPr>
          <p:cNvPicPr>
            <a:picLocks noChangeAspect="1"/>
          </p:cNvPicPr>
          <p:nvPr/>
        </p:nvPicPr>
        <p:blipFill>
          <a:blip r:embed="rId5"/>
          <a:stretch>
            <a:fillRect/>
          </a:stretch>
        </p:blipFill>
        <p:spPr>
          <a:xfrm>
            <a:off x="7620000" y="3931920"/>
            <a:ext cx="3413760" cy="2240280"/>
          </a:xfrm>
          <a:prstGeom prst="rect">
            <a:avLst/>
          </a:prstGeom>
        </p:spPr>
      </p:pic>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Objectives: an unbiased, cell-resolved map of PD prefrontal cortex</a:t>
            </a:r>
            <a:endParaRPr lang="en-US" sz="2600" dirty="0"/>
          </a:p>
        </p:txBody>
      </p:sp>
      <p:sp>
        <p:nvSpPr>
          <p:cNvPr id="3" name="obj art card"/>
          <p:cNvSpPr/>
          <p:nvPr/>
        </p:nvSpPr>
        <p:spPr>
          <a:xfrm>
            <a:off x="457200" y="1188720"/>
            <a:ext cx="4297680" cy="5074920"/>
          </a:xfrm>
          <a:prstGeom prst="roundRect">
            <a:avLst>
              <a:gd name="adj" fmla="val 2128"/>
            </a:avLst>
          </a:prstGeom>
          <a:solidFill>
            <a:srgbClr val="EEF0F8"/>
          </a:solidFill>
          <a:ln w="12700">
            <a:solidFill>
              <a:srgbClr val="EEF0F8"/>
            </a:solidFill>
            <a:prstDash val="solid"/>
          </a:ln>
        </p:spPr>
      </p:sp>
      <p:pic>
        <p:nvPicPr>
          <p:cNvPr id="4" name="illustration glia" descr="/tmp/claude-0/-home-user-owner/e66306d4-2675-5ec2-99fe-5e24f3a64605/scratchpad/build/img/glia.png">    </p:cNvPr>
          <p:cNvPicPr>
            <a:picLocks noChangeAspect="1"/>
          </p:cNvPicPr>
          <p:nvPr/>
        </p:nvPicPr>
        <p:blipFill>
          <a:blip r:embed="rId1"/>
          <a:stretch>
            <a:fillRect/>
          </a:stretch>
        </p:blipFill>
        <p:spPr>
          <a:xfrm>
            <a:off x="594360" y="1463040"/>
            <a:ext cx="4023360" cy="2640330"/>
          </a:xfrm>
          <a:prstGeom prst="rect">
            <a:avLst/>
          </a:prstGeom>
        </p:spPr>
      </p:pic>
      <p:sp>
        <p:nvSpPr>
          <p:cNvPr id="5" name="central question"/>
          <p:cNvSpPr txBox="1"/>
          <p:nvPr/>
        </p:nvSpPr>
        <p:spPr>
          <a:xfrm>
            <a:off x="685800" y="4572000"/>
            <a:ext cx="3840480" cy="1463040"/>
          </a:xfrm>
          <a:prstGeom prst="rect">
            <a:avLst/>
          </a:prstGeom>
          <a:noFill/>
          <a:ln/>
        </p:spPr>
        <p:txBody>
          <a:bodyPr wrap="square" lIns="0" tIns="0" rIns="0" bIns="0" rtlCol="0" anchor="t"/>
          <a:lstStyle/>
          <a:p>
            <a:pPr indent="0" marL="0">
              <a:buNone/>
            </a:pPr>
            <a:r>
              <a:rPr lang="en-US" sz="1300" i="1" dirty="0">
                <a:solidFill>
                  <a:schemeClr val="tx2"/>
                </a:solidFill>
              </a:rPr>
              <a:t>Central question: which cell types, genes and cell-cell conversations change in late-stage PD cortex, and are they PD-specific?</a:t>
            </a:r>
            <a:endParaRPr lang="en-US" sz="1300" dirty="0"/>
          </a:p>
        </p:txBody>
      </p:sp>
      <p:sp>
        <p:nvSpPr>
          <p:cNvPr id="6" name="obj card"/>
          <p:cNvSpPr/>
          <p:nvPr/>
        </p:nvSpPr>
        <p:spPr>
          <a:xfrm>
            <a:off x="5029200" y="1188720"/>
            <a:ext cx="6702552" cy="1170432"/>
          </a:xfrm>
          <a:prstGeom prst="roundRect">
            <a:avLst>
              <a:gd name="adj" fmla="val 7813"/>
            </a:avLst>
          </a:prstGeom>
          <a:solidFill>
            <a:srgbClr val="FFFFFF"/>
          </a:solidFill>
          <a:ln w="12700">
            <a:solidFill>
              <a:srgbClr val="C9CDE0"/>
            </a:solidFill>
            <a:prstDash val="solid"/>
          </a:ln>
        </p:spPr>
      </p:sp>
      <p:sp>
        <p:nvSpPr>
          <p:cNvPr id="7" name="icon circle dna"/>
          <p:cNvSpPr/>
          <p:nvPr/>
        </p:nvSpPr>
        <p:spPr>
          <a:xfrm>
            <a:off x="5212080" y="1490472"/>
            <a:ext cx="566928" cy="566928"/>
          </a:xfrm>
          <a:prstGeom prst="ellipse">
            <a:avLst/>
          </a:prstGeom>
          <a:solidFill>
            <a:schemeClr val="accent1"/>
          </a:solidFill>
          <a:ln w="12700">
            <a:solidFill>
              <a:schemeClr val="accent1"/>
            </a:solidFill>
            <a:prstDash val="solid"/>
          </a:ln>
        </p:spPr>
      </p:sp>
      <p:pic>
        <p:nvPicPr>
          <p:cNvPr id="8" name="icon dna" descr="/tmp/claude-0/-home-user-owner/e66306d4-2675-5ec2-99fe-5e24f3a64605/scratchpad/build/img/ic_dna.png">    </p:cNvPr>
          <p:cNvPicPr>
            <a:picLocks noChangeAspect="1"/>
          </p:cNvPicPr>
          <p:nvPr/>
        </p:nvPicPr>
        <p:blipFill>
          <a:blip r:embed="rId2"/>
          <a:stretch>
            <a:fillRect/>
          </a:stretch>
        </p:blipFill>
        <p:spPr>
          <a:xfrm>
            <a:off x="5359481" y="1637873"/>
            <a:ext cx="272125" cy="272125"/>
          </a:xfrm>
          <a:prstGeom prst="rect">
            <a:avLst/>
          </a:prstGeom>
        </p:spPr>
      </p:pic>
      <p:sp>
        <p:nvSpPr>
          <p:cNvPr id="9" name="obj number"/>
          <p:cNvSpPr txBox="1"/>
          <p:nvPr/>
        </p:nvSpPr>
        <p:spPr>
          <a:xfrm>
            <a:off x="5897880" y="1280160"/>
            <a:ext cx="365760" cy="457200"/>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10" name="obj heading"/>
          <p:cNvSpPr txBox="1"/>
          <p:nvPr/>
        </p:nvSpPr>
        <p:spPr>
          <a:xfrm>
            <a:off x="6309360" y="1280160"/>
            <a:ext cx="5303520" cy="347472"/>
          </a:xfrm>
          <a:prstGeom prst="rect">
            <a:avLst/>
          </a:prstGeom>
          <a:noFill/>
          <a:ln/>
        </p:spPr>
        <p:txBody>
          <a:bodyPr wrap="square" lIns="0" tIns="0" rIns="0" bIns="0" rtlCol="0" anchor="ctr"/>
          <a:lstStyle/>
          <a:p>
            <a:pPr indent="0" marL="0">
              <a:buNone/>
            </a:pPr>
            <a:r>
              <a:rPr lang="en-US" sz="1500" b="1" dirty="0">
                <a:solidFill>
                  <a:schemeClr val="tx2"/>
                </a:solidFill>
              </a:rPr>
              <a:t>Build a cell-type atlas</a:t>
            </a:r>
            <a:endParaRPr lang="en-US" sz="1500" dirty="0"/>
          </a:p>
        </p:txBody>
      </p:sp>
      <p:sp>
        <p:nvSpPr>
          <p:cNvPr id="11" name="obj body"/>
          <p:cNvSpPr txBox="1"/>
          <p:nvPr/>
        </p:nvSpPr>
        <p:spPr>
          <a:xfrm>
            <a:off x="6309360" y="1627632"/>
            <a:ext cx="5303520" cy="685800"/>
          </a:xfrm>
          <a:prstGeom prst="rect">
            <a:avLst/>
          </a:prstGeom>
          <a:noFill/>
          <a:ln/>
        </p:spPr>
        <p:txBody>
          <a:bodyPr wrap="square" lIns="0" tIns="0" rIns="0" bIns="0" rtlCol="0" anchor="t"/>
          <a:lstStyle/>
          <a:p>
            <a:pPr indent="0" marL="0">
              <a:buNone/>
            </a:pPr>
            <a:r>
              <a:rPr lang="en-US" sz="1200" dirty="0">
                <a:solidFill>
                  <a:schemeClr val="tx1"/>
                </a:solidFill>
              </a:rPr>
              <a:t>snRNA-seq of BA9 from 6 late-stage PD and 6 age-matched controls; identify cell types and their PD-associated DEGs and pathways.</a:t>
            </a:r>
            <a:endParaRPr lang="en-US" sz="1200" dirty="0"/>
          </a:p>
        </p:txBody>
      </p:sp>
      <p:sp>
        <p:nvSpPr>
          <p:cNvPr id="12" name="obj card"/>
          <p:cNvSpPr/>
          <p:nvPr/>
        </p:nvSpPr>
        <p:spPr>
          <a:xfrm>
            <a:off x="5029200" y="2487168"/>
            <a:ext cx="6702552" cy="1170432"/>
          </a:xfrm>
          <a:prstGeom prst="roundRect">
            <a:avLst>
              <a:gd name="adj" fmla="val 7813"/>
            </a:avLst>
          </a:prstGeom>
          <a:solidFill>
            <a:srgbClr val="FFFFFF"/>
          </a:solidFill>
          <a:ln w="12700">
            <a:solidFill>
              <a:srgbClr val="C9CDE0"/>
            </a:solidFill>
            <a:prstDash val="solid"/>
          </a:ln>
        </p:spPr>
      </p:sp>
      <p:sp>
        <p:nvSpPr>
          <p:cNvPr id="13" name="icon circle microscope"/>
          <p:cNvSpPr/>
          <p:nvPr/>
        </p:nvSpPr>
        <p:spPr>
          <a:xfrm>
            <a:off x="5212080" y="2788920"/>
            <a:ext cx="566928" cy="566928"/>
          </a:xfrm>
          <a:prstGeom prst="ellipse">
            <a:avLst/>
          </a:prstGeom>
          <a:solidFill>
            <a:schemeClr val="accent3"/>
          </a:solidFill>
          <a:ln w="12700">
            <a:solidFill>
              <a:schemeClr val="accent3"/>
            </a:solidFill>
            <a:prstDash val="solid"/>
          </a:ln>
        </p:spPr>
      </p:sp>
      <p:pic>
        <p:nvPicPr>
          <p:cNvPr id="14" name="icon microscope" descr="/tmp/claude-0/-home-user-owner/e66306d4-2675-5ec2-99fe-5e24f3a64605/scratchpad/build/img/ic_microscope.png">    </p:cNvPr>
          <p:cNvPicPr>
            <a:picLocks noChangeAspect="1"/>
          </p:cNvPicPr>
          <p:nvPr/>
        </p:nvPicPr>
        <p:blipFill>
          <a:blip r:embed="rId3"/>
          <a:stretch>
            <a:fillRect/>
          </a:stretch>
        </p:blipFill>
        <p:spPr>
          <a:xfrm>
            <a:off x="5359481" y="2936321"/>
            <a:ext cx="272125" cy="272125"/>
          </a:xfrm>
          <a:prstGeom prst="rect">
            <a:avLst/>
          </a:prstGeom>
        </p:spPr>
      </p:pic>
      <p:sp>
        <p:nvSpPr>
          <p:cNvPr id="15" name="obj number"/>
          <p:cNvSpPr txBox="1"/>
          <p:nvPr/>
        </p:nvSpPr>
        <p:spPr>
          <a:xfrm>
            <a:off x="5897880" y="2578608"/>
            <a:ext cx="365760" cy="457200"/>
          </a:xfrm>
          <a:prstGeom prst="rect">
            <a:avLst/>
          </a:prstGeom>
          <a:noFill/>
          <a:ln/>
        </p:spPr>
        <p:txBody>
          <a:bodyPr wrap="square" lIns="0" tIns="0" rIns="0" bIns="0" rtlCol="0" anchor="ctr"/>
          <a:lstStyle/>
          <a:p>
            <a:pPr indent="0" marL="0">
              <a:buNone/>
            </a:pPr>
            <a:r>
              <a:rPr lang="en-US" sz="2400" b="1" dirty="0">
                <a:solidFill>
                  <a:schemeClr val="accent3"/>
                </a:solidFill>
              </a:rPr>
              <a:t>2</a:t>
            </a:r>
            <a:endParaRPr lang="en-US" sz="2400" dirty="0"/>
          </a:p>
        </p:txBody>
      </p:sp>
      <p:sp>
        <p:nvSpPr>
          <p:cNvPr id="16" name="obj heading"/>
          <p:cNvSpPr txBox="1"/>
          <p:nvPr/>
        </p:nvSpPr>
        <p:spPr>
          <a:xfrm>
            <a:off x="6309360" y="2578608"/>
            <a:ext cx="5303520" cy="347472"/>
          </a:xfrm>
          <a:prstGeom prst="rect">
            <a:avLst/>
          </a:prstGeom>
          <a:noFill/>
          <a:ln/>
        </p:spPr>
        <p:txBody>
          <a:bodyPr wrap="square" lIns="0" tIns="0" rIns="0" bIns="0" rtlCol="0" anchor="ctr"/>
          <a:lstStyle/>
          <a:p>
            <a:pPr indent="0" marL="0">
              <a:buNone/>
            </a:pPr>
            <a:r>
              <a:rPr lang="en-US" sz="1500" b="1" dirty="0">
                <a:solidFill>
                  <a:schemeClr val="tx2"/>
                </a:solidFill>
              </a:rPr>
              <a:t>Anchor changes to pathology and genetics</a:t>
            </a:r>
            <a:endParaRPr lang="en-US" sz="1500" dirty="0"/>
          </a:p>
        </p:txBody>
      </p:sp>
      <p:sp>
        <p:nvSpPr>
          <p:cNvPr id="17" name="obj body"/>
          <p:cNvSpPr txBox="1"/>
          <p:nvPr/>
        </p:nvSpPr>
        <p:spPr>
          <a:xfrm>
            <a:off x="6309360" y="2926080"/>
            <a:ext cx="5303520" cy="685800"/>
          </a:xfrm>
          <a:prstGeom prst="rect">
            <a:avLst/>
          </a:prstGeom>
          <a:noFill/>
          <a:ln/>
        </p:spPr>
        <p:txBody>
          <a:bodyPr wrap="square" lIns="0" tIns="0" rIns="0" bIns="0" rtlCol="0" anchor="t"/>
          <a:lstStyle/>
          <a:p>
            <a:pPr indent="0" marL="0">
              <a:buNone/>
            </a:pPr>
            <a:r>
              <a:rPr lang="en-US" sz="1200" dirty="0">
                <a:solidFill>
                  <a:schemeClr val="tx1"/>
                </a:solidFill>
              </a:rPr>
              <a:t>Score pS129 α-synuclein Lewy pathology in the same tissue and relate it to neuronal gene expression; place PARK and GWAS genes into cell types.</a:t>
            </a:r>
            <a:endParaRPr lang="en-US" sz="1200" dirty="0"/>
          </a:p>
        </p:txBody>
      </p:sp>
      <p:sp>
        <p:nvSpPr>
          <p:cNvPr id="18" name="obj card"/>
          <p:cNvSpPr/>
          <p:nvPr/>
        </p:nvSpPr>
        <p:spPr>
          <a:xfrm>
            <a:off x="5029200" y="3785616"/>
            <a:ext cx="6702552" cy="1170432"/>
          </a:xfrm>
          <a:prstGeom prst="roundRect">
            <a:avLst>
              <a:gd name="adj" fmla="val 7813"/>
            </a:avLst>
          </a:prstGeom>
          <a:solidFill>
            <a:srgbClr val="FFFFFF"/>
          </a:solidFill>
          <a:ln w="12700">
            <a:solidFill>
              <a:srgbClr val="C9CDE0"/>
            </a:solidFill>
            <a:prstDash val="solid"/>
          </a:ln>
        </p:spPr>
      </p:sp>
      <p:sp>
        <p:nvSpPr>
          <p:cNvPr id="19" name="icon circle exchange"/>
          <p:cNvSpPr/>
          <p:nvPr/>
        </p:nvSpPr>
        <p:spPr>
          <a:xfrm>
            <a:off x="5212080" y="4087368"/>
            <a:ext cx="566928" cy="566928"/>
          </a:xfrm>
          <a:prstGeom prst="ellipse">
            <a:avLst/>
          </a:prstGeom>
          <a:solidFill>
            <a:schemeClr val="accent2"/>
          </a:solidFill>
          <a:ln w="12700">
            <a:solidFill>
              <a:schemeClr val="accent2"/>
            </a:solidFill>
            <a:prstDash val="solid"/>
          </a:ln>
        </p:spPr>
      </p:sp>
      <p:pic>
        <p:nvPicPr>
          <p:cNvPr id="20" name="icon exchange" descr="/tmp/claude-0/-home-user-owner/e66306d4-2675-5ec2-99fe-5e24f3a64605/scratchpad/build/img/ic_exchange.png">    </p:cNvPr>
          <p:cNvPicPr>
            <a:picLocks noChangeAspect="1"/>
          </p:cNvPicPr>
          <p:nvPr/>
        </p:nvPicPr>
        <p:blipFill>
          <a:blip r:embed="rId4"/>
          <a:stretch>
            <a:fillRect/>
          </a:stretch>
        </p:blipFill>
        <p:spPr>
          <a:xfrm>
            <a:off x="5359481" y="4234769"/>
            <a:ext cx="272125" cy="272125"/>
          </a:xfrm>
          <a:prstGeom prst="rect">
            <a:avLst/>
          </a:prstGeom>
        </p:spPr>
      </p:pic>
      <p:sp>
        <p:nvSpPr>
          <p:cNvPr id="21" name="obj number"/>
          <p:cNvSpPr txBox="1"/>
          <p:nvPr/>
        </p:nvSpPr>
        <p:spPr>
          <a:xfrm>
            <a:off x="5897880" y="3877056"/>
            <a:ext cx="365760" cy="457200"/>
          </a:xfrm>
          <a:prstGeom prst="rect">
            <a:avLst/>
          </a:prstGeom>
          <a:noFill/>
          <a:ln/>
        </p:spPr>
        <p:txBody>
          <a:bodyPr wrap="square" lIns="0" tIns="0" rIns="0" bIns="0" rtlCol="0" anchor="ctr"/>
          <a:lstStyle/>
          <a:p>
            <a:pPr indent="0" marL="0">
              <a:buNone/>
            </a:pPr>
            <a:r>
              <a:rPr lang="en-US" sz="2400" b="1" dirty="0">
                <a:solidFill>
                  <a:schemeClr val="accent2"/>
                </a:solidFill>
              </a:rPr>
              <a:t>3</a:t>
            </a:r>
            <a:endParaRPr lang="en-US" sz="2400" dirty="0"/>
          </a:p>
        </p:txBody>
      </p:sp>
      <p:sp>
        <p:nvSpPr>
          <p:cNvPr id="22" name="obj heading"/>
          <p:cNvSpPr txBox="1"/>
          <p:nvPr/>
        </p:nvSpPr>
        <p:spPr>
          <a:xfrm>
            <a:off x="6309360" y="3877056"/>
            <a:ext cx="5303520" cy="347472"/>
          </a:xfrm>
          <a:prstGeom prst="rect">
            <a:avLst/>
          </a:prstGeom>
          <a:noFill/>
          <a:ln/>
        </p:spPr>
        <p:txBody>
          <a:bodyPr wrap="square" lIns="0" tIns="0" rIns="0" bIns="0" rtlCol="0" anchor="ctr"/>
          <a:lstStyle/>
          <a:p>
            <a:pPr indent="0" marL="0">
              <a:buNone/>
            </a:pPr>
            <a:r>
              <a:rPr lang="en-US" sz="1500" b="1" dirty="0">
                <a:solidFill>
                  <a:schemeClr val="tx2"/>
                </a:solidFill>
              </a:rPr>
              <a:t>Map crosstalk and the proteome</a:t>
            </a:r>
            <a:endParaRPr lang="en-US" sz="1500" dirty="0"/>
          </a:p>
        </p:txBody>
      </p:sp>
      <p:sp>
        <p:nvSpPr>
          <p:cNvPr id="23" name="obj body"/>
          <p:cNvSpPr txBox="1"/>
          <p:nvPr/>
        </p:nvSpPr>
        <p:spPr>
          <a:xfrm>
            <a:off x="6309360" y="4224528"/>
            <a:ext cx="5303520" cy="685800"/>
          </a:xfrm>
          <a:prstGeom prst="rect">
            <a:avLst/>
          </a:prstGeom>
          <a:noFill/>
          <a:ln/>
        </p:spPr>
        <p:txBody>
          <a:bodyPr wrap="square" lIns="0" tIns="0" rIns="0" bIns="0" rtlCol="0" anchor="t"/>
          <a:lstStyle/>
          <a:p>
            <a:pPr indent="0" marL="0">
              <a:buNone/>
            </a:pPr>
            <a:r>
              <a:rPr lang="en-US" sz="1200" dirty="0">
                <a:solidFill>
                  <a:schemeClr val="tx1"/>
                </a:solidFill>
              </a:rPr>
              <a:t>Infer ligand-receptor communication between neurons, glia and T cells (CellPhoneDB); profile proteins from the same donors and link protein modules to cell types (WGCNA).</a:t>
            </a:r>
            <a:endParaRPr lang="en-US" sz="1200" dirty="0"/>
          </a:p>
        </p:txBody>
      </p:sp>
      <p:sp>
        <p:nvSpPr>
          <p:cNvPr id="24" name="obj card"/>
          <p:cNvSpPr/>
          <p:nvPr/>
        </p:nvSpPr>
        <p:spPr>
          <a:xfrm>
            <a:off x="5029200" y="5084064"/>
            <a:ext cx="6702552" cy="1170432"/>
          </a:xfrm>
          <a:prstGeom prst="roundRect">
            <a:avLst>
              <a:gd name="adj" fmla="val 7813"/>
            </a:avLst>
          </a:prstGeom>
          <a:solidFill>
            <a:srgbClr val="FFFFFF"/>
          </a:solidFill>
          <a:ln w="12700">
            <a:solidFill>
              <a:srgbClr val="C9CDE0"/>
            </a:solidFill>
            <a:prstDash val="solid"/>
          </a:ln>
        </p:spPr>
      </p:sp>
      <p:sp>
        <p:nvSpPr>
          <p:cNvPr id="25" name="icon circle scale"/>
          <p:cNvSpPr/>
          <p:nvPr/>
        </p:nvSpPr>
        <p:spPr>
          <a:xfrm>
            <a:off x="5212080" y="5385816"/>
            <a:ext cx="566928" cy="566928"/>
          </a:xfrm>
          <a:prstGeom prst="ellipse">
            <a:avLst/>
          </a:prstGeom>
          <a:solidFill>
            <a:schemeClr val="accent4"/>
          </a:solidFill>
          <a:ln w="12700">
            <a:solidFill>
              <a:schemeClr val="accent4"/>
            </a:solidFill>
            <a:prstDash val="solid"/>
          </a:ln>
        </p:spPr>
      </p:sp>
      <p:pic>
        <p:nvPicPr>
          <p:cNvPr id="26" name="icon scale" descr="/tmp/claude-0/-home-user-owner/e66306d4-2675-5ec2-99fe-5e24f3a64605/scratchpad/build/img/ic_scale.png">    </p:cNvPr>
          <p:cNvPicPr>
            <a:picLocks noChangeAspect="1"/>
          </p:cNvPicPr>
          <p:nvPr/>
        </p:nvPicPr>
        <p:blipFill>
          <a:blip r:embed="rId5"/>
          <a:stretch>
            <a:fillRect/>
          </a:stretch>
        </p:blipFill>
        <p:spPr>
          <a:xfrm>
            <a:off x="5359481" y="5533217"/>
            <a:ext cx="272125" cy="272125"/>
          </a:xfrm>
          <a:prstGeom prst="rect">
            <a:avLst/>
          </a:prstGeom>
        </p:spPr>
      </p:pic>
      <p:sp>
        <p:nvSpPr>
          <p:cNvPr id="27" name="obj number"/>
          <p:cNvSpPr txBox="1"/>
          <p:nvPr/>
        </p:nvSpPr>
        <p:spPr>
          <a:xfrm>
            <a:off x="5897880" y="5175504"/>
            <a:ext cx="365760" cy="457200"/>
          </a:xfrm>
          <a:prstGeom prst="rect">
            <a:avLst/>
          </a:prstGeom>
          <a:noFill/>
          <a:ln/>
        </p:spPr>
        <p:txBody>
          <a:bodyPr wrap="square" lIns="0" tIns="0" rIns="0" bIns="0" rtlCol="0" anchor="ctr"/>
          <a:lstStyle/>
          <a:p>
            <a:pPr indent="0" marL="0">
              <a:buNone/>
            </a:pPr>
            <a:r>
              <a:rPr lang="en-US" sz="2400" b="1" dirty="0">
                <a:solidFill>
                  <a:schemeClr val="accent4"/>
                </a:solidFill>
              </a:rPr>
              <a:t>4</a:t>
            </a:r>
            <a:endParaRPr lang="en-US" sz="2400" dirty="0"/>
          </a:p>
        </p:txBody>
      </p:sp>
      <p:sp>
        <p:nvSpPr>
          <p:cNvPr id="28" name="obj heading"/>
          <p:cNvSpPr txBox="1"/>
          <p:nvPr/>
        </p:nvSpPr>
        <p:spPr>
          <a:xfrm>
            <a:off x="6309360" y="5175504"/>
            <a:ext cx="5303520" cy="347472"/>
          </a:xfrm>
          <a:prstGeom prst="rect">
            <a:avLst/>
          </a:prstGeom>
          <a:noFill/>
          <a:ln/>
        </p:spPr>
        <p:txBody>
          <a:bodyPr wrap="square" lIns="0" tIns="0" rIns="0" bIns="0" rtlCol="0" anchor="ctr"/>
          <a:lstStyle/>
          <a:p>
            <a:pPr indent="0" marL="0">
              <a:buNone/>
            </a:pPr>
            <a:r>
              <a:rPr lang="en-US" sz="1500" b="1" dirty="0">
                <a:solidFill>
                  <a:schemeClr val="tx2"/>
                </a:solidFill>
              </a:rPr>
              <a:t>Ask whether PD looks like AD</a:t>
            </a:r>
            <a:endParaRPr lang="en-US" sz="1500" dirty="0"/>
          </a:p>
        </p:txBody>
      </p:sp>
      <p:sp>
        <p:nvSpPr>
          <p:cNvPr id="29" name="obj body"/>
          <p:cNvSpPr txBox="1"/>
          <p:nvPr/>
        </p:nvSpPr>
        <p:spPr>
          <a:xfrm>
            <a:off x="6309360" y="5522976"/>
            <a:ext cx="5303520" cy="685800"/>
          </a:xfrm>
          <a:prstGeom prst="rect">
            <a:avLst/>
          </a:prstGeom>
          <a:noFill/>
          <a:ln/>
        </p:spPr>
        <p:txBody>
          <a:bodyPr wrap="square" lIns="0" tIns="0" rIns="0" bIns="0" rtlCol="0" anchor="t"/>
          <a:lstStyle/>
          <a:p>
            <a:pPr indent="0" marL="0">
              <a:buNone/>
            </a:pPr>
            <a:r>
              <a:rPr lang="en-US" sz="1200" dirty="0">
                <a:solidFill>
                  <a:schemeClr val="tx1"/>
                </a:solidFill>
              </a:rPr>
              <a:t>Compare DEGs, pathways and proteins against published AD single-nucleus and proteomic datasets from the same cortical region.</a:t>
            </a:r>
            <a:endParaRPr lang="en-US" sz="12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Methods: three data streams from the same twelve brains</a:t>
            </a:r>
            <a:endParaRPr lang="en-US" sz="2600" dirty="0"/>
          </a:p>
        </p:txBody>
      </p:sp>
      <p:sp>
        <p:nvSpPr>
          <p:cNvPr id="3" name="flow "/>
          <p:cNvSpPr/>
          <p:nvPr/>
        </p:nvSpPr>
        <p:spPr>
          <a:xfrm>
            <a:off x="457200" y="1097280"/>
            <a:ext cx="7818120" cy="457200"/>
          </a:xfrm>
          <a:prstGeom prst="roundRect">
            <a:avLst>
              <a:gd name="adj" fmla="val 16000"/>
            </a:avLst>
          </a:prstGeom>
          <a:solidFill>
            <a:srgbClr val="2B2D5B"/>
          </a:solidFill>
          <a:ln w="12700">
            <a:solidFill>
              <a:srgbClr val="2B2D5B"/>
            </a:solidFill>
            <a:prstDash val="solid"/>
          </a:ln>
        </p:spPr>
      </p:sp>
      <p:sp>
        <p:nvSpPr>
          <p:cNvPr id="4" name="flow text "/>
          <p:cNvSpPr txBox="1"/>
          <p:nvPr/>
        </p:nvSpPr>
        <p:spPr>
          <a:xfrm>
            <a:off x="530352" y="1097280"/>
            <a:ext cx="7671816" cy="457200"/>
          </a:xfrm>
          <a:prstGeom prst="rect">
            <a:avLst/>
          </a:prstGeom>
          <a:noFill/>
          <a:ln/>
        </p:spPr>
        <p:txBody>
          <a:bodyPr wrap="square" lIns="0" tIns="0" rIns="0" bIns="0" rtlCol="0" anchor="ctr"/>
          <a:lstStyle/>
          <a:p>
            <a:pPr indent="0" marL="0">
              <a:lnSpc>
                <a:spcPct val="100000"/>
              </a:lnSpc>
              <a:buNone/>
            </a:pPr>
            <a:endParaRPr lang="en-US" sz="1100" dirty="0"/>
          </a:p>
        </p:txBody>
      </p:sp>
      <p:sp>
        <p:nvSpPr>
          <p:cNvPr id="5" name="samples text"/>
          <p:cNvSpPr txBox="1"/>
          <p:nvPr/>
        </p:nvSpPr>
        <p:spPr>
          <a:xfrm>
            <a:off x="548640" y="1097280"/>
            <a:ext cx="7680960" cy="457200"/>
          </a:xfrm>
          <a:prstGeom prst="rect">
            <a:avLst/>
          </a:prstGeom>
          <a:noFill/>
          <a:ln/>
        </p:spPr>
        <p:txBody>
          <a:bodyPr wrap="square" lIns="0" tIns="0" rIns="0" bIns="0" rtlCol="0" anchor="ctr"/>
          <a:lstStyle/>
          <a:p>
            <a:pPr indent="0" marL="0">
              <a:buNone/>
            </a:pPr>
            <a:r>
              <a:rPr lang="en-US" sz="1200" b="1" dirty="0">
                <a:solidFill>
                  <a:schemeClr val="bg1"/>
                </a:solidFill>
              </a:rPr>
              <a:t>Samples  </a:t>
            </a:r>
            <a:pPr indent="0" marL="0">
              <a:buNone/>
            </a:pPr>
            <a:r>
              <a:rPr lang="en-US" sz="1100" dirty="0">
                <a:solidFill>
                  <a:schemeClr val="bg1"/>
                </a:solidFill>
              </a:rPr>
              <a:t>12 postmortem donors · prefrontal cortex BA9 · 6 late-stage PD vs 6 sex- and age-matched controls (mean 75.9 y)</a:t>
            </a:r>
            <a:endParaRPr lang="en-US" sz="1200" dirty="0"/>
          </a:p>
        </p:txBody>
      </p:sp>
      <p:sp>
        <p:nvSpPr>
          <p:cNvPr id="6" name="chip snRNA-seq (10x Genomics)"/>
          <p:cNvSpPr/>
          <p:nvPr/>
        </p:nvSpPr>
        <p:spPr>
          <a:xfrm>
            <a:off x="457200" y="1664208"/>
            <a:ext cx="2194560" cy="292608"/>
          </a:xfrm>
          <a:prstGeom prst="roundRect">
            <a:avLst>
              <a:gd name="adj" fmla="val 50000"/>
            </a:avLst>
          </a:prstGeom>
          <a:solidFill>
            <a:srgbClr val="E4572E"/>
          </a:solidFill>
          <a:ln w="12700">
            <a:solidFill>
              <a:srgbClr val="E4572E"/>
            </a:solidFill>
            <a:prstDash val="solid"/>
          </a:ln>
        </p:spPr>
      </p:sp>
      <p:sp>
        <p:nvSpPr>
          <p:cNvPr id="7" name="chip text snRNA-seq (10x Genomics)"/>
          <p:cNvSpPr txBox="1"/>
          <p:nvPr/>
        </p:nvSpPr>
        <p:spPr>
          <a:xfrm>
            <a:off x="457200" y="1664208"/>
            <a:ext cx="2194560" cy="292608"/>
          </a:xfrm>
          <a:prstGeom prst="rect">
            <a:avLst/>
          </a:prstGeom>
          <a:noFill/>
          <a:ln/>
        </p:spPr>
        <p:txBody>
          <a:bodyPr wrap="square" lIns="0" tIns="0" rIns="0" bIns="0" rtlCol="0" anchor="ctr"/>
          <a:lstStyle/>
          <a:p>
            <a:pPr algn="ctr" indent="0" marL="0">
              <a:buNone/>
            </a:pPr>
            <a:r>
              <a:rPr lang="en-US" sz="1100" b="1" dirty="0">
                <a:solidFill>
                  <a:schemeClr val="bg1"/>
                </a:solidFill>
              </a:rPr>
              <a:t>snRNA-seq (10x Genomics)</a:t>
            </a:r>
            <a:endParaRPr lang="en-US" sz="1100" dirty="0"/>
          </a:p>
        </p:txBody>
      </p:sp>
      <p:sp>
        <p:nvSpPr>
          <p:cNvPr id="8" name="flow Nuclei isolation"/>
          <p:cNvSpPr/>
          <p:nvPr/>
        </p:nvSpPr>
        <p:spPr>
          <a:xfrm>
            <a:off x="457200" y="2011680"/>
            <a:ext cx="1828800" cy="822960"/>
          </a:xfrm>
          <a:prstGeom prst="roundRect">
            <a:avLst>
              <a:gd name="adj" fmla="val 8889"/>
            </a:avLst>
          </a:prstGeom>
          <a:solidFill>
            <a:srgbClr val="FBE3DB"/>
          </a:solidFill>
          <a:ln w="12700">
            <a:solidFill>
              <a:srgbClr val="FBE3DB"/>
            </a:solidFill>
            <a:prstDash val="solid"/>
          </a:ln>
        </p:spPr>
      </p:sp>
      <p:sp>
        <p:nvSpPr>
          <p:cNvPr id="9" name="flow text Nuclei isolation"/>
          <p:cNvSpPr txBox="1"/>
          <p:nvPr/>
        </p:nvSpPr>
        <p:spPr>
          <a:xfrm>
            <a:off x="530352" y="201168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Nuclei isolation</a:t>
            </a:r>
            <a:endParaRPr lang="en-US" sz="1100" dirty="0"/>
          </a:p>
          <a:p>
            <a:pPr indent="0" marL="0">
              <a:lnSpc>
                <a:spcPct val="100000"/>
              </a:lnSpc>
              <a:buNone/>
            </a:pPr>
            <a:r>
              <a:rPr lang="en-US" sz="1000" dirty="0">
                <a:solidFill>
                  <a:schemeClr val="tx1"/>
                </a:solidFill>
              </a:rPr>
              <a:t>Sucrose-gradient ultracentrifugation of frozen tissue; 500-1000 nuclei/µl</a:t>
            </a:r>
            <a:endParaRPr lang="en-US" sz="1100" dirty="0"/>
          </a:p>
        </p:txBody>
      </p:sp>
      <p:sp>
        <p:nvSpPr>
          <p:cNvPr id="10" name="arrow"/>
          <p:cNvSpPr/>
          <p:nvPr/>
        </p:nvSpPr>
        <p:spPr>
          <a:xfrm>
            <a:off x="2286000" y="2423160"/>
            <a:ext cx="167335" cy="0"/>
          </a:xfrm>
          <a:prstGeom prst="line">
            <a:avLst/>
          </a:prstGeom>
          <a:noFill/>
          <a:ln w="19050">
            <a:solidFill>
              <a:srgbClr val="6B7190"/>
            </a:solidFill>
            <a:prstDash val="solid"/>
            <a:tailEnd type="triangle"/>
          </a:ln>
        </p:spPr>
      </p:sp>
      <p:sp>
        <p:nvSpPr>
          <p:cNvPr id="11" name="flow Library + sequencing"/>
          <p:cNvSpPr/>
          <p:nvPr/>
        </p:nvSpPr>
        <p:spPr>
          <a:xfrm>
            <a:off x="2453335" y="2011680"/>
            <a:ext cx="1828800" cy="822960"/>
          </a:xfrm>
          <a:prstGeom prst="roundRect">
            <a:avLst>
              <a:gd name="adj" fmla="val 8889"/>
            </a:avLst>
          </a:prstGeom>
          <a:solidFill>
            <a:srgbClr val="FBE3DB"/>
          </a:solidFill>
          <a:ln w="12700">
            <a:solidFill>
              <a:srgbClr val="FBE3DB"/>
            </a:solidFill>
            <a:prstDash val="solid"/>
          </a:ln>
        </p:spPr>
      </p:sp>
      <p:sp>
        <p:nvSpPr>
          <p:cNvPr id="12" name="flow text Library + sequencing"/>
          <p:cNvSpPr txBox="1"/>
          <p:nvPr/>
        </p:nvSpPr>
        <p:spPr>
          <a:xfrm>
            <a:off x="2526487" y="201168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Library + sequencing</a:t>
            </a:r>
            <a:endParaRPr lang="en-US" sz="1100" dirty="0"/>
          </a:p>
          <a:p>
            <a:pPr indent="0" marL="0">
              <a:lnSpc>
                <a:spcPct val="100000"/>
              </a:lnSpc>
              <a:buNone/>
            </a:pPr>
            <a:r>
              <a:rPr lang="en-US" sz="1000" dirty="0">
                <a:solidFill>
                  <a:schemeClr val="tx1"/>
                </a:solidFill>
              </a:rPr>
              <a:t>Chromium Single Cell 3′ v3; NovaSeq 6000, ~100k reads per nucleus</a:t>
            </a:r>
            <a:endParaRPr lang="en-US" sz="1100" dirty="0"/>
          </a:p>
        </p:txBody>
      </p:sp>
      <p:sp>
        <p:nvSpPr>
          <p:cNvPr id="13" name="arrow"/>
          <p:cNvSpPr/>
          <p:nvPr/>
        </p:nvSpPr>
        <p:spPr>
          <a:xfrm>
            <a:off x="4282135" y="2423160"/>
            <a:ext cx="167335" cy="0"/>
          </a:xfrm>
          <a:prstGeom prst="line">
            <a:avLst/>
          </a:prstGeom>
          <a:noFill/>
          <a:ln w="19050">
            <a:solidFill>
              <a:srgbClr val="6B7190"/>
            </a:solidFill>
            <a:prstDash val="solid"/>
            <a:tailEnd type="triangle"/>
          </a:ln>
        </p:spPr>
      </p:sp>
      <p:sp>
        <p:nvSpPr>
          <p:cNvPr id="14" name="flow Alignment"/>
          <p:cNvSpPr/>
          <p:nvPr/>
        </p:nvSpPr>
        <p:spPr>
          <a:xfrm>
            <a:off x="4449470" y="2011680"/>
            <a:ext cx="1828800" cy="822960"/>
          </a:xfrm>
          <a:prstGeom prst="roundRect">
            <a:avLst>
              <a:gd name="adj" fmla="val 8889"/>
            </a:avLst>
          </a:prstGeom>
          <a:solidFill>
            <a:srgbClr val="FBE3DB"/>
          </a:solidFill>
          <a:ln w="12700">
            <a:solidFill>
              <a:srgbClr val="FBE3DB"/>
            </a:solidFill>
            <a:prstDash val="solid"/>
          </a:ln>
        </p:spPr>
      </p:sp>
      <p:sp>
        <p:nvSpPr>
          <p:cNvPr id="15" name="flow text Alignment"/>
          <p:cNvSpPr txBox="1"/>
          <p:nvPr/>
        </p:nvSpPr>
        <p:spPr>
          <a:xfrm>
            <a:off x="4522622" y="201168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Alignment</a:t>
            </a:r>
            <a:endParaRPr lang="en-US" sz="1100" dirty="0"/>
          </a:p>
          <a:p>
            <a:pPr indent="0" marL="0">
              <a:lnSpc>
                <a:spcPct val="100000"/>
              </a:lnSpc>
              <a:buNone/>
            </a:pPr>
            <a:r>
              <a:rPr lang="en-US" sz="1000" dirty="0">
                <a:solidFill>
                  <a:schemeClr val="tx1"/>
                </a:solidFill>
              </a:rPr>
              <a:t>Cell Ranger 3.1 on a GRCh38 pre-mRNA reference so intronic (unspliced) nuclear reads count</a:t>
            </a:r>
            <a:endParaRPr lang="en-US" sz="1100" dirty="0"/>
          </a:p>
        </p:txBody>
      </p:sp>
      <p:sp>
        <p:nvSpPr>
          <p:cNvPr id="16" name="arrow"/>
          <p:cNvSpPr/>
          <p:nvPr/>
        </p:nvSpPr>
        <p:spPr>
          <a:xfrm>
            <a:off x="6278270" y="2423160"/>
            <a:ext cx="167335" cy="0"/>
          </a:xfrm>
          <a:prstGeom prst="line">
            <a:avLst/>
          </a:prstGeom>
          <a:noFill/>
          <a:ln w="19050">
            <a:solidFill>
              <a:srgbClr val="6B7190"/>
            </a:solidFill>
            <a:prstDash val="solid"/>
            <a:tailEnd type="triangle"/>
          </a:ln>
        </p:spPr>
      </p:sp>
      <p:sp>
        <p:nvSpPr>
          <p:cNvPr id="17" name="flow Quality control"/>
          <p:cNvSpPr/>
          <p:nvPr/>
        </p:nvSpPr>
        <p:spPr>
          <a:xfrm>
            <a:off x="6445606" y="2011680"/>
            <a:ext cx="1828800" cy="822960"/>
          </a:xfrm>
          <a:prstGeom prst="roundRect">
            <a:avLst>
              <a:gd name="adj" fmla="val 8889"/>
            </a:avLst>
          </a:prstGeom>
          <a:solidFill>
            <a:srgbClr val="FBE3DB"/>
          </a:solidFill>
          <a:ln w="12700">
            <a:solidFill>
              <a:srgbClr val="FBE3DB"/>
            </a:solidFill>
            <a:prstDash val="solid"/>
          </a:ln>
        </p:spPr>
      </p:sp>
      <p:sp>
        <p:nvSpPr>
          <p:cNvPr id="18" name="flow text Quality control"/>
          <p:cNvSpPr txBox="1"/>
          <p:nvPr/>
        </p:nvSpPr>
        <p:spPr>
          <a:xfrm>
            <a:off x="6518758" y="201168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Quality control</a:t>
            </a:r>
            <a:endParaRPr lang="en-US" sz="1100" dirty="0"/>
          </a:p>
          <a:p>
            <a:pPr indent="0" marL="0">
              <a:lnSpc>
                <a:spcPct val="100000"/>
              </a:lnSpc>
              <a:buNone/>
            </a:pPr>
            <a:r>
              <a:rPr lang="en-US" sz="1000" dirty="0">
                <a:solidFill>
                  <a:schemeClr val="tx1"/>
                </a:solidFill>
              </a:rPr>
              <a:t>Keep nuclei with 200-7000 genes (drops debris and doublets) → 77,384 nuclei; median 2598 genes</a:t>
            </a:r>
            <a:endParaRPr lang="en-US" sz="1100" dirty="0"/>
          </a:p>
        </p:txBody>
      </p:sp>
      <p:sp>
        <p:nvSpPr>
          <p:cNvPr id="19" name="flow Normalise + feature select"/>
          <p:cNvSpPr/>
          <p:nvPr/>
        </p:nvSpPr>
        <p:spPr>
          <a:xfrm>
            <a:off x="457200" y="2971800"/>
            <a:ext cx="1828800" cy="822960"/>
          </a:xfrm>
          <a:prstGeom prst="roundRect">
            <a:avLst>
              <a:gd name="adj" fmla="val 8889"/>
            </a:avLst>
          </a:prstGeom>
          <a:solidFill>
            <a:srgbClr val="FBE3DB"/>
          </a:solidFill>
          <a:ln w="12700">
            <a:solidFill>
              <a:srgbClr val="FBE3DB"/>
            </a:solidFill>
            <a:prstDash val="solid"/>
          </a:ln>
        </p:spPr>
      </p:sp>
      <p:sp>
        <p:nvSpPr>
          <p:cNvPr id="20" name="flow text Normalise + feature select"/>
          <p:cNvSpPr txBox="1"/>
          <p:nvPr/>
        </p:nvSpPr>
        <p:spPr>
          <a:xfrm>
            <a:off x="530352" y="297180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Normalise + feature select</a:t>
            </a:r>
            <a:endParaRPr lang="en-US" sz="1100" dirty="0"/>
          </a:p>
          <a:p>
            <a:pPr indent="0" marL="0">
              <a:lnSpc>
                <a:spcPct val="100000"/>
              </a:lnSpc>
              <a:buNone/>
            </a:pPr>
            <a:r>
              <a:rPr lang="en-US" sz="1000" dirty="0">
                <a:solidFill>
                  <a:schemeClr val="tx1"/>
                </a:solidFill>
              </a:rPr>
              <a:t>Seurat 4.0.2: log-normalise each sample; top 2000 highly variable genes</a:t>
            </a:r>
            <a:endParaRPr lang="en-US" sz="1100" dirty="0"/>
          </a:p>
        </p:txBody>
      </p:sp>
      <p:sp>
        <p:nvSpPr>
          <p:cNvPr id="21" name="arrow"/>
          <p:cNvSpPr/>
          <p:nvPr/>
        </p:nvSpPr>
        <p:spPr>
          <a:xfrm>
            <a:off x="2286000" y="3383280"/>
            <a:ext cx="167335" cy="0"/>
          </a:xfrm>
          <a:prstGeom prst="line">
            <a:avLst/>
          </a:prstGeom>
          <a:noFill/>
          <a:ln w="19050">
            <a:solidFill>
              <a:srgbClr val="6B7190"/>
            </a:solidFill>
            <a:prstDash val="solid"/>
            <a:tailEnd type="triangle"/>
          </a:ln>
        </p:spPr>
      </p:sp>
      <p:sp>
        <p:nvSpPr>
          <p:cNvPr id="22" name="flow Integrate + reduce"/>
          <p:cNvSpPr/>
          <p:nvPr/>
        </p:nvSpPr>
        <p:spPr>
          <a:xfrm>
            <a:off x="2453335" y="2971800"/>
            <a:ext cx="1828800" cy="822960"/>
          </a:xfrm>
          <a:prstGeom prst="roundRect">
            <a:avLst>
              <a:gd name="adj" fmla="val 8889"/>
            </a:avLst>
          </a:prstGeom>
          <a:solidFill>
            <a:srgbClr val="FBE3DB"/>
          </a:solidFill>
          <a:ln w="12700">
            <a:solidFill>
              <a:srgbClr val="FBE3DB"/>
            </a:solidFill>
            <a:prstDash val="solid"/>
          </a:ln>
        </p:spPr>
      </p:sp>
      <p:sp>
        <p:nvSpPr>
          <p:cNvPr id="23" name="flow text Integrate + reduce"/>
          <p:cNvSpPr txBox="1"/>
          <p:nvPr/>
        </p:nvSpPr>
        <p:spPr>
          <a:xfrm>
            <a:off x="2526487" y="297180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Integrate + reduce</a:t>
            </a:r>
            <a:endParaRPr lang="en-US" sz="1100" dirty="0"/>
          </a:p>
          <a:p>
            <a:pPr indent="0" marL="0">
              <a:lnSpc>
                <a:spcPct val="100000"/>
              </a:lnSpc>
              <a:buNone/>
            </a:pPr>
            <a:r>
              <a:rPr lang="en-US" sz="1000" dirty="0">
                <a:solidFill>
                  <a:schemeClr val="tx1"/>
                </a:solidFill>
              </a:rPr>
              <a:t>FindIntegrationAnchors → IntegrateData across all 12 donors; PCA → UMAP → 12 clusters</a:t>
            </a:r>
            <a:endParaRPr lang="en-US" sz="1100" dirty="0"/>
          </a:p>
        </p:txBody>
      </p:sp>
      <p:sp>
        <p:nvSpPr>
          <p:cNvPr id="24" name="arrow"/>
          <p:cNvSpPr/>
          <p:nvPr/>
        </p:nvSpPr>
        <p:spPr>
          <a:xfrm>
            <a:off x="4282135" y="3383280"/>
            <a:ext cx="167335" cy="0"/>
          </a:xfrm>
          <a:prstGeom prst="line">
            <a:avLst/>
          </a:prstGeom>
          <a:noFill/>
          <a:ln w="19050">
            <a:solidFill>
              <a:srgbClr val="6B7190"/>
            </a:solidFill>
            <a:prstDash val="solid"/>
            <a:tailEnd type="triangle"/>
          </a:ln>
        </p:spPr>
      </p:sp>
      <p:sp>
        <p:nvSpPr>
          <p:cNvPr id="25" name="flow Annotate"/>
          <p:cNvSpPr/>
          <p:nvPr/>
        </p:nvSpPr>
        <p:spPr>
          <a:xfrm>
            <a:off x="4449470" y="2971800"/>
            <a:ext cx="1828800" cy="822960"/>
          </a:xfrm>
          <a:prstGeom prst="roundRect">
            <a:avLst>
              <a:gd name="adj" fmla="val 8889"/>
            </a:avLst>
          </a:prstGeom>
          <a:solidFill>
            <a:srgbClr val="FBE3DB"/>
          </a:solidFill>
          <a:ln w="12700">
            <a:solidFill>
              <a:srgbClr val="FBE3DB"/>
            </a:solidFill>
            <a:prstDash val="solid"/>
          </a:ln>
        </p:spPr>
      </p:sp>
      <p:sp>
        <p:nvSpPr>
          <p:cNvPr id="26" name="flow text Annotate"/>
          <p:cNvSpPr txBox="1"/>
          <p:nvPr/>
        </p:nvSpPr>
        <p:spPr>
          <a:xfrm>
            <a:off x="4522622" y="297180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Annotate</a:t>
            </a:r>
            <a:endParaRPr lang="en-US" sz="1100" dirty="0"/>
          </a:p>
          <a:p>
            <a:pPr indent="0" marL="0">
              <a:lnSpc>
                <a:spcPct val="100000"/>
              </a:lnSpc>
              <a:buNone/>
            </a:pPr>
            <a:r>
              <a:rPr lang="en-US" sz="1000" dirty="0">
                <a:solidFill>
                  <a:schemeClr val="tx1"/>
                </a:solidFill>
              </a:rPr>
              <a:t>Canonical markers (SLC17A7, GAD1, MBP, AQP4, ITGAM, PDGFRA, CLDN5, CD3E) → 8 cell types</a:t>
            </a:r>
            <a:endParaRPr lang="en-US" sz="1100" dirty="0"/>
          </a:p>
        </p:txBody>
      </p:sp>
      <p:sp>
        <p:nvSpPr>
          <p:cNvPr id="27" name="arrow"/>
          <p:cNvSpPr/>
          <p:nvPr/>
        </p:nvSpPr>
        <p:spPr>
          <a:xfrm>
            <a:off x="6278270" y="3383280"/>
            <a:ext cx="167335" cy="0"/>
          </a:xfrm>
          <a:prstGeom prst="line">
            <a:avLst/>
          </a:prstGeom>
          <a:noFill/>
          <a:ln w="19050">
            <a:solidFill>
              <a:srgbClr val="6B7190"/>
            </a:solidFill>
            <a:prstDash val="solid"/>
            <a:tailEnd type="triangle"/>
          </a:ln>
        </p:spPr>
      </p:sp>
      <p:sp>
        <p:nvSpPr>
          <p:cNvPr id="28" name="flow Differential expression"/>
          <p:cNvSpPr/>
          <p:nvPr/>
        </p:nvSpPr>
        <p:spPr>
          <a:xfrm>
            <a:off x="6445606" y="2971800"/>
            <a:ext cx="1828800" cy="822960"/>
          </a:xfrm>
          <a:prstGeom prst="roundRect">
            <a:avLst>
              <a:gd name="adj" fmla="val 8889"/>
            </a:avLst>
          </a:prstGeom>
          <a:solidFill>
            <a:srgbClr val="FBE3DB"/>
          </a:solidFill>
          <a:ln w="12700">
            <a:solidFill>
              <a:srgbClr val="FBE3DB"/>
            </a:solidFill>
            <a:prstDash val="solid"/>
          </a:ln>
        </p:spPr>
      </p:sp>
      <p:sp>
        <p:nvSpPr>
          <p:cNvPr id="29" name="flow text Differential expression"/>
          <p:cNvSpPr txBox="1"/>
          <p:nvPr/>
        </p:nvSpPr>
        <p:spPr>
          <a:xfrm>
            <a:off x="6518758" y="2971800"/>
            <a:ext cx="1682496" cy="82296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Differential expression</a:t>
            </a:r>
            <a:endParaRPr lang="en-US" sz="1100" dirty="0"/>
          </a:p>
          <a:p>
            <a:pPr indent="0" marL="0">
              <a:lnSpc>
                <a:spcPct val="100000"/>
              </a:lnSpc>
              <a:buNone/>
            </a:pPr>
            <a:r>
              <a:rPr lang="en-US" sz="1000" dirty="0">
                <a:solidFill>
                  <a:schemeClr val="tx1"/>
                </a:solidFill>
              </a:rPr>
              <a:t>Wilcoxon rank-sum per cell type (FindMarkers), |log FC| &gt; 0.25, FDR &lt; 0.05; GO via clusterProfiler</a:t>
            </a:r>
            <a:endParaRPr lang="en-US" sz="1100" dirty="0"/>
          </a:p>
        </p:txBody>
      </p:sp>
      <p:sp>
        <p:nvSpPr>
          <p:cNvPr id="30" name="elbow1"/>
          <p:cNvSpPr/>
          <p:nvPr/>
        </p:nvSpPr>
        <p:spPr>
          <a:xfrm>
            <a:off x="7360006" y="2834640"/>
            <a:ext cx="0" cy="68580"/>
          </a:xfrm>
          <a:prstGeom prst="line">
            <a:avLst/>
          </a:prstGeom>
          <a:noFill/>
          <a:ln w="19050">
            <a:solidFill>
              <a:srgbClr val="6B7190"/>
            </a:solidFill>
            <a:prstDash val="solid"/>
          </a:ln>
        </p:spPr>
      </p:sp>
      <p:sp>
        <p:nvSpPr>
          <p:cNvPr id="31" name="elbow2"/>
          <p:cNvSpPr/>
          <p:nvPr/>
        </p:nvSpPr>
        <p:spPr>
          <a:xfrm>
            <a:off x="1371600" y="2903220"/>
            <a:ext cx="5988406" cy="0"/>
          </a:xfrm>
          <a:prstGeom prst="line">
            <a:avLst/>
          </a:prstGeom>
          <a:noFill/>
          <a:ln w="19050">
            <a:solidFill>
              <a:srgbClr val="6B7190"/>
            </a:solidFill>
            <a:prstDash val="solid"/>
          </a:ln>
        </p:spPr>
      </p:sp>
      <p:sp>
        <p:nvSpPr>
          <p:cNvPr id="32" name="arrow"/>
          <p:cNvSpPr/>
          <p:nvPr/>
        </p:nvSpPr>
        <p:spPr>
          <a:xfrm>
            <a:off x="1371600" y="2903220"/>
            <a:ext cx="0" cy="68580"/>
          </a:xfrm>
          <a:prstGeom prst="line">
            <a:avLst/>
          </a:prstGeom>
          <a:noFill/>
          <a:ln w="19050">
            <a:solidFill>
              <a:srgbClr val="6B7190"/>
            </a:solidFill>
            <a:prstDash val="solid"/>
            <a:tailEnd type="triangle"/>
          </a:ln>
        </p:spPr>
      </p:sp>
      <p:sp>
        <p:nvSpPr>
          <p:cNvPr id="33" name="flow Cell proportions"/>
          <p:cNvSpPr/>
          <p:nvPr/>
        </p:nvSpPr>
        <p:spPr>
          <a:xfrm>
            <a:off x="457200" y="3886200"/>
            <a:ext cx="1211580" cy="731520"/>
          </a:xfrm>
          <a:prstGeom prst="roundRect">
            <a:avLst>
              <a:gd name="adj" fmla="val 10000"/>
            </a:avLst>
          </a:prstGeom>
          <a:solidFill>
            <a:srgbClr val="EEF0F8"/>
          </a:solidFill>
          <a:ln w="12700">
            <a:solidFill>
              <a:srgbClr val="EEF0F8"/>
            </a:solidFill>
            <a:prstDash val="solid"/>
          </a:ln>
        </p:spPr>
      </p:sp>
      <p:sp>
        <p:nvSpPr>
          <p:cNvPr id="34" name="flow text Cell proportions"/>
          <p:cNvSpPr txBox="1"/>
          <p:nvPr/>
        </p:nvSpPr>
        <p:spPr>
          <a:xfrm>
            <a:off x="530352"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Cell proportions</a:t>
            </a:r>
            <a:endParaRPr lang="en-US" sz="1100" dirty="0"/>
          </a:p>
          <a:p>
            <a:pPr indent="0" marL="0">
              <a:lnSpc>
                <a:spcPct val="100000"/>
              </a:lnSpc>
              <a:buNone/>
            </a:pPr>
            <a:r>
              <a:rPr lang="en-US" sz="1000" dirty="0">
                <a:solidFill>
                  <a:schemeClr val="tx1"/>
                </a:solidFill>
              </a:rPr>
              <a:t>Wilcoxon PD vs HC per type</a:t>
            </a:r>
            <a:endParaRPr lang="en-US" sz="1100" dirty="0"/>
          </a:p>
        </p:txBody>
      </p:sp>
      <p:sp>
        <p:nvSpPr>
          <p:cNvPr id="35" name="flow Variance partition"/>
          <p:cNvSpPr/>
          <p:nvPr/>
        </p:nvSpPr>
        <p:spPr>
          <a:xfrm>
            <a:off x="1778508" y="3886200"/>
            <a:ext cx="1211580" cy="731520"/>
          </a:xfrm>
          <a:prstGeom prst="roundRect">
            <a:avLst>
              <a:gd name="adj" fmla="val 10000"/>
            </a:avLst>
          </a:prstGeom>
          <a:solidFill>
            <a:srgbClr val="EEF0F8"/>
          </a:solidFill>
          <a:ln w="12700">
            <a:solidFill>
              <a:srgbClr val="EEF0F8"/>
            </a:solidFill>
            <a:prstDash val="solid"/>
          </a:ln>
        </p:spPr>
      </p:sp>
      <p:sp>
        <p:nvSpPr>
          <p:cNvPr id="36" name="flow text Variance partition"/>
          <p:cNvSpPr txBox="1"/>
          <p:nvPr/>
        </p:nvSpPr>
        <p:spPr>
          <a:xfrm>
            <a:off x="1851660"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Variance partition</a:t>
            </a:r>
            <a:endParaRPr lang="en-US" sz="1100" dirty="0"/>
          </a:p>
          <a:p>
            <a:pPr indent="0" marL="0">
              <a:lnSpc>
                <a:spcPct val="100000"/>
              </a:lnSpc>
              <a:buNone/>
            </a:pPr>
            <a:r>
              <a:rPr lang="en-US" sz="1000" dirty="0">
                <a:solidFill>
                  <a:schemeClr val="tx1"/>
                </a:solidFill>
              </a:rPr>
              <a:t>cell type vs donor, age, sex, PMI</a:t>
            </a:r>
            <a:endParaRPr lang="en-US" sz="1100" dirty="0"/>
          </a:p>
        </p:txBody>
      </p:sp>
      <p:sp>
        <p:nvSpPr>
          <p:cNvPr id="37" name="flow scVelo velocity"/>
          <p:cNvSpPr/>
          <p:nvPr/>
        </p:nvSpPr>
        <p:spPr>
          <a:xfrm>
            <a:off x="3099816" y="3886200"/>
            <a:ext cx="1211580" cy="731520"/>
          </a:xfrm>
          <a:prstGeom prst="roundRect">
            <a:avLst>
              <a:gd name="adj" fmla="val 10000"/>
            </a:avLst>
          </a:prstGeom>
          <a:solidFill>
            <a:srgbClr val="EEF0F8"/>
          </a:solidFill>
          <a:ln w="12700">
            <a:solidFill>
              <a:srgbClr val="EEF0F8"/>
            </a:solidFill>
            <a:prstDash val="solid"/>
          </a:ln>
        </p:spPr>
      </p:sp>
      <p:sp>
        <p:nvSpPr>
          <p:cNvPr id="38" name="flow text scVelo velocity"/>
          <p:cNvSpPr txBox="1"/>
          <p:nvPr/>
        </p:nvSpPr>
        <p:spPr>
          <a:xfrm>
            <a:off x="3172968"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scVelo velocity</a:t>
            </a:r>
            <a:endParaRPr lang="en-US" sz="1100" dirty="0"/>
          </a:p>
          <a:p>
            <a:pPr indent="0" marL="0">
              <a:lnSpc>
                <a:spcPct val="100000"/>
              </a:lnSpc>
              <a:buNone/>
            </a:pPr>
            <a:r>
              <a:rPr lang="en-US" sz="1000" dirty="0">
                <a:solidFill>
                  <a:schemeClr val="tx1"/>
                </a:solidFill>
              </a:rPr>
              <a:t>spliced vs unspliced, per donor</a:t>
            </a:r>
            <a:endParaRPr lang="en-US" sz="1100" dirty="0"/>
          </a:p>
        </p:txBody>
      </p:sp>
      <p:sp>
        <p:nvSpPr>
          <p:cNvPr id="39" name="flow CellPhoneDB v2"/>
          <p:cNvSpPr/>
          <p:nvPr/>
        </p:nvSpPr>
        <p:spPr>
          <a:xfrm>
            <a:off x="4421124" y="3886200"/>
            <a:ext cx="1211580" cy="731520"/>
          </a:xfrm>
          <a:prstGeom prst="roundRect">
            <a:avLst>
              <a:gd name="adj" fmla="val 10000"/>
            </a:avLst>
          </a:prstGeom>
          <a:solidFill>
            <a:srgbClr val="EEF0F8"/>
          </a:solidFill>
          <a:ln w="12700">
            <a:solidFill>
              <a:srgbClr val="EEF0F8"/>
            </a:solidFill>
            <a:prstDash val="solid"/>
          </a:ln>
        </p:spPr>
      </p:sp>
      <p:sp>
        <p:nvSpPr>
          <p:cNvPr id="40" name="flow text CellPhoneDB v2"/>
          <p:cNvSpPr txBox="1"/>
          <p:nvPr/>
        </p:nvSpPr>
        <p:spPr>
          <a:xfrm>
            <a:off x="4494276"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CellPhoneDB v2</a:t>
            </a:r>
            <a:endParaRPr lang="en-US" sz="1100" dirty="0"/>
          </a:p>
          <a:p>
            <a:pPr indent="0" marL="0">
              <a:lnSpc>
                <a:spcPct val="100000"/>
              </a:lnSpc>
              <a:buNone/>
            </a:pPr>
            <a:r>
              <a:rPr lang="en-US" sz="1000" dirty="0">
                <a:solidFill>
                  <a:schemeClr val="tx1"/>
                </a:solidFill>
              </a:rPr>
              <a:t>ligand-receptor pairs; 1000 permutations</a:t>
            </a:r>
            <a:endParaRPr lang="en-US" sz="1100" dirty="0"/>
          </a:p>
        </p:txBody>
      </p:sp>
      <p:sp>
        <p:nvSpPr>
          <p:cNvPr id="41" name="flow UTMOST"/>
          <p:cNvSpPr/>
          <p:nvPr/>
        </p:nvSpPr>
        <p:spPr>
          <a:xfrm>
            <a:off x="5742432" y="3886200"/>
            <a:ext cx="1211580" cy="731520"/>
          </a:xfrm>
          <a:prstGeom prst="roundRect">
            <a:avLst>
              <a:gd name="adj" fmla="val 10000"/>
            </a:avLst>
          </a:prstGeom>
          <a:solidFill>
            <a:srgbClr val="EEF0F8"/>
          </a:solidFill>
          <a:ln w="12700">
            <a:solidFill>
              <a:srgbClr val="EEF0F8"/>
            </a:solidFill>
            <a:prstDash val="solid"/>
          </a:ln>
        </p:spPr>
      </p:sp>
      <p:sp>
        <p:nvSpPr>
          <p:cNvPr id="42" name="flow text UTMOST"/>
          <p:cNvSpPr txBox="1"/>
          <p:nvPr/>
        </p:nvSpPr>
        <p:spPr>
          <a:xfrm>
            <a:off x="5815584"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UTMOST</a:t>
            </a:r>
            <a:endParaRPr lang="en-US" sz="1100" dirty="0"/>
          </a:p>
          <a:p>
            <a:pPr indent="0" marL="0">
              <a:lnSpc>
                <a:spcPct val="100000"/>
              </a:lnSpc>
              <a:buNone/>
            </a:pPr>
            <a:r>
              <a:rPr lang="en-US" sz="1000" dirty="0">
                <a:solidFill>
                  <a:schemeClr val="tx1"/>
                </a:solidFill>
              </a:rPr>
              <a:t>GWAS → genes → cell-type z-scores</a:t>
            </a:r>
            <a:endParaRPr lang="en-US" sz="1100" dirty="0"/>
          </a:p>
        </p:txBody>
      </p:sp>
      <p:sp>
        <p:nvSpPr>
          <p:cNvPr id="43" name="flow RNAscope"/>
          <p:cNvSpPr/>
          <p:nvPr/>
        </p:nvSpPr>
        <p:spPr>
          <a:xfrm>
            <a:off x="7063740" y="3886200"/>
            <a:ext cx="1211580" cy="731520"/>
          </a:xfrm>
          <a:prstGeom prst="roundRect">
            <a:avLst>
              <a:gd name="adj" fmla="val 10000"/>
            </a:avLst>
          </a:prstGeom>
          <a:solidFill>
            <a:srgbClr val="EEF0F8"/>
          </a:solidFill>
          <a:ln w="12700">
            <a:solidFill>
              <a:srgbClr val="EEF0F8"/>
            </a:solidFill>
            <a:prstDash val="solid"/>
          </a:ln>
        </p:spPr>
      </p:sp>
      <p:sp>
        <p:nvSpPr>
          <p:cNvPr id="44" name="flow text RNAscope"/>
          <p:cNvSpPr txBox="1"/>
          <p:nvPr/>
        </p:nvSpPr>
        <p:spPr>
          <a:xfrm>
            <a:off x="7136892" y="3886200"/>
            <a:ext cx="1065276" cy="731520"/>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RNAscope</a:t>
            </a:r>
            <a:endParaRPr lang="en-US" sz="1100" dirty="0"/>
          </a:p>
          <a:p>
            <a:pPr indent="0" marL="0">
              <a:lnSpc>
                <a:spcPct val="100000"/>
              </a:lnSpc>
              <a:buNone/>
            </a:pPr>
            <a:r>
              <a:rPr lang="en-US" sz="1000" dirty="0">
                <a:solidFill>
                  <a:schemeClr val="tx1"/>
                </a:solidFill>
              </a:rPr>
              <a:t>validation in an independent cohort</a:t>
            </a:r>
            <a:endParaRPr lang="en-US" sz="1100" dirty="0"/>
          </a:p>
        </p:txBody>
      </p:sp>
      <p:sp>
        <p:nvSpPr>
          <p:cNvPr id="45" name="chip Proteomics (same tissue)"/>
          <p:cNvSpPr/>
          <p:nvPr/>
        </p:nvSpPr>
        <p:spPr>
          <a:xfrm>
            <a:off x="457200" y="4690872"/>
            <a:ext cx="2194560" cy="292608"/>
          </a:xfrm>
          <a:prstGeom prst="roundRect">
            <a:avLst>
              <a:gd name="adj" fmla="val 50000"/>
            </a:avLst>
          </a:prstGeom>
          <a:solidFill>
            <a:srgbClr val="17A398"/>
          </a:solidFill>
          <a:ln w="12700">
            <a:solidFill>
              <a:srgbClr val="17A398"/>
            </a:solidFill>
            <a:prstDash val="solid"/>
          </a:ln>
        </p:spPr>
      </p:sp>
      <p:sp>
        <p:nvSpPr>
          <p:cNvPr id="46" name="chip text Proteomics (same tissue)"/>
          <p:cNvSpPr txBox="1"/>
          <p:nvPr/>
        </p:nvSpPr>
        <p:spPr>
          <a:xfrm>
            <a:off x="457200" y="4690872"/>
            <a:ext cx="2194560" cy="292608"/>
          </a:xfrm>
          <a:prstGeom prst="rect">
            <a:avLst/>
          </a:prstGeom>
          <a:noFill/>
          <a:ln/>
        </p:spPr>
        <p:txBody>
          <a:bodyPr wrap="square" lIns="0" tIns="0" rIns="0" bIns="0" rtlCol="0" anchor="ctr"/>
          <a:lstStyle/>
          <a:p>
            <a:pPr algn="ctr" indent="0" marL="0">
              <a:buNone/>
            </a:pPr>
            <a:r>
              <a:rPr lang="en-US" sz="1100" b="1" dirty="0">
                <a:solidFill>
                  <a:schemeClr val="bg1"/>
                </a:solidFill>
              </a:rPr>
              <a:t>Proteomics (same tissue)</a:t>
            </a:r>
            <a:endParaRPr lang="en-US" sz="1100" dirty="0"/>
          </a:p>
        </p:txBody>
      </p:sp>
      <p:sp>
        <p:nvSpPr>
          <p:cNvPr id="47" name="flow Label-free LC-MS/MS"/>
          <p:cNvSpPr/>
          <p:nvPr/>
        </p:nvSpPr>
        <p:spPr>
          <a:xfrm>
            <a:off x="457200" y="5029200"/>
            <a:ext cx="1828800" cy="713232"/>
          </a:xfrm>
          <a:prstGeom prst="roundRect">
            <a:avLst>
              <a:gd name="adj" fmla="val 10256"/>
            </a:avLst>
          </a:prstGeom>
          <a:solidFill>
            <a:srgbClr val="DDF2EF"/>
          </a:solidFill>
          <a:ln w="12700">
            <a:solidFill>
              <a:srgbClr val="DDF2EF"/>
            </a:solidFill>
            <a:prstDash val="solid"/>
          </a:ln>
        </p:spPr>
      </p:sp>
      <p:sp>
        <p:nvSpPr>
          <p:cNvPr id="48" name="flow text Label-free LC-MS/MS"/>
          <p:cNvSpPr txBox="1"/>
          <p:nvPr/>
        </p:nvSpPr>
        <p:spPr>
          <a:xfrm>
            <a:off x="530352" y="5029200"/>
            <a:ext cx="1682496" cy="713232"/>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Label-free LC-MS/MS</a:t>
            </a:r>
            <a:endParaRPr lang="en-US" sz="1100" dirty="0"/>
          </a:p>
          <a:p>
            <a:pPr indent="0" marL="0">
              <a:lnSpc>
                <a:spcPct val="100000"/>
              </a:lnSpc>
              <a:buNone/>
            </a:pPr>
            <a:r>
              <a:rPr lang="en-US" sz="1000" dirty="0">
                <a:solidFill>
                  <a:schemeClr val="tx1"/>
                </a:solidFill>
              </a:rPr>
              <a:t>35,964 peptides → 2534 proteins across all 12 donors</a:t>
            </a:r>
            <a:endParaRPr lang="en-US" sz="1100" dirty="0"/>
          </a:p>
        </p:txBody>
      </p:sp>
      <p:sp>
        <p:nvSpPr>
          <p:cNvPr id="49" name="arrow"/>
          <p:cNvSpPr/>
          <p:nvPr/>
        </p:nvSpPr>
        <p:spPr>
          <a:xfrm>
            <a:off x="2286000" y="5385816"/>
            <a:ext cx="167335" cy="0"/>
          </a:xfrm>
          <a:prstGeom prst="line">
            <a:avLst/>
          </a:prstGeom>
          <a:noFill/>
          <a:ln w="19050">
            <a:solidFill>
              <a:srgbClr val="6B7190"/>
            </a:solidFill>
            <a:prstDash val="solid"/>
            <a:tailEnd type="triangle"/>
          </a:ln>
        </p:spPr>
      </p:sp>
      <p:sp>
        <p:nvSpPr>
          <p:cNvPr id="50" name="flow Differential abundance"/>
          <p:cNvSpPr/>
          <p:nvPr/>
        </p:nvSpPr>
        <p:spPr>
          <a:xfrm>
            <a:off x="2453335" y="5029200"/>
            <a:ext cx="1828800" cy="713232"/>
          </a:xfrm>
          <a:prstGeom prst="roundRect">
            <a:avLst>
              <a:gd name="adj" fmla="val 10256"/>
            </a:avLst>
          </a:prstGeom>
          <a:solidFill>
            <a:srgbClr val="DDF2EF"/>
          </a:solidFill>
          <a:ln w="12700">
            <a:solidFill>
              <a:srgbClr val="DDF2EF"/>
            </a:solidFill>
            <a:prstDash val="solid"/>
          </a:ln>
        </p:spPr>
      </p:sp>
      <p:sp>
        <p:nvSpPr>
          <p:cNvPr id="51" name="flow text Differential abundance"/>
          <p:cNvSpPr txBox="1"/>
          <p:nvPr/>
        </p:nvSpPr>
        <p:spPr>
          <a:xfrm>
            <a:off x="2526487" y="5029200"/>
            <a:ext cx="1682496" cy="713232"/>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Differential abundance</a:t>
            </a:r>
            <a:endParaRPr lang="en-US" sz="1100" dirty="0"/>
          </a:p>
          <a:p>
            <a:pPr indent="0" marL="0">
              <a:lnSpc>
                <a:spcPct val="100000"/>
              </a:lnSpc>
              <a:buNone/>
            </a:pPr>
            <a:r>
              <a:rPr lang="en-US" sz="1000" dirty="0">
                <a:solidFill>
                  <a:schemeClr val="tx1"/>
                </a:solidFill>
              </a:rPr>
              <a:t>Two-sided t test, P &lt; 0.05 uncorrected → 22 proteins (13 up, 9 down)</a:t>
            </a:r>
            <a:endParaRPr lang="en-US" sz="1100" dirty="0"/>
          </a:p>
        </p:txBody>
      </p:sp>
      <p:sp>
        <p:nvSpPr>
          <p:cNvPr id="52" name="arrow"/>
          <p:cNvSpPr/>
          <p:nvPr/>
        </p:nvSpPr>
        <p:spPr>
          <a:xfrm>
            <a:off x="4282135" y="5385816"/>
            <a:ext cx="167335" cy="0"/>
          </a:xfrm>
          <a:prstGeom prst="line">
            <a:avLst/>
          </a:prstGeom>
          <a:noFill/>
          <a:ln w="19050">
            <a:solidFill>
              <a:srgbClr val="6B7190"/>
            </a:solidFill>
            <a:prstDash val="solid"/>
            <a:tailEnd type="triangle"/>
          </a:ln>
        </p:spPr>
      </p:sp>
      <p:sp>
        <p:nvSpPr>
          <p:cNvPr id="53" name="flow WGCNA co-expression"/>
          <p:cNvSpPr/>
          <p:nvPr/>
        </p:nvSpPr>
        <p:spPr>
          <a:xfrm>
            <a:off x="4449470" y="5029200"/>
            <a:ext cx="1828800" cy="713232"/>
          </a:xfrm>
          <a:prstGeom prst="roundRect">
            <a:avLst>
              <a:gd name="adj" fmla="val 10256"/>
            </a:avLst>
          </a:prstGeom>
          <a:solidFill>
            <a:srgbClr val="DDF2EF"/>
          </a:solidFill>
          <a:ln w="12700">
            <a:solidFill>
              <a:srgbClr val="DDF2EF"/>
            </a:solidFill>
            <a:prstDash val="solid"/>
          </a:ln>
        </p:spPr>
      </p:sp>
      <p:sp>
        <p:nvSpPr>
          <p:cNvPr id="54" name="flow text WGCNA co-expression"/>
          <p:cNvSpPr txBox="1"/>
          <p:nvPr/>
        </p:nvSpPr>
        <p:spPr>
          <a:xfrm>
            <a:off x="4522622" y="5029200"/>
            <a:ext cx="1682496" cy="713232"/>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WGCNA co-expression</a:t>
            </a:r>
            <a:endParaRPr lang="en-US" sz="1100" dirty="0"/>
          </a:p>
          <a:p>
            <a:pPr indent="0" marL="0">
              <a:lnSpc>
                <a:spcPct val="100000"/>
              </a:lnSpc>
              <a:buNone/>
            </a:pPr>
            <a:r>
              <a:rPr lang="en-US" sz="1000" dirty="0">
                <a:solidFill>
                  <a:schemeClr val="tx1"/>
                </a:solidFill>
              </a:rPr>
              <a:t>blockwiseModules, soft threshold 12 (R² ≈ 0.9) → 14 modules, eigengenes PD vs HC</a:t>
            </a:r>
            <a:endParaRPr lang="en-US" sz="1100" dirty="0"/>
          </a:p>
        </p:txBody>
      </p:sp>
      <p:sp>
        <p:nvSpPr>
          <p:cNvPr id="55" name="arrow"/>
          <p:cNvSpPr/>
          <p:nvPr/>
        </p:nvSpPr>
        <p:spPr>
          <a:xfrm>
            <a:off x="6278270" y="5385816"/>
            <a:ext cx="167335" cy="0"/>
          </a:xfrm>
          <a:prstGeom prst="line">
            <a:avLst/>
          </a:prstGeom>
          <a:noFill/>
          <a:ln w="19050">
            <a:solidFill>
              <a:srgbClr val="6B7190"/>
            </a:solidFill>
            <a:prstDash val="solid"/>
            <a:tailEnd type="triangle"/>
          </a:ln>
        </p:spPr>
      </p:sp>
      <p:sp>
        <p:nvSpPr>
          <p:cNvPr id="56" name="flow Module → cell type"/>
          <p:cNvSpPr/>
          <p:nvPr/>
        </p:nvSpPr>
        <p:spPr>
          <a:xfrm>
            <a:off x="6445606" y="5029200"/>
            <a:ext cx="1828800" cy="713232"/>
          </a:xfrm>
          <a:prstGeom prst="roundRect">
            <a:avLst>
              <a:gd name="adj" fmla="val 10256"/>
            </a:avLst>
          </a:prstGeom>
          <a:solidFill>
            <a:srgbClr val="DDF2EF"/>
          </a:solidFill>
          <a:ln w="12700">
            <a:solidFill>
              <a:srgbClr val="DDF2EF"/>
            </a:solidFill>
            <a:prstDash val="solid"/>
          </a:ln>
        </p:spPr>
      </p:sp>
      <p:sp>
        <p:nvSpPr>
          <p:cNvPr id="57" name="flow text Module → cell type"/>
          <p:cNvSpPr txBox="1"/>
          <p:nvPr/>
        </p:nvSpPr>
        <p:spPr>
          <a:xfrm>
            <a:off x="6518758" y="5029200"/>
            <a:ext cx="1682496" cy="713232"/>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Module → cell type</a:t>
            </a:r>
            <a:endParaRPr lang="en-US" sz="1100" dirty="0"/>
          </a:p>
          <a:p>
            <a:pPr indent="0" marL="0">
              <a:lnSpc>
                <a:spcPct val="100000"/>
              </a:lnSpc>
              <a:buNone/>
            </a:pPr>
            <a:r>
              <a:rPr lang="en-US" sz="1000" dirty="0">
                <a:solidFill>
                  <a:schemeClr val="tx1"/>
                </a:solidFill>
              </a:rPr>
              <a:t>One-tailed Fisher exact test vs snRNA-seq marker lists, Bonferroni; GO label per module</a:t>
            </a:r>
            <a:endParaRPr lang="en-US" sz="1100" dirty="0"/>
          </a:p>
        </p:txBody>
      </p:sp>
      <p:sp>
        <p:nvSpPr>
          <p:cNvPr id="58" name="chip Pathology"/>
          <p:cNvSpPr/>
          <p:nvPr/>
        </p:nvSpPr>
        <p:spPr>
          <a:xfrm>
            <a:off x="457200" y="5943600"/>
            <a:ext cx="1188720" cy="292608"/>
          </a:xfrm>
          <a:prstGeom prst="roundRect">
            <a:avLst>
              <a:gd name="adj" fmla="val 50000"/>
            </a:avLst>
          </a:prstGeom>
          <a:solidFill>
            <a:srgbClr val="F2A541"/>
          </a:solidFill>
          <a:ln w="12700">
            <a:solidFill>
              <a:srgbClr val="F2A541"/>
            </a:solidFill>
            <a:prstDash val="solid"/>
          </a:ln>
        </p:spPr>
      </p:sp>
      <p:sp>
        <p:nvSpPr>
          <p:cNvPr id="59" name="chip text Pathology"/>
          <p:cNvSpPr txBox="1"/>
          <p:nvPr/>
        </p:nvSpPr>
        <p:spPr>
          <a:xfrm>
            <a:off x="457200" y="5943600"/>
            <a:ext cx="1188720" cy="292608"/>
          </a:xfrm>
          <a:prstGeom prst="rect">
            <a:avLst/>
          </a:prstGeom>
          <a:noFill/>
          <a:ln/>
        </p:spPr>
        <p:txBody>
          <a:bodyPr wrap="square" lIns="0" tIns="0" rIns="0" bIns="0" rtlCol="0" anchor="ctr"/>
          <a:lstStyle/>
          <a:p>
            <a:pPr algn="ctr" indent="0" marL="0">
              <a:buNone/>
            </a:pPr>
            <a:r>
              <a:rPr lang="en-US" sz="1100" b="1" dirty="0">
                <a:solidFill>
                  <a:schemeClr val="bg1"/>
                </a:solidFill>
              </a:rPr>
              <a:t>Pathology</a:t>
            </a:r>
            <a:endParaRPr lang="en-US" sz="1100" dirty="0"/>
          </a:p>
        </p:txBody>
      </p:sp>
      <p:sp>
        <p:nvSpPr>
          <p:cNvPr id="60" name="flow pS129 α-synuclein IHC"/>
          <p:cNvSpPr/>
          <p:nvPr/>
        </p:nvSpPr>
        <p:spPr>
          <a:xfrm>
            <a:off x="1737360" y="5806440"/>
            <a:ext cx="2067763" cy="566928"/>
          </a:xfrm>
          <a:prstGeom prst="roundRect">
            <a:avLst>
              <a:gd name="adj" fmla="val 12903"/>
            </a:avLst>
          </a:prstGeom>
          <a:solidFill>
            <a:srgbClr val="FDEDD3"/>
          </a:solidFill>
          <a:ln w="12700">
            <a:solidFill>
              <a:srgbClr val="FDEDD3"/>
            </a:solidFill>
            <a:prstDash val="solid"/>
          </a:ln>
        </p:spPr>
      </p:sp>
      <p:sp>
        <p:nvSpPr>
          <p:cNvPr id="61" name="flow text pS129 α-synuclein IHC"/>
          <p:cNvSpPr txBox="1"/>
          <p:nvPr/>
        </p:nvSpPr>
        <p:spPr>
          <a:xfrm>
            <a:off x="1810512" y="5806440"/>
            <a:ext cx="1921459" cy="566928"/>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pS129 α-synuclein IHC</a:t>
            </a:r>
            <a:endParaRPr lang="en-US" sz="1100" dirty="0"/>
          </a:p>
          <a:p>
            <a:pPr indent="0" marL="0">
              <a:lnSpc>
                <a:spcPct val="100000"/>
              </a:lnSpc>
              <a:buNone/>
            </a:pPr>
            <a:r>
              <a:rPr lang="en-US" sz="1000" dirty="0">
                <a:solidFill>
                  <a:schemeClr val="tx1"/>
                </a:solidFill>
              </a:rPr>
              <a:t>Lewy bodies + neurites counted → pathology score per brain</a:t>
            </a:r>
            <a:endParaRPr lang="en-US" sz="1100" dirty="0"/>
          </a:p>
        </p:txBody>
      </p:sp>
      <p:sp>
        <p:nvSpPr>
          <p:cNvPr id="62" name="arrow"/>
          <p:cNvSpPr/>
          <p:nvPr/>
        </p:nvSpPr>
        <p:spPr>
          <a:xfrm>
            <a:off x="3805123" y="6089904"/>
            <a:ext cx="167335" cy="0"/>
          </a:xfrm>
          <a:prstGeom prst="line">
            <a:avLst/>
          </a:prstGeom>
          <a:noFill/>
          <a:ln w="19050">
            <a:solidFill>
              <a:srgbClr val="6B7190"/>
            </a:solidFill>
            <a:prstDash val="solid"/>
            <a:tailEnd type="triangle"/>
          </a:ln>
        </p:spPr>
      </p:sp>
      <p:sp>
        <p:nvSpPr>
          <p:cNvPr id="63" name="flow PD vs HC"/>
          <p:cNvSpPr/>
          <p:nvPr/>
        </p:nvSpPr>
        <p:spPr>
          <a:xfrm>
            <a:off x="3972458" y="5806440"/>
            <a:ext cx="2067763" cy="566928"/>
          </a:xfrm>
          <a:prstGeom prst="roundRect">
            <a:avLst>
              <a:gd name="adj" fmla="val 12903"/>
            </a:avLst>
          </a:prstGeom>
          <a:solidFill>
            <a:srgbClr val="FDEDD3"/>
          </a:solidFill>
          <a:ln w="12700">
            <a:solidFill>
              <a:srgbClr val="FDEDD3"/>
            </a:solidFill>
            <a:prstDash val="solid"/>
          </a:ln>
        </p:spPr>
      </p:sp>
      <p:sp>
        <p:nvSpPr>
          <p:cNvPr id="64" name="flow text PD vs HC"/>
          <p:cNvSpPr txBox="1"/>
          <p:nvPr/>
        </p:nvSpPr>
        <p:spPr>
          <a:xfrm>
            <a:off x="4045610" y="5806440"/>
            <a:ext cx="1921459" cy="566928"/>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PD vs HC</a:t>
            </a:r>
            <a:endParaRPr lang="en-US" sz="1100" dirty="0"/>
          </a:p>
          <a:p>
            <a:pPr indent="0" marL="0">
              <a:lnSpc>
                <a:spcPct val="100000"/>
              </a:lnSpc>
              <a:buNone/>
            </a:pPr>
            <a:r>
              <a:rPr lang="en-US" sz="1000" dirty="0">
                <a:solidFill>
                  <a:schemeClr val="tx1"/>
                </a:solidFill>
              </a:rPr>
              <a:t>Unpaired t test (P = 0.03); score not linked to RNA quality</a:t>
            </a:r>
            <a:endParaRPr lang="en-US" sz="1100" dirty="0"/>
          </a:p>
        </p:txBody>
      </p:sp>
      <p:sp>
        <p:nvSpPr>
          <p:cNvPr id="65" name="arrow"/>
          <p:cNvSpPr/>
          <p:nvPr/>
        </p:nvSpPr>
        <p:spPr>
          <a:xfrm>
            <a:off x="6040222" y="6089904"/>
            <a:ext cx="167335" cy="0"/>
          </a:xfrm>
          <a:prstGeom prst="line">
            <a:avLst/>
          </a:prstGeom>
          <a:noFill/>
          <a:ln w="19050">
            <a:solidFill>
              <a:srgbClr val="6B7190"/>
            </a:solidFill>
            <a:prstDash val="solid"/>
            <a:tailEnd type="triangle"/>
          </a:ln>
        </p:spPr>
      </p:sp>
      <p:sp>
        <p:nvSpPr>
          <p:cNvPr id="66" name="flow Correlate with expression"/>
          <p:cNvSpPr/>
          <p:nvPr/>
        </p:nvSpPr>
        <p:spPr>
          <a:xfrm>
            <a:off x="6207557" y="5806440"/>
            <a:ext cx="2067763" cy="566928"/>
          </a:xfrm>
          <a:prstGeom prst="roundRect">
            <a:avLst>
              <a:gd name="adj" fmla="val 12903"/>
            </a:avLst>
          </a:prstGeom>
          <a:solidFill>
            <a:srgbClr val="FDEDD3"/>
          </a:solidFill>
          <a:ln w="12700">
            <a:solidFill>
              <a:srgbClr val="FDEDD3"/>
            </a:solidFill>
            <a:prstDash val="solid"/>
          </a:ln>
        </p:spPr>
      </p:sp>
      <p:sp>
        <p:nvSpPr>
          <p:cNvPr id="67" name="flow text Correlate with expression"/>
          <p:cNvSpPr txBox="1"/>
          <p:nvPr/>
        </p:nvSpPr>
        <p:spPr>
          <a:xfrm>
            <a:off x="6280709" y="5806440"/>
            <a:ext cx="1921459" cy="566928"/>
          </a:xfrm>
          <a:prstGeom prst="rect">
            <a:avLst/>
          </a:prstGeom>
          <a:noFill/>
          <a:ln/>
        </p:spPr>
        <p:txBody>
          <a:bodyPr wrap="square" lIns="0" tIns="0" rIns="0" bIns="0" rtlCol="0" anchor="ctr"/>
          <a:lstStyle/>
          <a:p>
            <a:pPr indent="0" marL="0">
              <a:lnSpc>
                <a:spcPct val="100000"/>
              </a:lnSpc>
              <a:buNone/>
            </a:pPr>
            <a:r>
              <a:rPr lang="en-US" sz="1100" b="1" dirty="0">
                <a:solidFill>
                  <a:schemeClr val="tx1"/>
                </a:solidFill>
              </a:rPr>
              <a:t>Correlate with expression</a:t>
            </a:r>
            <a:endParaRPr lang="en-US" sz="1100" dirty="0"/>
          </a:p>
          <a:p>
            <a:pPr indent="0" marL="0">
              <a:lnSpc>
                <a:spcPct val="100000"/>
              </a:lnSpc>
              <a:buNone/>
            </a:pPr>
            <a:r>
              <a:rPr lang="en-US" sz="1000" dirty="0">
                <a:solidFill>
                  <a:schemeClr val="tx1"/>
                </a:solidFill>
              </a:rPr>
              <a:t>Pathology score vs chaperone genes in excitatory neurons (R² per gene)</a:t>
            </a:r>
            <a:endParaRPr lang="en-US" sz="1100" dirty="0"/>
          </a:p>
        </p:txBody>
      </p:sp>
      <p:sp>
        <p:nvSpPr>
          <p:cNvPr id="68" name="stats card"/>
          <p:cNvSpPr/>
          <p:nvPr/>
        </p:nvSpPr>
        <p:spPr>
          <a:xfrm>
            <a:off x="8503920" y="1097280"/>
            <a:ext cx="3227832" cy="5276088"/>
          </a:xfrm>
          <a:prstGeom prst="roundRect">
            <a:avLst>
              <a:gd name="adj" fmla="val 2833"/>
            </a:avLst>
          </a:prstGeom>
          <a:solidFill>
            <a:srgbClr val="EEF0F8"/>
          </a:solidFill>
          <a:ln w="12700">
            <a:solidFill>
              <a:srgbClr val="EEF0F8"/>
            </a:solidFill>
            <a:prstDash val="solid"/>
          </a:ln>
        </p:spPr>
      </p:sp>
      <p:sp>
        <p:nvSpPr>
          <p:cNvPr id="69" name="icon circle question"/>
          <p:cNvSpPr/>
          <p:nvPr/>
        </p:nvSpPr>
        <p:spPr>
          <a:xfrm>
            <a:off x="8641080" y="1207008"/>
            <a:ext cx="384048" cy="384048"/>
          </a:xfrm>
          <a:prstGeom prst="ellipse">
            <a:avLst/>
          </a:prstGeom>
          <a:solidFill>
            <a:srgbClr val="2B2D5B"/>
          </a:solidFill>
          <a:ln w="12700">
            <a:solidFill>
              <a:srgbClr val="2B2D5B"/>
            </a:solidFill>
            <a:prstDash val="solid"/>
          </a:ln>
        </p:spPr>
      </p:sp>
      <p:pic>
        <p:nvPicPr>
          <p:cNvPr id="70" name="icon question" descr="/tmp/claude-0/-home-user-owner/e66306d4-2675-5ec2-99fe-5e24f3a64605/scratchpad/build/img/ic_question.png">    </p:cNvPr>
          <p:cNvPicPr>
            <a:picLocks noChangeAspect="1"/>
          </p:cNvPicPr>
          <p:nvPr/>
        </p:nvPicPr>
        <p:blipFill>
          <a:blip r:embed="rId1"/>
          <a:stretch>
            <a:fillRect/>
          </a:stretch>
        </p:blipFill>
        <p:spPr>
          <a:xfrm>
            <a:off x="8740932" y="1306860"/>
            <a:ext cx="184343" cy="184343"/>
          </a:xfrm>
          <a:prstGeom prst="rect">
            <a:avLst/>
          </a:prstGeom>
        </p:spPr>
      </p:pic>
      <p:sp>
        <p:nvSpPr>
          <p:cNvPr id="71" name="why heading"/>
          <p:cNvSpPr txBox="1"/>
          <p:nvPr/>
        </p:nvSpPr>
        <p:spPr>
          <a:xfrm>
            <a:off x="9125712" y="1207008"/>
            <a:ext cx="2560320" cy="384048"/>
          </a:xfrm>
          <a:prstGeom prst="rect">
            <a:avLst/>
          </a:prstGeom>
          <a:noFill/>
          <a:ln/>
        </p:spPr>
        <p:txBody>
          <a:bodyPr wrap="square" lIns="0" tIns="0" rIns="0" bIns="0" rtlCol="0" anchor="ctr"/>
          <a:lstStyle/>
          <a:p>
            <a:pPr indent="0" marL="0">
              <a:buNone/>
            </a:pPr>
            <a:r>
              <a:rPr lang="en-US" sz="1500" b="1" dirty="0">
                <a:solidFill>
                  <a:schemeClr val="tx2"/>
                </a:solidFill>
              </a:rPr>
              <a:t>Why these methods?</a:t>
            </a:r>
            <a:endParaRPr lang="en-US" sz="1500" dirty="0"/>
          </a:p>
        </p:txBody>
      </p:sp>
      <p:sp>
        <p:nvSpPr>
          <p:cNvPr id="72" name="why bullets"/>
          <p:cNvSpPr txBox="1"/>
          <p:nvPr/>
        </p:nvSpPr>
        <p:spPr>
          <a:xfrm>
            <a:off x="8641080" y="1691640"/>
            <a:ext cx="2971800" cy="461772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050" b="1" dirty="0">
                <a:solidFill>
                  <a:schemeClr val="tx1"/>
                </a:solidFill>
              </a:rPr>
              <a:t>Pre-mRNA reference: </a:t>
            </a:r>
            <a:pPr indent="0" marL="0">
              <a:lnSpc>
                <a:spcPct val="105000"/>
              </a:lnSpc>
              <a:spcAft>
                <a:spcPts val="400"/>
              </a:spcAft>
              <a:buNone/>
            </a:pPr>
            <a:r>
              <a:rPr lang="en-US" sz="1050" dirty="0">
                <a:solidFill>
                  <a:schemeClr val="tx1"/>
                </a:solidFill>
              </a:rPr>
              <a:t>nuclear RNA is largely unspliced; a standard reference would discard most reads.</a:t>
            </a:r>
            <a:endParaRPr lang="en-US" sz="1050" dirty="0"/>
          </a:p>
          <a:p>
            <a:pPr marL="177800" indent="-177800">
              <a:lnSpc>
                <a:spcPct val="105000"/>
              </a:lnSpc>
              <a:spcAft>
                <a:spcPts val="400"/>
              </a:spcAft>
              <a:buSzPct val="100000"/>
              <a:buChar char="•"/>
            </a:pPr>
            <a:r>
              <a:rPr lang="en-US" sz="1050" b="1" dirty="0">
                <a:solidFill>
                  <a:schemeClr val="tx1"/>
                </a:solidFill>
              </a:rPr>
              <a:t>Anchor integration: </a:t>
            </a:r>
            <a:pPr indent="0" marL="0">
              <a:lnSpc>
                <a:spcPct val="105000"/>
              </a:lnSpc>
              <a:spcAft>
                <a:spcPts val="400"/>
              </a:spcAft>
              <a:buNone/>
            </a:pPr>
            <a:r>
              <a:rPr lang="en-US" sz="1050" dirty="0">
                <a:solidFill>
                  <a:schemeClr val="tx1"/>
                </a:solidFill>
              </a:rPr>
              <a:t>removes donor and batch effects while aligning shared cell types, so clusters reflect cell identity (&gt;56% of variance) rather than patient (5.8%).</a:t>
            </a:r>
            <a:endParaRPr lang="en-US" sz="1050" dirty="0"/>
          </a:p>
          <a:p>
            <a:pPr marL="177800" indent="-177800">
              <a:lnSpc>
                <a:spcPct val="105000"/>
              </a:lnSpc>
              <a:spcAft>
                <a:spcPts val="400"/>
              </a:spcAft>
              <a:buSzPct val="100000"/>
              <a:buChar char="•"/>
            </a:pPr>
            <a:r>
              <a:rPr lang="en-US" sz="1050" b="1" dirty="0">
                <a:solidFill>
                  <a:schemeClr val="tx1"/>
                </a:solidFill>
              </a:rPr>
              <a:t>Wilcoxon rank-sum: </a:t>
            </a:r>
            <a:pPr indent="0" marL="0">
              <a:lnSpc>
                <a:spcPct val="105000"/>
              </a:lnSpc>
              <a:spcAft>
                <a:spcPts val="400"/>
              </a:spcAft>
              <a:buNone/>
            </a:pPr>
            <a:r>
              <a:rPr lang="en-US" sz="1050" dirty="0">
                <a:solidFill>
                  <a:schemeClr val="tx1"/>
                </a:solidFill>
              </a:rPr>
              <a:t>non-parametric, no normality assumption for sparse, zero-inflated counts; Seurat default and the same procedure as the AD atlas they compare to.</a:t>
            </a:r>
            <a:endParaRPr lang="en-US" sz="1050" dirty="0"/>
          </a:p>
          <a:p>
            <a:pPr marL="177800" indent="-177800">
              <a:lnSpc>
                <a:spcPct val="105000"/>
              </a:lnSpc>
              <a:spcAft>
                <a:spcPts val="400"/>
              </a:spcAft>
              <a:buSzPct val="100000"/>
              <a:buChar char="•"/>
            </a:pPr>
            <a:r>
              <a:rPr lang="en-US" sz="1050" b="1" dirty="0">
                <a:solidFill>
                  <a:schemeClr val="tx1"/>
                </a:solidFill>
              </a:rPr>
              <a:t>FDR (Benjamini-Hochberg): </a:t>
            </a:r>
            <a:pPr indent="0" marL="0">
              <a:lnSpc>
                <a:spcPct val="105000"/>
              </a:lnSpc>
              <a:spcAft>
                <a:spcPts val="400"/>
              </a:spcAft>
              <a:buNone/>
            </a:pPr>
            <a:r>
              <a:rPr lang="en-US" sz="1050" dirty="0">
                <a:solidFill>
                  <a:schemeClr val="tx1"/>
                </a:solidFill>
              </a:rPr>
              <a:t>thousands of genes tested per cell type; controls the expected false-discovery share.</a:t>
            </a:r>
            <a:endParaRPr lang="en-US" sz="1050" dirty="0"/>
          </a:p>
          <a:p>
            <a:pPr marL="177800" indent="-177800">
              <a:lnSpc>
                <a:spcPct val="105000"/>
              </a:lnSpc>
              <a:spcAft>
                <a:spcPts val="400"/>
              </a:spcAft>
              <a:buSzPct val="100000"/>
              <a:buChar char="•"/>
            </a:pPr>
            <a:r>
              <a:rPr lang="en-US" sz="1050" b="1" dirty="0">
                <a:solidFill>
                  <a:schemeClr val="tx1"/>
                </a:solidFill>
              </a:rPr>
              <a:t>t test for proteins: </a:t>
            </a:r>
            <a:pPr indent="0" marL="0">
              <a:lnSpc>
                <a:spcPct val="105000"/>
              </a:lnSpc>
              <a:spcAft>
                <a:spcPts val="400"/>
              </a:spcAft>
              <a:buNone/>
            </a:pPr>
            <a:r>
              <a:rPr lang="en-US" sz="1050" dirty="0">
                <a:solidFill>
                  <a:schemeClr val="tx1"/>
                </a:solidFill>
              </a:rPr>
              <a:t>log intensities are continuous and roughly normal; with n = 6 vs 6 no protein survives correction, so nominal P is used (a stated limitation).</a:t>
            </a:r>
            <a:endParaRPr lang="en-US" sz="1050" dirty="0"/>
          </a:p>
          <a:p>
            <a:pPr marL="177800" indent="-177800">
              <a:lnSpc>
                <a:spcPct val="105000"/>
              </a:lnSpc>
              <a:spcAft>
                <a:spcPts val="400"/>
              </a:spcAft>
              <a:buSzPct val="100000"/>
              <a:buChar char="•"/>
            </a:pPr>
            <a:r>
              <a:rPr lang="en-US" sz="1050" b="1" dirty="0">
                <a:solidFill>
                  <a:schemeClr val="tx1"/>
                </a:solidFill>
              </a:rPr>
              <a:t>WGCNA: </a:t>
            </a:r>
            <a:pPr indent="0" marL="0">
              <a:lnSpc>
                <a:spcPct val="105000"/>
              </a:lnSpc>
              <a:spcAft>
                <a:spcPts val="400"/>
              </a:spcAft>
              <a:buNone/>
            </a:pPr>
            <a:r>
              <a:rPr lang="en-US" sz="1050" dirty="0">
                <a:solidFill>
                  <a:schemeClr val="tx1"/>
                </a:solidFill>
              </a:rPr>
              <a:t>proteins act in ensembles; unsupervised modules plus Fisher enrichment tie protein changes back to cell types without needing single-cell proteomics.</a:t>
            </a:r>
            <a:endParaRPr lang="en-US" sz="1050" dirty="0"/>
          </a:p>
          <a:p>
            <a:pPr marL="177800" indent="-177800">
              <a:lnSpc>
                <a:spcPct val="105000"/>
              </a:lnSpc>
              <a:spcAft>
                <a:spcPts val="400"/>
              </a:spcAft>
              <a:buSzPct val="100000"/>
              <a:buChar char="•"/>
            </a:pPr>
            <a:r>
              <a:rPr lang="en-US" sz="1050" b="1" dirty="0">
                <a:solidFill>
                  <a:schemeClr val="tx1"/>
                </a:solidFill>
              </a:rPr>
              <a:t>Permutation test (CellPhoneDB): </a:t>
            </a:r>
            <a:pPr indent="0" marL="0">
              <a:lnSpc>
                <a:spcPct val="105000"/>
              </a:lnSpc>
              <a:spcAft>
                <a:spcPts val="400"/>
              </a:spcAft>
              <a:buNone/>
            </a:pPr>
            <a:r>
              <a:rPr lang="en-US" sz="1050" dirty="0">
                <a:solidFill>
                  <a:schemeClr val="tx1"/>
                </a:solidFill>
              </a:rPr>
              <a:t>shuffles cell labels to build an empirical null for each ligand-receptor pair.</a:t>
            </a:r>
            <a:endParaRPr lang="en-US" sz="105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Result 1: T cells and microglia expand while neurons go quiet</a:t>
            </a:r>
            <a:endParaRPr lang="en-US" sz="2600" dirty="0"/>
          </a:p>
        </p:txBody>
      </p:sp>
      <p:sp>
        <p:nvSpPr>
          <p:cNvPr id="3" name="frame f1a_umap"/>
          <p:cNvSpPr/>
          <p:nvPr/>
        </p:nvSpPr>
        <p:spPr>
          <a:xfrm>
            <a:off x="402336" y="1133856"/>
            <a:ext cx="4680440" cy="3310128"/>
          </a:xfrm>
          <a:prstGeom prst="roundRect">
            <a:avLst>
              <a:gd name="adj" fmla="val 2210"/>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4" name="f1a_umap" descr="/tmp/claude-0/-home-user-owner/e66306d4-2675-5ec2-99fe-5e24f3a64605/scratchpad/figs/f1a_umap.png">    </p:cNvPr>
          <p:cNvPicPr>
            <a:picLocks noChangeAspect="1"/>
          </p:cNvPicPr>
          <p:nvPr/>
        </p:nvPicPr>
        <p:blipFill>
          <a:blip r:embed="rId1"/>
          <a:stretch>
            <a:fillRect/>
          </a:stretch>
        </p:blipFill>
        <p:spPr>
          <a:xfrm>
            <a:off x="457200" y="1188720"/>
            <a:ext cx="4570712" cy="3200400"/>
          </a:xfrm>
          <a:prstGeom prst="rect">
            <a:avLst/>
          </a:prstGeom>
        </p:spPr>
      </p:pic>
      <p:sp>
        <p:nvSpPr>
          <p:cNvPr id="5" name="caption f1a_umap"/>
          <p:cNvSpPr txBox="1"/>
          <p:nvPr/>
        </p:nvSpPr>
        <p:spPr>
          <a:xfrm>
            <a:off x="402336" y="4462272"/>
            <a:ext cx="4680440" cy="256032"/>
          </a:xfrm>
          <a:prstGeom prst="rect">
            <a:avLst/>
          </a:prstGeom>
          <a:noFill/>
          <a:ln/>
        </p:spPr>
        <p:txBody>
          <a:bodyPr wrap="square" lIns="0" tIns="0" rIns="0" bIns="0" rtlCol="0" anchor="ctr"/>
          <a:lstStyle/>
          <a:p>
            <a:pPr indent="0" marL="0">
              <a:buNone/>
            </a:pPr>
            <a:r>
              <a:rPr lang="en-US" sz="1000" i="1" dirty="0">
                <a:solidFill>
                  <a:schemeClr val="accent5"/>
                </a:solidFill>
              </a:rPr>
              <a:t>Fig. 1A  UMAP of 77,384 nuclei, 12 donors</a:t>
            </a:r>
            <a:endParaRPr lang="en-US" sz="1000" dirty="0"/>
          </a:p>
        </p:txBody>
      </p:sp>
      <p:sp>
        <p:nvSpPr>
          <p:cNvPr id="6" name="frame f1e_prop"/>
          <p:cNvSpPr/>
          <p:nvPr/>
        </p:nvSpPr>
        <p:spPr>
          <a:xfrm>
            <a:off x="5202936" y="1133856"/>
            <a:ext cx="1984248" cy="2635844"/>
          </a:xfrm>
          <a:prstGeom prst="roundRect">
            <a:avLst>
              <a:gd name="adj" fmla="val 3687"/>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7" name="f1e_prop" descr="/tmp/claude-0/-home-user-owner/e66306d4-2675-5ec2-99fe-5e24f3a64605/scratchpad/figs/f1e_prop.png">    </p:cNvPr>
          <p:cNvPicPr>
            <a:picLocks noChangeAspect="1"/>
          </p:cNvPicPr>
          <p:nvPr/>
        </p:nvPicPr>
        <p:blipFill>
          <a:blip r:embed="rId2"/>
          <a:stretch>
            <a:fillRect/>
          </a:stretch>
        </p:blipFill>
        <p:spPr>
          <a:xfrm>
            <a:off x="5257800" y="1188720"/>
            <a:ext cx="1874520" cy="2526116"/>
          </a:xfrm>
          <a:prstGeom prst="rect">
            <a:avLst/>
          </a:prstGeom>
        </p:spPr>
      </p:pic>
      <p:sp>
        <p:nvSpPr>
          <p:cNvPr id="8" name="caption f1e_prop"/>
          <p:cNvSpPr txBox="1"/>
          <p:nvPr/>
        </p:nvSpPr>
        <p:spPr>
          <a:xfrm>
            <a:off x="5202936" y="3787988"/>
            <a:ext cx="1984248" cy="256032"/>
          </a:xfrm>
          <a:prstGeom prst="rect">
            <a:avLst/>
          </a:prstGeom>
          <a:noFill/>
          <a:ln/>
        </p:spPr>
        <p:txBody>
          <a:bodyPr wrap="square" lIns="0" tIns="0" rIns="0" bIns="0" rtlCol="0" anchor="ctr"/>
          <a:lstStyle/>
          <a:p>
            <a:pPr indent="0" marL="0">
              <a:buNone/>
            </a:pPr>
            <a:r>
              <a:rPr lang="en-US" sz="1000" i="1" dirty="0">
                <a:solidFill>
                  <a:schemeClr val="accent5"/>
                </a:solidFill>
              </a:rPr>
              <a:t>Fig. 1E  Cell-type proportions</a:t>
            </a:r>
            <a:endParaRPr lang="en-US" sz="1000" dirty="0"/>
          </a:p>
        </p:txBody>
      </p:sp>
      <p:sp>
        <p:nvSpPr>
          <p:cNvPr id="9" name="frame f1f_deg"/>
          <p:cNvSpPr/>
          <p:nvPr/>
        </p:nvSpPr>
        <p:spPr>
          <a:xfrm>
            <a:off x="7306056" y="1133856"/>
            <a:ext cx="1435608" cy="2501512"/>
          </a:xfrm>
          <a:prstGeom prst="roundRect">
            <a:avLst>
              <a:gd name="adj" fmla="val 5096"/>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10" name="f1f_deg" descr="/tmp/claude-0/-home-user-owner/e66306d4-2675-5ec2-99fe-5e24f3a64605/scratchpad/figs/f1f_deg.png">    </p:cNvPr>
          <p:cNvPicPr>
            <a:picLocks noChangeAspect="1"/>
          </p:cNvPicPr>
          <p:nvPr/>
        </p:nvPicPr>
        <p:blipFill>
          <a:blip r:embed="rId3"/>
          <a:stretch>
            <a:fillRect/>
          </a:stretch>
        </p:blipFill>
        <p:spPr>
          <a:xfrm>
            <a:off x="7360920" y="1188720"/>
            <a:ext cx="1325880" cy="2391784"/>
          </a:xfrm>
          <a:prstGeom prst="rect">
            <a:avLst/>
          </a:prstGeom>
        </p:spPr>
      </p:pic>
      <p:sp>
        <p:nvSpPr>
          <p:cNvPr id="11" name="caption f1f_deg"/>
          <p:cNvSpPr txBox="1"/>
          <p:nvPr/>
        </p:nvSpPr>
        <p:spPr>
          <a:xfrm>
            <a:off x="7306056" y="3653656"/>
            <a:ext cx="1463040" cy="256032"/>
          </a:xfrm>
          <a:prstGeom prst="rect">
            <a:avLst/>
          </a:prstGeom>
          <a:noFill/>
          <a:ln/>
        </p:spPr>
        <p:txBody>
          <a:bodyPr wrap="square" lIns="0" tIns="0" rIns="0" bIns="0" rtlCol="0" anchor="ctr"/>
          <a:lstStyle/>
          <a:p>
            <a:pPr indent="0" marL="0">
              <a:buNone/>
            </a:pPr>
            <a:r>
              <a:rPr lang="en-US" sz="1000" i="1" dirty="0">
                <a:solidFill>
                  <a:schemeClr val="accent5"/>
                </a:solidFill>
              </a:rPr>
              <a:t>Fig. 1F  DEGs per type</a:t>
            </a:r>
            <a:endParaRPr lang="en-US" sz="1000" dirty="0"/>
          </a:p>
        </p:txBody>
      </p:sp>
      <p:sp>
        <p:nvSpPr>
          <p:cNvPr id="12" name="stat nuclei profiled (6 PD, 6 HC)"/>
          <p:cNvSpPr txBox="1"/>
          <p:nvPr/>
        </p:nvSpPr>
        <p:spPr>
          <a:xfrm>
            <a:off x="502920" y="5029200"/>
            <a:ext cx="1920240" cy="566928"/>
          </a:xfrm>
          <a:prstGeom prst="rect">
            <a:avLst/>
          </a:prstGeom>
          <a:noFill/>
          <a:ln/>
        </p:spPr>
        <p:txBody>
          <a:bodyPr wrap="square" lIns="0" tIns="0" rIns="0" bIns="0" rtlCol="0" anchor="b"/>
          <a:lstStyle/>
          <a:p>
            <a:pPr indent="0" marL="0">
              <a:buNone/>
            </a:pPr>
            <a:r>
              <a:rPr lang="en-US" sz="3000" b="1" dirty="0">
                <a:solidFill>
                  <a:schemeClr val="tx2"/>
                </a:solidFill>
              </a:rPr>
              <a:t>77,384</a:t>
            </a:r>
            <a:endParaRPr lang="en-US" sz="3000" dirty="0"/>
          </a:p>
        </p:txBody>
      </p:sp>
      <p:sp>
        <p:nvSpPr>
          <p:cNvPr id="13" name="stat label nuclei profiled (6 PD, 6 HC)"/>
          <p:cNvSpPr txBox="1"/>
          <p:nvPr/>
        </p:nvSpPr>
        <p:spPr>
          <a:xfrm>
            <a:off x="502920" y="5614416"/>
            <a:ext cx="1920240" cy="365760"/>
          </a:xfrm>
          <a:prstGeom prst="rect">
            <a:avLst/>
          </a:prstGeom>
          <a:noFill/>
          <a:ln/>
        </p:spPr>
        <p:txBody>
          <a:bodyPr wrap="square" lIns="0" tIns="0" rIns="0" bIns="0" rtlCol="0" anchor="t"/>
          <a:lstStyle/>
          <a:p>
            <a:pPr indent="0" marL="0">
              <a:buNone/>
            </a:pPr>
            <a:r>
              <a:rPr lang="en-US" sz="1100" dirty="0">
                <a:solidFill>
                  <a:schemeClr val="accent5"/>
                </a:solidFill>
              </a:rPr>
              <a:t>nuclei profiled (6 PD, 6 HC)</a:t>
            </a:r>
            <a:endParaRPr lang="en-US" sz="1100" dirty="0"/>
          </a:p>
        </p:txBody>
      </p:sp>
      <p:sp>
        <p:nvSpPr>
          <p:cNvPr id="14" name="stat major brain cell types"/>
          <p:cNvSpPr txBox="1"/>
          <p:nvPr/>
        </p:nvSpPr>
        <p:spPr>
          <a:xfrm>
            <a:off x="2514600" y="5029200"/>
            <a:ext cx="1920240" cy="566928"/>
          </a:xfrm>
          <a:prstGeom prst="rect">
            <a:avLst/>
          </a:prstGeom>
          <a:noFill/>
          <a:ln/>
        </p:spPr>
        <p:txBody>
          <a:bodyPr wrap="square" lIns="0" tIns="0" rIns="0" bIns="0" rtlCol="0" anchor="b"/>
          <a:lstStyle/>
          <a:p>
            <a:pPr indent="0" marL="0">
              <a:buNone/>
            </a:pPr>
            <a:r>
              <a:rPr lang="en-US" sz="3000" b="1" dirty="0">
                <a:solidFill>
                  <a:schemeClr val="accent1"/>
                </a:solidFill>
              </a:rPr>
              <a:t>8</a:t>
            </a:r>
            <a:endParaRPr lang="en-US" sz="3000" dirty="0"/>
          </a:p>
        </p:txBody>
      </p:sp>
      <p:sp>
        <p:nvSpPr>
          <p:cNvPr id="15" name="stat label major brain cell types"/>
          <p:cNvSpPr txBox="1"/>
          <p:nvPr/>
        </p:nvSpPr>
        <p:spPr>
          <a:xfrm>
            <a:off x="2514600" y="5614416"/>
            <a:ext cx="1920240" cy="365760"/>
          </a:xfrm>
          <a:prstGeom prst="rect">
            <a:avLst/>
          </a:prstGeom>
          <a:noFill/>
          <a:ln/>
        </p:spPr>
        <p:txBody>
          <a:bodyPr wrap="square" lIns="0" tIns="0" rIns="0" bIns="0" rtlCol="0" anchor="t"/>
          <a:lstStyle/>
          <a:p>
            <a:pPr indent="0" marL="0">
              <a:buNone/>
            </a:pPr>
            <a:r>
              <a:rPr lang="en-US" sz="1100" dirty="0">
                <a:solidFill>
                  <a:schemeClr val="accent5"/>
                </a:solidFill>
              </a:rPr>
              <a:t>major brain cell types</a:t>
            </a:r>
            <a:endParaRPr lang="en-US" sz="1100" dirty="0"/>
          </a:p>
        </p:txBody>
      </p:sp>
      <p:sp>
        <p:nvSpPr>
          <p:cNvPr id="16" name="stat brain-resident T cells in PD (33 → 243 nuclei, P = 0.02)"/>
          <p:cNvSpPr txBox="1"/>
          <p:nvPr/>
        </p:nvSpPr>
        <p:spPr>
          <a:xfrm>
            <a:off x="4526280" y="5029200"/>
            <a:ext cx="1920240" cy="566928"/>
          </a:xfrm>
          <a:prstGeom prst="rect">
            <a:avLst/>
          </a:prstGeom>
          <a:noFill/>
          <a:ln/>
        </p:spPr>
        <p:txBody>
          <a:bodyPr wrap="square" lIns="0" tIns="0" rIns="0" bIns="0" rtlCol="0" anchor="b"/>
          <a:lstStyle/>
          <a:p>
            <a:pPr indent="0" marL="0">
              <a:buNone/>
            </a:pPr>
            <a:r>
              <a:rPr lang="en-US" sz="3000" b="1" dirty="0">
                <a:solidFill>
                  <a:schemeClr val="accent2"/>
                </a:solidFill>
              </a:rPr>
              <a:t>7×</a:t>
            </a:r>
            <a:endParaRPr lang="en-US" sz="3000" dirty="0"/>
          </a:p>
        </p:txBody>
      </p:sp>
      <p:sp>
        <p:nvSpPr>
          <p:cNvPr id="17" name="stat label brain-resident T cells in PD (33 → 243 nuclei, P = 0.02)"/>
          <p:cNvSpPr txBox="1"/>
          <p:nvPr/>
        </p:nvSpPr>
        <p:spPr>
          <a:xfrm>
            <a:off x="4526280" y="5614416"/>
            <a:ext cx="1920240" cy="365760"/>
          </a:xfrm>
          <a:prstGeom prst="rect">
            <a:avLst/>
          </a:prstGeom>
          <a:noFill/>
          <a:ln/>
        </p:spPr>
        <p:txBody>
          <a:bodyPr wrap="square" lIns="0" tIns="0" rIns="0" bIns="0" rtlCol="0" anchor="t"/>
          <a:lstStyle/>
          <a:p>
            <a:pPr indent="0" marL="0">
              <a:buNone/>
            </a:pPr>
            <a:r>
              <a:rPr lang="en-US" sz="1100" dirty="0">
                <a:solidFill>
                  <a:schemeClr val="accent5"/>
                </a:solidFill>
              </a:rPr>
              <a:t>brain-resident T cells in PD (33 → 243 nuclei, P = 0.02)</a:t>
            </a:r>
            <a:endParaRPr lang="en-US" sz="1100" dirty="0"/>
          </a:p>
        </p:txBody>
      </p:sp>
      <p:sp>
        <p:nvSpPr>
          <p:cNvPr id="18" name="stat unique DEGs, mostly in astrocytes and microglia"/>
          <p:cNvSpPr txBox="1"/>
          <p:nvPr/>
        </p:nvSpPr>
        <p:spPr>
          <a:xfrm>
            <a:off x="6537960" y="5029200"/>
            <a:ext cx="2011680" cy="566928"/>
          </a:xfrm>
          <a:prstGeom prst="rect">
            <a:avLst/>
          </a:prstGeom>
          <a:noFill/>
          <a:ln/>
        </p:spPr>
        <p:txBody>
          <a:bodyPr wrap="square" lIns="0" tIns="0" rIns="0" bIns="0" rtlCol="0" anchor="b"/>
          <a:lstStyle/>
          <a:p>
            <a:pPr indent="0" marL="0">
              <a:buNone/>
            </a:pPr>
            <a:r>
              <a:rPr lang="en-US" sz="3000" b="1" dirty="0">
                <a:solidFill>
                  <a:schemeClr val="accent3"/>
                </a:solidFill>
              </a:rPr>
              <a:t>806</a:t>
            </a:r>
            <a:endParaRPr lang="en-US" sz="3000" dirty="0"/>
          </a:p>
        </p:txBody>
      </p:sp>
      <p:sp>
        <p:nvSpPr>
          <p:cNvPr id="19" name="stat label unique DEGs, mostly in astrocytes and microglia"/>
          <p:cNvSpPr txBox="1"/>
          <p:nvPr/>
        </p:nvSpPr>
        <p:spPr>
          <a:xfrm>
            <a:off x="6537960" y="5614416"/>
            <a:ext cx="2011680" cy="365760"/>
          </a:xfrm>
          <a:prstGeom prst="rect">
            <a:avLst/>
          </a:prstGeom>
          <a:noFill/>
          <a:ln/>
        </p:spPr>
        <p:txBody>
          <a:bodyPr wrap="square" lIns="0" tIns="0" rIns="0" bIns="0" rtlCol="0" anchor="t"/>
          <a:lstStyle/>
          <a:p>
            <a:pPr indent="0" marL="0">
              <a:buNone/>
            </a:pPr>
            <a:r>
              <a:rPr lang="en-US" sz="1100" dirty="0">
                <a:solidFill>
                  <a:schemeClr val="accent5"/>
                </a:solidFill>
              </a:rPr>
              <a:t>unique DEGs, mostly in astrocytes and microglia</a:t>
            </a:r>
            <a:endParaRPr lang="en-US" sz="1100" dirty="0"/>
          </a:p>
        </p:txBody>
      </p:sp>
      <p:sp>
        <p:nvSpPr>
          <p:cNvPr id="20" name="r1 card"/>
          <p:cNvSpPr/>
          <p:nvPr/>
        </p:nvSpPr>
        <p:spPr>
          <a:xfrm>
            <a:off x="8915400" y="1188720"/>
            <a:ext cx="2816352" cy="5074920"/>
          </a:xfrm>
          <a:prstGeom prst="roundRect">
            <a:avLst>
              <a:gd name="adj" fmla="val 3247"/>
            </a:avLst>
          </a:prstGeom>
          <a:solidFill>
            <a:srgbClr val="EEF0F8"/>
          </a:solidFill>
          <a:ln w="12700">
            <a:solidFill>
              <a:srgbClr val="EEF0F8"/>
            </a:solidFill>
            <a:prstDash val="solid"/>
          </a:ln>
        </p:spPr>
      </p:sp>
      <p:sp>
        <p:nvSpPr>
          <p:cNvPr id="21" name="heading What changed in PD"/>
          <p:cNvSpPr txBox="1"/>
          <p:nvPr/>
        </p:nvSpPr>
        <p:spPr>
          <a:xfrm>
            <a:off x="9098280" y="1280160"/>
            <a:ext cx="2468880" cy="365760"/>
          </a:xfrm>
          <a:prstGeom prst="rect">
            <a:avLst/>
          </a:prstGeom>
          <a:noFill/>
          <a:ln/>
        </p:spPr>
        <p:txBody>
          <a:bodyPr wrap="square" lIns="0" tIns="0" rIns="0" bIns="0" rtlCol="0" anchor="ctr"/>
          <a:lstStyle/>
          <a:p>
            <a:pPr indent="0" marL="0">
              <a:buNone/>
            </a:pPr>
            <a:r>
              <a:rPr lang="en-US" sz="1600" b="1" dirty="0">
                <a:solidFill>
                  <a:schemeClr val="tx2"/>
                </a:solidFill>
              </a:rPr>
              <a:t>What changed in PD</a:t>
            </a:r>
            <a:endParaRPr lang="en-US" sz="1600" dirty="0"/>
          </a:p>
        </p:txBody>
      </p:sp>
      <p:sp>
        <p:nvSpPr>
          <p:cNvPr id="22" name="r1 bullets"/>
          <p:cNvSpPr txBox="1"/>
          <p:nvPr/>
        </p:nvSpPr>
        <p:spPr>
          <a:xfrm>
            <a:off x="9098280" y="1691640"/>
            <a:ext cx="2487168" cy="4480560"/>
          </a:xfrm>
          <a:prstGeom prst="rect">
            <a:avLst/>
          </a:prstGeom>
          <a:noFill/>
          <a:ln/>
        </p:spPr>
        <p:txBody>
          <a:bodyPr wrap="square" lIns="0" tIns="0" rIns="0" bIns="0" rtlCol="0" anchor="t"/>
          <a:lstStyle/>
          <a:p>
            <a:pPr marL="177800" indent="-177800">
              <a:lnSpc>
                <a:spcPct val="105000"/>
              </a:lnSpc>
              <a:spcAft>
                <a:spcPts val="700"/>
              </a:spcAft>
              <a:buSzPct val="100000"/>
              <a:buChar char="•"/>
            </a:pPr>
            <a:r>
              <a:rPr lang="en-US" sz="1250" b="1" dirty="0">
                <a:solidFill>
                  <a:schemeClr val="tx1"/>
                </a:solidFill>
              </a:rPr>
              <a:t>Proportions: </a:t>
            </a:r>
            <a:pPr indent="0" marL="0">
              <a:lnSpc>
                <a:spcPct val="105000"/>
              </a:lnSpc>
              <a:spcAft>
                <a:spcPts val="700"/>
              </a:spcAft>
              <a:buNone/>
            </a:pPr>
            <a:r>
              <a:rPr lang="en-US" sz="1250" dirty="0">
                <a:solidFill>
                  <a:schemeClr val="tx1"/>
                </a:solidFill>
              </a:rPr>
              <a:t>five types stable; T cells up (P = 0.02), microglia up (1699 → 3684, P = 0.09), oligodendrocytes down.</a:t>
            </a:r>
            <a:endParaRPr lang="en-US" sz="1250" dirty="0"/>
          </a:p>
          <a:p>
            <a:pPr marL="177800" indent="-177800">
              <a:lnSpc>
                <a:spcPct val="105000"/>
              </a:lnSpc>
              <a:spcAft>
                <a:spcPts val="700"/>
              </a:spcAft>
              <a:buSzPct val="100000"/>
              <a:buChar char="•"/>
            </a:pPr>
            <a:r>
              <a:rPr lang="en-US" sz="1250" b="1" dirty="0">
                <a:solidFill>
                  <a:schemeClr val="tx1"/>
                </a:solidFill>
              </a:rPr>
              <a:t>Neurons go quiet: </a:t>
            </a:r>
            <a:pPr indent="0" marL="0">
              <a:lnSpc>
                <a:spcPct val="105000"/>
              </a:lnSpc>
              <a:spcAft>
                <a:spcPts val="700"/>
              </a:spcAft>
              <a:buNone/>
            </a:pPr>
            <a:r>
              <a:rPr lang="en-US" sz="1250" dirty="0">
                <a:solidFill>
                  <a:schemeClr val="tx1"/>
                </a:solidFill>
              </a:rPr>
              <a:t>79% of ExN and 67% of InN DEGs are down, led by protein folding and unfolded-protein response (HSPB1, HSP90AB1, DNAJB6, HSPA1A).</a:t>
            </a:r>
            <a:endParaRPr lang="en-US" sz="1250" dirty="0"/>
          </a:p>
          <a:p>
            <a:pPr marL="177800" indent="-177800">
              <a:lnSpc>
                <a:spcPct val="105000"/>
              </a:lnSpc>
              <a:spcAft>
                <a:spcPts val="700"/>
              </a:spcAft>
              <a:buSzPct val="100000"/>
              <a:buChar char="•"/>
            </a:pPr>
            <a:r>
              <a:rPr lang="en-US" sz="1250" b="1" dirty="0">
                <a:solidFill>
                  <a:schemeClr val="tx1"/>
                </a:solidFill>
              </a:rPr>
              <a:t>Glia switch on: </a:t>
            </a:r>
            <a:pPr indent="0" marL="0">
              <a:lnSpc>
                <a:spcPct val="105000"/>
              </a:lnSpc>
              <a:spcAft>
                <a:spcPts val="700"/>
              </a:spcAft>
              <a:buNone/>
            </a:pPr>
            <a:r>
              <a:rPr lang="en-US" sz="1250" dirty="0">
                <a:solidFill>
                  <a:schemeClr val="tx1"/>
                </a:solidFill>
              </a:rPr>
              <a:t>astrocytes: metal-ion detox (MT1G, MT1F); microglia: myeloid activation and hemopoiesis (FOS, STAT3, RUNX1, IL4R); oligodendrocytes: protein-complex assembly (HSPA1A/B).</a:t>
            </a:r>
            <a:endParaRPr lang="en-US" sz="1250" dirty="0"/>
          </a:p>
          <a:p>
            <a:pPr marL="177800" indent="-177800">
              <a:lnSpc>
                <a:spcPct val="105000"/>
              </a:lnSpc>
              <a:spcAft>
                <a:spcPts val="700"/>
              </a:spcAft>
              <a:buSzPct val="100000"/>
              <a:buChar char="•"/>
            </a:pPr>
            <a:r>
              <a:rPr lang="en-US" sz="1250" b="1" dirty="0">
                <a:solidFill>
                  <a:schemeClr val="tx1"/>
                </a:solidFill>
              </a:rPr>
              <a:t>T cells: </a:t>
            </a:r>
            <a:pPr indent="0" marL="0">
              <a:lnSpc>
                <a:spcPct val="105000"/>
              </a:lnSpc>
              <a:spcAft>
                <a:spcPts val="700"/>
              </a:spcAft>
              <a:buNone/>
            </a:pPr>
            <a:r>
              <a:rPr lang="en-US" sz="1250" dirty="0">
                <a:solidFill>
                  <a:schemeClr val="tx1"/>
                </a:solidFill>
              </a:rPr>
              <a:t>IL7R, IL15, CD28, ZAP70 pathways point to an active adaptive response.</a:t>
            </a:r>
            <a:endParaRPr lang="en-US" sz="1250" dirty="0"/>
          </a:p>
          <a:p>
            <a:pPr marL="177800" indent="-177800">
              <a:lnSpc>
                <a:spcPct val="105000"/>
              </a:lnSpc>
              <a:spcAft>
                <a:spcPts val="700"/>
              </a:spcAft>
              <a:buSzPct val="100000"/>
              <a:buChar char="•"/>
            </a:pPr>
            <a:r>
              <a:rPr lang="en-US" sz="1250" b="1" dirty="0">
                <a:solidFill>
                  <a:schemeClr val="tx1"/>
                </a:solidFill>
              </a:rPr>
              <a:t>Variance partition: </a:t>
            </a:r>
            <a:pPr indent="0" marL="0">
              <a:lnSpc>
                <a:spcPct val="105000"/>
              </a:lnSpc>
              <a:spcAft>
                <a:spcPts val="700"/>
              </a:spcAft>
              <a:buNone/>
            </a:pPr>
            <a:r>
              <a:rPr lang="en-US" sz="1250" dirty="0">
                <a:solidFill>
                  <a:schemeClr val="tx1"/>
                </a:solidFill>
              </a:rPr>
              <a:t>cell type explains &gt;56% of expression variance, donor 5.8%, PMI, age, sex &lt;0.5%.</a:t>
            </a:r>
            <a:endParaRPr lang="en-US" sz="125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Result 2: chaperone loss tracks Lewy burden, glial crosstalk fades</a:t>
            </a:r>
            <a:endParaRPr lang="en-US" sz="2600" dirty="0"/>
          </a:p>
        </p:txBody>
      </p:sp>
      <p:sp>
        <p:nvSpPr>
          <p:cNvPr id="3" name="chip Pathology correlation"/>
          <p:cNvSpPr/>
          <p:nvPr/>
        </p:nvSpPr>
        <p:spPr>
          <a:xfrm>
            <a:off x="457200" y="1188720"/>
            <a:ext cx="2011680" cy="292608"/>
          </a:xfrm>
          <a:prstGeom prst="roundRect">
            <a:avLst>
              <a:gd name="adj" fmla="val 50000"/>
            </a:avLst>
          </a:prstGeom>
          <a:solidFill>
            <a:srgbClr val="F2A541"/>
          </a:solidFill>
          <a:ln w="12700">
            <a:solidFill>
              <a:srgbClr val="F2A541"/>
            </a:solidFill>
            <a:prstDash val="solid"/>
          </a:ln>
        </p:spPr>
      </p:sp>
      <p:sp>
        <p:nvSpPr>
          <p:cNvPr id="4" name="chip text Pathology correlation"/>
          <p:cNvSpPr txBox="1"/>
          <p:nvPr/>
        </p:nvSpPr>
        <p:spPr>
          <a:xfrm>
            <a:off x="457200" y="118872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rPr>
              <a:t>Pathology correlation</a:t>
            </a:r>
            <a:endParaRPr lang="en-US" sz="1100" dirty="0"/>
          </a:p>
        </p:txBody>
      </p:sp>
      <p:sp>
        <p:nvSpPr>
          <p:cNvPr id="5" name="frame f2b_score"/>
          <p:cNvSpPr/>
          <p:nvPr/>
        </p:nvSpPr>
        <p:spPr>
          <a:xfrm>
            <a:off x="402336" y="1545336"/>
            <a:ext cx="992597" cy="1938528"/>
          </a:xfrm>
          <a:prstGeom prst="roundRect">
            <a:avLst>
              <a:gd name="adj" fmla="val 7370"/>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6" name="f2b_score" descr="/tmp/claude-0/-home-user-owner/e66306d4-2675-5ec2-99fe-5e24f3a64605/scratchpad/figs/f2b_score.png">    </p:cNvPr>
          <p:cNvPicPr>
            <a:picLocks noChangeAspect="1"/>
          </p:cNvPicPr>
          <p:nvPr/>
        </p:nvPicPr>
        <p:blipFill>
          <a:blip r:embed="rId1"/>
          <a:stretch>
            <a:fillRect/>
          </a:stretch>
        </p:blipFill>
        <p:spPr>
          <a:xfrm>
            <a:off x="457200" y="1600200"/>
            <a:ext cx="882869" cy="1828800"/>
          </a:xfrm>
          <a:prstGeom prst="rect">
            <a:avLst/>
          </a:prstGeom>
        </p:spPr>
      </p:pic>
      <p:sp>
        <p:nvSpPr>
          <p:cNvPr id="7" name="caption f2b_score"/>
          <p:cNvSpPr txBox="1"/>
          <p:nvPr/>
        </p:nvSpPr>
        <p:spPr>
          <a:xfrm>
            <a:off x="402336" y="3502152"/>
            <a:ext cx="1463040" cy="256032"/>
          </a:xfrm>
          <a:prstGeom prst="rect">
            <a:avLst/>
          </a:prstGeom>
          <a:noFill/>
          <a:ln/>
        </p:spPr>
        <p:txBody>
          <a:bodyPr wrap="square" lIns="0" tIns="0" rIns="0" bIns="0" rtlCol="0" anchor="ctr"/>
          <a:lstStyle/>
          <a:p>
            <a:pPr indent="0" marL="0">
              <a:buNone/>
            </a:pPr>
            <a:r>
              <a:rPr lang="en-US" sz="1000" i="1" dirty="0">
                <a:solidFill>
                  <a:schemeClr val="accent5"/>
                </a:solidFill>
              </a:rPr>
              <a:t>Fig. 2B  Lewy score</a:t>
            </a:r>
            <a:endParaRPr lang="en-US" sz="1000" dirty="0"/>
          </a:p>
        </p:txBody>
      </p:sp>
      <p:sp>
        <p:nvSpPr>
          <p:cNvPr id="8" name="frame f2e_corr"/>
          <p:cNvSpPr/>
          <p:nvPr/>
        </p:nvSpPr>
        <p:spPr>
          <a:xfrm>
            <a:off x="1408176" y="1545336"/>
            <a:ext cx="4681728" cy="1575671"/>
          </a:xfrm>
          <a:prstGeom prst="roundRect">
            <a:avLst>
              <a:gd name="adj" fmla="val 4643"/>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9" name="f2e_corr" descr="/tmp/claude-0/-home-user-owner/e66306d4-2675-5ec2-99fe-5e24f3a64605/scratchpad/figs/f2e_corr.png">    </p:cNvPr>
          <p:cNvPicPr>
            <a:picLocks noChangeAspect="1"/>
          </p:cNvPicPr>
          <p:nvPr/>
        </p:nvPicPr>
        <p:blipFill>
          <a:blip r:embed="rId2"/>
          <a:stretch>
            <a:fillRect/>
          </a:stretch>
        </p:blipFill>
        <p:spPr>
          <a:xfrm>
            <a:off x="1463040" y="1600200"/>
            <a:ext cx="4572000" cy="1465943"/>
          </a:xfrm>
          <a:prstGeom prst="rect">
            <a:avLst/>
          </a:prstGeom>
        </p:spPr>
      </p:pic>
      <p:sp>
        <p:nvSpPr>
          <p:cNvPr id="10" name="caption f2e_corr"/>
          <p:cNvSpPr txBox="1"/>
          <p:nvPr/>
        </p:nvSpPr>
        <p:spPr>
          <a:xfrm>
            <a:off x="1408176" y="3139295"/>
            <a:ext cx="4681728" cy="256032"/>
          </a:xfrm>
          <a:prstGeom prst="rect">
            <a:avLst/>
          </a:prstGeom>
          <a:noFill/>
          <a:ln/>
        </p:spPr>
        <p:txBody>
          <a:bodyPr wrap="square" lIns="0" tIns="0" rIns="0" bIns="0" rtlCol="0" anchor="ctr"/>
          <a:lstStyle/>
          <a:p>
            <a:pPr indent="0" marL="0">
              <a:buNone/>
            </a:pPr>
            <a:r>
              <a:rPr lang="en-US" sz="1000" i="1" dirty="0">
                <a:solidFill>
                  <a:schemeClr val="accent5"/>
                </a:solidFill>
              </a:rPr>
              <a:t>Fig. 2E  Pathology score vs chaperone expression in excitatory neurons (teal = PD, red = HC)</a:t>
            </a:r>
            <a:endParaRPr lang="en-US" sz="1000" dirty="0"/>
          </a:p>
        </p:txBody>
      </p:sp>
      <p:sp>
        <p:nvSpPr>
          <p:cNvPr id="11" name="r2 left bullets"/>
          <p:cNvSpPr txBox="1"/>
          <p:nvPr/>
        </p:nvSpPr>
        <p:spPr>
          <a:xfrm>
            <a:off x="457200" y="3840480"/>
            <a:ext cx="5577840" cy="25146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250" b="1" dirty="0">
                <a:solidFill>
                  <a:schemeClr val="tx1"/>
                </a:solidFill>
              </a:rPr>
              <a:t>Lewy bodies and neurites </a:t>
            </a:r>
            <a:pPr indent="0" marL="0">
              <a:lnSpc>
                <a:spcPct val="105000"/>
              </a:lnSpc>
              <a:spcAft>
                <a:spcPts val="600"/>
              </a:spcAft>
              <a:buNone/>
            </a:pPr>
            <a:r>
              <a:rPr lang="en-US" sz="1250" dirty="0">
                <a:solidFill>
                  <a:schemeClr val="tx1"/>
                </a:solidFill>
              </a:rPr>
              <a:t>are present only in PD cortex (score 0.1-11.9, P = 0.03), with wide donor-to-donor spread.</a:t>
            </a:r>
            <a:endParaRPr lang="en-US" sz="1250" dirty="0"/>
          </a:p>
          <a:p>
            <a:pPr marL="177800" indent="-177800">
              <a:lnSpc>
                <a:spcPct val="105000"/>
              </a:lnSpc>
              <a:spcAft>
                <a:spcPts val="600"/>
              </a:spcAft>
              <a:buSzPct val="100000"/>
              <a:buChar char="•"/>
            </a:pPr>
            <a:r>
              <a:rPr lang="en-US" sz="1250" b="1" dirty="0">
                <a:solidFill>
                  <a:schemeClr val="tx1"/>
                </a:solidFill>
              </a:rPr>
              <a:t>Higher pathology, fewer chaperones </a:t>
            </a:r>
            <a:pPr indent="0" marL="0">
              <a:lnSpc>
                <a:spcPct val="105000"/>
              </a:lnSpc>
              <a:spcAft>
                <a:spcPts val="600"/>
              </a:spcAft>
              <a:buNone/>
            </a:pPr>
            <a:r>
              <a:rPr lang="en-US" sz="1250" dirty="0">
                <a:solidFill>
                  <a:schemeClr val="tx1"/>
                </a:solidFill>
              </a:rPr>
              <a:t>in excitatory neurons: HSP90AB1 R² = 0.74, HSPA1A 0.61, DNAJA4 0.58, HSPB1 0.47. HSPA4L (disaggregase) is the one exception.</a:t>
            </a:r>
            <a:endParaRPr lang="en-US" sz="1250" dirty="0"/>
          </a:p>
          <a:p>
            <a:pPr marL="177800" indent="-177800">
              <a:lnSpc>
                <a:spcPct val="105000"/>
              </a:lnSpc>
              <a:spcAft>
                <a:spcPts val="600"/>
              </a:spcAft>
              <a:buSzPct val="100000"/>
              <a:buChar char="•"/>
            </a:pPr>
            <a:r>
              <a:rPr lang="en-US" sz="1250" b="1" dirty="0">
                <a:solidFill>
                  <a:schemeClr val="tx1"/>
                </a:solidFill>
              </a:rPr>
              <a:t>Inhibitory neurons are spared, </a:t>
            </a:r>
            <a:pPr indent="0" marL="0">
              <a:lnSpc>
                <a:spcPct val="105000"/>
              </a:lnSpc>
              <a:spcAft>
                <a:spcPts val="600"/>
              </a:spcAft>
              <a:buNone/>
            </a:pPr>
            <a:r>
              <a:rPr lang="en-US" sz="1250" dirty="0">
                <a:solidFill>
                  <a:schemeClr val="tx1"/>
                </a:solidFill>
              </a:rPr>
              <a:t>consistent with Lewy bodies forming mainly in excitatory neurons.</a:t>
            </a:r>
            <a:endParaRPr lang="en-US" sz="1250" dirty="0"/>
          </a:p>
          <a:p>
            <a:pPr marL="177800" indent="-177800">
              <a:lnSpc>
                <a:spcPct val="105000"/>
              </a:lnSpc>
              <a:spcAft>
                <a:spcPts val="600"/>
              </a:spcAft>
              <a:buSzPct val="100000"/>
              <a:buChar char="•"/>
            </a:pPr>
            <a:r>
              <a:rPr lang="en-US" sz="1250" b="1" dirty="0">
                <a:solidFill>
                  <a:schemeClr val="tx1"/>
                </a:solidFill>
              </a:rPr>
              <a:t>PD genes: </a:t>
            </a:r>
            <a:pPr indent="0" marL="0">
              <a:lnSpc>
                <a:spcPct val="105000"/>
              </a:lnSpc>
              <a:spcAft>
                <a:spcPts val="600"/>
              </a:spcAft>
              <a:buNone/>
            </a:pPr>
            <a:r>
              <a:rPr lang="en-US" sz="1250" dirty="0">
                <a:solidFill>
                  <a:schemeClr val="tx1"/>
                </a:solidFill>
              </a:rPr>
              <a:t>SNCA and LRRK2 up (LRRK2 in microglia and OPCs); PRKN, PINK1, GBA, PARK7 down in excitatory neurons; LRRK2 and GIGYF2 expression scales with pathology.</a:t>
            </a:r>
            <a:endParaRPr lang="en-US" sz="1250" dirty="0"/>
          </a:p>
        </p:txBody>
      </p:sp>
      <p:sp>
        <p:nvSpPr>
          <p:cNvPr id="12" name="chip Cell-cell communication"/>
          <p:cNvSpPr/>
          <p:nvPr/>
        </p:nvSpPr>
        <p:spPr>
          <a:xfrm>
            <a:off x="6446520" y="1188720"/>
            <a:ext cx="2194560" cy="292608"/>
          </a:xfrm>
          <a:prstGeom prst="roundRect">
            <a:avLst>
              <a:gd name="adj" fmla="val 50000"/>
            </a:avLst>
          </a:prstGeom>
          <a:solidFill>
            <a:srgbClr val="17A398"/>
          </a:solidFill>
          <a:ln w="12700">
            <a:solidFill>
              <a:srgbClr val="17A398"/>
            </a:solidFill>
            <a:prstDash val="solid"/>
          </a:ln>
        </p:spPr>
      </p:sp>
      <p:sp>
        <p:nvSpPr>
          <p:cNvPr id="13" name="chip text Cell-cell communication"/>
          <p:cNvSpPr txBox="1"/>
          <p:nvPr/>
        </p:nvSpPr>
        <p:spPr>
          <a:xfrm>
            <a:off x="6446520" y="1188720"/>
            <a:ext cx="2194560" cy="292608"/>
          </a:xfrm>
          <a:prstGeom prst="rect">
            <a:avLst/>
          </a:prstGeom>
          <a:noFill/>
          <a:ln/>
        </p:spPr>
        <p:txBody>
          <a:bodyPr wrap="square" lIns="0" tIns="0" rIns="0" bIns="0" rtlCol="0" anchor="ctr"/>
          <a:lstStyle/>
          <a:p>
            <a:pPr algn="ctr" indent="0" marL="0">
              <a:buNone/>
            </a:pPr>
            <a:r>
              <a:rPr lang="en-US" sz="1100" b="1" dirty="0">
                <a:solidFill>
                  <a:schemeClr val="bg1"/>
                </a:solidFill>
              </a:rPr>
              <a:t>Cell-cell communication</a:t>
            </a:r>
            <a:endParaRPr lang="en-US" sz="1100" dirty="0"/>
          </a:p>
        </p:txBody>
      </p:sp>
      <p:sp>
        <p:nvSpPr>
          <p:cNvPr id="14" name="frame f4a_matrix"/>
          <p:cNvSpPr/>
          <p:nvPr/>
        </p:nvSpPr>
        <p:spPr>
          <a:xfrm>
            <a:off x="6391656" y="1545336"/>
            <a:ext cx="2800530" cy="2578608"/>
          </a:xfrm>
          <a:prstGeom prst="roundRect">
            <a:avLst>
              <a:gd name="adj" fmla="val 2837"/>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15" name="f4a_matrix" descr="/tmp/claude-0/-home-user-owner/e66306d4-2675-5ec2-99fe-5e24f3a64605/scratchpad/figs/f4a_matrix.png">    </p:cNvPr>
          <p:cNvPicPr>
            <a:picLocks noChangeAspect="1"/>
          </p:cNvPicPr>
          <p:nvPr/>
        </p:nvPicPr>
        <p:blipFill>
          <a:blip r:embed="rId3"/>
          <a:stretch>
            <a:fillRect/>
          </a:stretch>
        </p:blipFill>
        <p:spPr>
          <a:xfrm>
            <a:off x="6446520" y="1600200"/>
            <a:ext cx="2690802" cy="2468880"/>
          </a:xfrm>
          <a:prstGeom prst="rect">
            <a:avLst/>
          </a:prstGeom>
        </p:spPr>
      </p:pic>
      <p:sp>
        <p:nvSpPr>
          <p:cNvPr id="16" name="caption f4a_matrix"/>
          <p:cNvSpPr txBox="1"/>
          <p:nvPr/>
        </p:nvSpPr>
        <p:spPr>
          <a:xfrm>
            <a:off x="6391656" y="4142232"/>
            <a:ext cx="2800530" cy="256032"/>
          </a:xfrm>
          <a:prstGeom prst="rect">
            <a:avLst/>
          </a:prstGeom>
          <a:noFill/>
          <a:ln/>
        </p:spPr>
        <p:txBody>
          <a:bodyPr wrap="square" lIns="0" tIns="0" rIns="0" bIns="0" rtlCol="0" anchor="ctr"/>
          <a:lstStyle/>
          <a:p>
            <a:pPr indent="0" marL="0">
              <a:buNone/>
            </a:pPr>
            <a:r>
              <a:rPr lang="en-US" sz="1000" i="1" dirty="0">
                <a:solidFill>
                  <a:schemeClr val="accent5"/>
                </a:solidFill>
              </a:rPr>
              <a:t>Fig. 4A  Interaction pairs, PD minus HC</a:t>
            </a:r>
            <a:endParaRPr lang="en-US" sz="1000" dirty="0"/>
          </a:p>
        </p:txBody>
      </p:sp>
      <p:sp>
        <p:nvSpPr>
          <p:cNvPr id="17" name="r2 right bullets"/>
          <p:cNvSpPr txBox="1"/>
          <p:nvPr/>
        </p:nvSpPr>
        <p:spPr>
          <a:xfrm>
            <a:off x="9372600" y="1600200"/>
            <a:ext cx="2359152" cy="4754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200" b="1" dirty="0">
                <a:solidFill>
                  <a:schemeClr val="tx1"/>
                </a:solidFill>
              </a:rPr>
              <a:t>Global loss of signalling: </a:t>
            </a:r>
            <a:pPr indent="0" marL="0">
              <a:lnSpc>
                <a:spcPct val="105000"/>
              </a:lnSpc>
              <a:spcAft>
                <a:spcPts val="600"/>
              </a:spcAft>
              <a:buNone/>
            </a:pPr>
            <a:r>
              <a:rPr lang="en-US" sz="1200" dirty="0">
                <a:solidFill>
                  <a:schemeClr val="tx1"/>
                </a:solidFill>
              </a:rPr>
              <a:t>nearly every cell-type pair has fewer ligand-receptor interactions in PD; the matrix is almost entirely blue.</a:t>
            </a:r>
            <a:endParaRPr lang="en-US" sz="1200" dirty="0"/>
          </a:p>
          <a:p>
            <a:pPr marL="177800" indent="-177800">
              <a:lnSpc>
                <a:spcPct val="105000"/>
              </a:lnSpc>
              <a:spcAft>
                <a:spcPts val="600"/>
              </a:spcAft>
              <a:buSzPct val="100000"/>
              <a:buChar char="•"/>
            </a:pPr>
            <a:r>
              <a:rPr lang="en-US" sz="1200" b="1" dirty="0">
                <a:solidFill>
                  <a:schemeClr val="tx1"/>
                </a:solidFill>
              </a:rPr>
              <a:t>ExN-astrocyte hit hardest: </a:t>
            </a:r>
            <a:pPr indent="0" marL="0">
              <a:lnSpc>
                <a:spcPct val="105000"/>
              </a:lnSpc>
              <a:spcAft>
                <a:spcPts val="600"/>
              </a:spcAft>
              <a:buNone/>
            </a:pPr>
            <a:r>
              <a:rPr lang="en-US" sz="1200" dirty="0">
                <a:solidFill>
                  <a:schemeClr val="tx1"/>
                </a:solidFill>
              </a:rPr>
              <a:t>~25% of pairs lost, including EGFR with TGF-α/betacellulin, SIRPA-CD47 (a "don’t eat me" signal), TYRO3-GAS6 and activin receptors.</a:t>
            </a:r>
            <a:endParaRPr lang="en-US" sz="1200" dirty="0"/>
          </a:p>
          <a:p>
            <a:pPr marL="177800" indent="-177800">
              <a:lnSpc>
                <a:spcPct val="105000"/>
              </a:lnSpc>
              <a:spcAft>
                <a:spcPts val="600"/>
              </a:spcAft>
              <a:buSzPct val="100000"/>
              <a:buChar char="•"/>
            </a:pPr>
            <a:r>
              <a:rPr lang="en-US" sz="1200" b="1" dirty="0">
                <a:solidFill>
                  <a:schemeClr val="tx1"/>
                </a:solidFill>
              </a:rPr>
              <a:t>T cells re-wire rather than disconnect: </a:t>
            </a:r>
            <a:pPr indent="0" marL="0">
              <a:lnSpc>
                <a:spcPct val="105000"/>
              </a:lnSpc>
              <a:spcAft>
                <a:spcPts val="600"/>
              </a:spcAft>
              <a:buNone/>
            </a:pPr>
            <a:r>
              <a:rPr lang="en-US" sz="1200" dirty="0">
                <a:solidFill>
                  <a:schemeClr val="tx1"/>
                </a:solidFill>
              </a:rPr>
              <a:t>CD74-APP/COPA and CX3CR1-CX3CL1 (immune restraint) are lost; NOTCH1/2-JAG1/2 and TNFRSF1A are gained.</a:t>
            </a:r>
            <a:endParaRPr lang="en-US" sz="1200" dirty="0"/>
          </a:p>
          <a:p>
            <a:pPr marL="177800" indent="-177800">
              <a:lnSpc>
                <a:spcPct val="105000"/>
              </a:lnSpc>
              <a:spcAft>
                <a:spcPts val="600"/>
              </a:spcAft>
              <a:buSzPct val="100000"/>
              <a:buChar char="•"/>
            </a:pPr>
            <a:r>
              <a:rPr lang="en-US" sz="1200" b="1" dirty="0">
                <a:solidFill>
                  <a:schemeClr val="tx1"/>
                </a:solidFill>
              </a:rPr>
              <a:t>Interpretation: </a:t>
            </a:r>
            <a:pPr indent="0" marL="0">
              <a:lnSpc>
                <a:spcPct val="105000"/>
              </a:lnSpc>
              <a:spcAft>
                <a:spcPts val="600"/>
              </a:spcAft>
              <a:buNone/>
            </a:pPr>
            <a:r>
              <a:rPr lang="en-US" sz="1200" dirty="0">
                <a:solidFill>
                  <a:schemeClr val="tx1"/>
                </a:solidFill>
              </a:rPr>
              <a:t>trophic neuron-glia support fades while inflammatory and Notch signalling to T cells emerges.</a:t>
            </a:r>
            <a:endParaRPr lang="en-US" sz="12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tx2"/>
                </a:solidFill>
              </a:rPr>
              <a:t>Result 3: synaptic proteins rise; PD and AD overlap only in glia</a:t>
            </a:r>
            <a:endParaRPr lang="en-US" sz="2600" dirty="0"/>
          </a:p>
        </p:txBody>
      </p:sp>
      <p:sp>
        <p:nvSpPr>
          <p:cNvPr id="3" name="chip Proteomics + WGCNA"/>
          <p:cNvSpPr/>
          <p:nvPr/>
        </p:nvSpPr>
        <p:spPr>
          <a:xfrm>
            <a:off x="457200" y="1188720"/>
            <a:ext cx="2011680" cy="292608"/>
          </a:xfrm>
          <a:prstGeom prst="roundRect">
            <a:avLst>
              <a:gd name="adj" fmla="val 50000"/>
            </a:avLst>
          </a:prstGeom>
          <a:solidFill>
            <a:srgbClr val="17A398"/>
          </a:solidFill>
          <a:ln w="12700">
            <a:solidFill>
              <a:srgbClr val="17A398"/>
            </a:solidFill>
            <a:prstDash val="solid"/>
          </a:ln>
        </p:spPr>
      </p:sp>
      <p:sp>
        <p:nvSpPr>
          <p:cNvPr id="4" name="chip text Proteomics + WGCNA"/>
          <p:cNvSpPr txBox="1"/>
          <p:nvPr/>
        </p:nvSpPr>
        <p:spPr>
          <a:xfrm>
            <a:off x="457200" y="1188720"/>
            <a:ext cx="2011680" cy="292608"/>
          </a:xfrm>
          <a:prstGeom prst="rect">
            <a:avLst/>
          </a:prstGeom>
          <a:noFill/>
          <a:ln/>
        </p:spPr>
        <p:txBody>
          <a:bodyPr wrap="square" lIns="0" tIns="0" rIns="0" bIns="0" rtlCol="0" anchor="ctr"/>
          <a:lstStyle/>
          <a:p>
            <a:pPr algn="ctr" indent="0" marL="0">
              <a:buNone/>
            </a:pPr>
            <a:r>
              <a:rPr lang="en-US" sz="1100" b="1" dirty="0">
                <a:solidFill>
                  <a:schemeClr val="bg1"/>
                </a:solidFill>
              </a:rPr>
              <a:t>Proteomics + WGCNA</a:t>
            </a:r>
            <a:endParaRPr lang="en-US" sz="1100" dirty="0"/>
          </a:p>
        </p:txBody>
      </p:sp>
      <p:sp>
        <p:nvSpPr>
          <p:cNvPr id="5" name="frame f5a_volcano"/>
          <p:cNvSpPr/>
          <p:nvPr/>
        </p:nvSpPr>
        <p:spPr>
          <a:xfrm>
            <a:off x="402336" y="1545336"/>
            <a:ext cx="3035808" cy="2330228"/>
          </a:xfrm>
          <a:prstGeom prst="roundRect">
            <a:avLst>
              <a:gd name="adj" fmla="val 3139"/>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6" name="f5a_volcano" descr="/tmp/claude-0/-home-user-owner/e66306d4-2675-5ec2-99fe-5e24f3a64605/scratchpad/figs/f5a_volcano.png">    </p:cNvPr>
          <p:cNvPicPr>
            <a:picLocks noChangeAspect="1"/>
          </p:cNvPicPr>
          <p:nvPr/>
        </p:nvPicPr>
        <p:blipFill>
          <a:blip r:embed="rId1"/>
          <a:stretch>
            <a:fillRect/>
          </a:stretch>
        </p:blipFill>
        <p:spPr>
          <a:xfrm>
            <a:off x="457200" y="1600200"/>
            <a:ext cx="2926080" cy="2220500"/>
          </a:xfrm>
          <a:prstGeom prst="rect">
            <a:avLst/>
          </a:prstGeom>
        </p:spPr>
      </p:pic>
      <p:sp>
        <p:nvSpPr>
          <p:cNvPr id="7" name="caption f5a_volcano"/>
          <p:cNvSpPr txBox="1"/>
          <p:nvPr/>
        </p:nvSpPr>
        <p:spPr>
          <a:xfrm>
            <a:off x="402336" y="3893852"/>
            <a:ext cx="3035808" cy="256032"/>
          </a:xfrm>
          <a:prstGeom prst="rect">
            <a:avLst/>
          </a:prstGeom>
          <a:noFill/>
          <a:ln/>
        </p:spPr>
        <p:txBody>
          <a:bodyPr wrap="square" lIns="0" tIns="0" rIns="0" bIns="0" rtlCol="0" anchor="ctr"/>
          <a:lstStyle/>
          <a:p>
            <a:pPr indent="0" marL="0">
              <a:buNone/>
            </a:pPr>
            <a:r>
              <a:rPr lang="en-US" sz="1000" i="1" dirty="0">
                <a:solidFill>
                  <a:schemeClr val="accent5"/>
                </a:solidFill>
              </a:rPr>
              <a:t>Fig. 5A  2534 proteins, t test</a:t>
            </a:r>
            <a:endParaRPr lang="en-US" sz="1000" dirty="0"/>
          </a:p>
        </p:txBody>
      </p:sp>
      <p:sp>
        <p:nvSpPr>
          <p:cNvPr id="8" name="frame f5d_wgcna"/>
          <p:cNvSpPr/>
          <p:nvPr/>
        </p:nvSpPr>
        <p:spPr>
          <a:xfrm>
            <a:off x="3845729" y="1545336"/>
            <a:ext cx="1726861" cy="2395728"/>
          </a:xfrm>
          <a:prstGeom prst="roundRect">
            <a:avLst>
              <a:gd name="adj" fmla="val 4236"/>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9" name="f5d_wgcna" descr="/tmp/claude-0/-home-user-owner/e66306d4-2675-5ec2-99fe-5e24f3a64605/scratchpad/figs/f5d_wgcna.png">    </p:cNvPr>
          <p:cNvPicPr>
            <a:picLocks noChangeAspect="1"/>
          </p:cNvPicPr>
          <p:nvPr/>
        </p:nvPicPr>
        <p:blipFill>
          <a:blip r:embed="rId2"/>
          <a:stretch>
            <a:fillRect/>
          </a:stretch>
        </p:blipFill>
        <p:spPr>
          <a:xfrm>
            <a:off x="3900593" y="1600200"/>
            <a:ext cx="1617133" cy="2286000"/>
          </a:xfrm>
          <a:prstGeom prst="rect">
            <a:avLst/>
          </a:prstGeom>
        </p:spPr>
      </p:pic>
      <p:sp>
        <p:nvSpPr>
          <p:cNvPr id="10" name="caption f5d_wgcna"/>
          <p:cNvSpPr txBox="1"/>
          <p:nvPr/>
        </p:nvSpPr>
        <p:spPr>
          <a:xfrm>
            <a:off x="3845729" y="3959352"/>
            <a:ext cx="1726861" cy="256032"/>
          </a:xfrm>
          <a:prstGeom prst="rect">
            <a:avLst/>
          </a:prstGeom>
          <a:noFill/>
          <a:ln/>
        </p:spPr>
        <p:txBody>
          <a:bodyPr wrap="square" lIns="0" tIns="0" rIns="0" bIns="0" rtlCol="0" anchor="ctr"/>
          <a:lstStyle/>
          <a:p>
            <a:pPr indent="0" marL="0">
              <a:buNone/>
            </a:pPr>
            <a:r>
              <a:rPr lang="en-US" sz="1000" i="1" dirty="0">
                <a:solidFill>
                  <a:schemeClr val="accent5"/>
                </a:solidFill>
              </a:rPr>
              <a:t>Fig. 5D  14 WGCNA protein modules</a:t>
            </a:r>
            <a:endParaRPr lang="en-US" sz="1000" dirty="0"/>
          </a:p>
        </p:txBody>
      </p:sp>
      <p:sp>
        <p:nvSpPr>
          <p:cNvPr id="11" name="r3 left bullets"/>
          <p:cNvSpPr txBox="1"/>
          <p:nvPr/>
        </p:nvSpPr>
        <p:spPr>
          <a:xfrm>
            <a:off x="457200" y="4343400"/>
            <a:ext cx="5394960" cy="2011680"/>
          </a:xfrm>
          <a:prstGeom prst="rect">
            <a:avLst/>
          </a:prstGeom>
          <a:noFill/>
          <a:ln/>
        </p:spPr>
        <p:txBody>
          <a:bodyPr wrap="square" lIns="0" tIns="0" rIns="0" bIns="0" rtlCol="0" anchor="t"/>
          <a:lstStyle/>
          <a:p>
            <a:pPr marL="177800" indent="-177800">
              <a:lnSpc>
                <a:spcPct val="105000"/>
              </a:lnSpc>
              <a:spcAft>
                <a:spcPts val="500"/>
              </a:spcAft>
              <a:buSzPct val="100000"/>
              <a:buChar char="•"/>
            </a:pPr>
            <a:r>
              <a:rPr lang="en-US" sz="1200" b="1" dirty="0">
                <a:solidFill>
                  <a:schemeClr val="tx1"/>
                </a:solidFill>
              </a:rPr>
              <a:t>22 differential proteins </a:t>
            </a:r>
            <a:pPr indent="0" marL="0">
              <a:lnSpc>
                <a:spcPct val="105000"/>
              </a:lnSpc>
              <a:spcAft>
                <a:spcPts val="500"/>
              </a:spcAft>
              <a:buNone/>
            </a:pPr>
            <a:r>
              <a:rPr lang="en-US" sz="1200" dirty="0">
                <a:solidFill>
                  <a:schemeClr val="tx1"/>
                </a:solidFill>
              </a:rPr>
              <a:t>(nominal P &lt; 0.05): CDH2, GSTT1, N4BP1 up; SEC13, BRCC3, NDRG2 down. GO: glutathione metabolism up; branched-chain amino acid catabolism and ER-to-Golgi transport down.</a:t>
            </a:r>
            <a:endParaRPr lang="en-US" sz="1200" dirty="0"/>
          </a:p>
          <a:p>
            <a:pPr marL="177800" indent="-177800">
              <a:lnSpc>
                <a:spcPct val="105000"/>
              </a:lnSpc>
              <a:spcAft>
                <a:spcPts val="500"/>
              </a:spcAft>
              <a:buSzPct val="100000"/>
              <a:buChar char="•"/>
            </a:pPr>
            <a:r>
              <a:rPr lang="en-US" sz="1200" b="1" dirty="0">
                <a:solidFill>
                  <a:schemeClr val="tx1"/>
                </a:solidFill>
              </a:rPr>
              <a:t>Synapse modules rise in PD: </a:t>
            </a:r>
            <a:pPr indent="0" marL="0">
              <a:lnSpc>
                <a:spcPct val="105000"/>
              </a:lnSpc>
              <a:spcAft>
                <a:spcPts val="500"/>
              </a:spcAft>
              <a:buNone/>
            </a:pPr>
            <a:r>
              <a:rPr lang="en-US" sz="1200" dirty="0">
                <a:solidFill>
                  <a:schemeClr val="tx1"/>
                </a:solidFill>
              </a:rPr>
              <a:t>M1 synaptic vesicle cycle and M2 synapse organization have higher eigengene expression and are enriched for excitatory-neuron markers (HPCA, NPTX1, SYN2).</a:t>
            </a:r>
            <a:endParaRPr lang="en-US" sz="1200" dirty="0"/>
          </a:p>
          <a:p>
            <a:pPr marL="177800" indent="-177800">
              <a:lnSpc>
                <a:spcPct val="105000"/>
              </a:lnSpc>
              <a:spcAft>
                <a:spcPts val="500"/>
              </a:spcAft>
              <a:buSzPct val="100000"/>
              <a:buChar char="•"/>
            </a:pPr>
            <a:r>
              <a:rPr lang="en-US" sz="1200" b="1" dirty="0">
                <a:solidFill>
                  <a:schemeClr val="tx1"/>
                </a:solidFill>
              </a:rPr>
              <a:t>Cross-omics concordance: </a:t>
            </a:r>
            <a:pPr indent="0" marL="0">
              <a:lnSpc>
                <a:spcPct val="105000"/>
              </a:lnSpc>
              <a:spcAft>
                <a:spcPts val="500"/>
              </a:spcAft>
              <a:buNone/>
            </a:pPr>
            <a:r>
              <a:rPr lang="en-US" sz="1200" dirty="0">
                <a:solidFill>
                  <a:schemeClr val="tx1"/>
                </a:solidFill>
              </a:rPr>
              <a:t>the same presynaptic assembly and axonogenesis terms were up at the RNA level in neurons, and RNA velocity flagged SYN2.</a:t>
            </a:r>
            <a:endParaRPr lang="en-US" sz="1200" dirty="0"/>
          </a:p>
        </p:txBody>
      </p:sp>
      <p:sp>
        <p:nvSpPr>
          <p:cNvPr id="12" name="chip PD versus AD"/>
          <p:cNvSpPr/>
          <p:nvPr/>
        </p:nvSpPr>
        <p:spPr>
          <a:xfrm>
            <a:off x="6263640" y="1188720"/>
            <a:ext cx="1463040" cy="292608"/>
          </a:xfrm>
          <a:prstGeom prst="roundRect">
            <a:avLst>
              <a:gd name="adj" fmla="val 50000"/>
            </a:avLst>
          </a:prstGeom>
          <a:solidFill>
            <a:srgbClr val="E4572E"/>
          </a:solidFill>
          <a:ln w="12700">
            <a:solidFill>
              <a:srgbClr val="E4572E"/>
            </a:solidFill>
            <a:prstDash val="solid"/>
          </a:ln>
        </p:spPr>
      </p:sp>
      <p:sp>
        <p:nvSpPr>
          <p:cNvPr id="13" name="chip text PD versus AD"/>
          <p:cNvSpPr txBox="1"/>
          <p:nvPr/>
        </p:nvSpPr>
        <p:spPr>
          <a:xfrm>
            <a:off x="6263640" y="1188720"/>
            <a:ext cx="1463040" cy="292608"/>
          </a:xfrm>
          <a:prstGeom prst="rect">
            <a:avLst/>
          </a:prstGeom>
          <a:noFill/>
          <a:ln/>
        </p:spPr>
        <p:txBody>
          <a:bodyPr wrap="square" lIns="0" tIns="0" rIns="0" bIns="0" rtlCol="0" anchor="ctr"/>
          <a:lstStyle/>
          <a:p>
            <a:pPr algn="ctr" indent="0" marL="0">
              <a:buNone/>
            </a:pPr>
            <a:r>
              <a:rPr lang="en-US" sz="1100" b="1" dirty="0">
                <a:solidFill>
                  <a:schemeClr val="bg1"/>
                </a:solidFill>
              </a:rPr>
              <a:t>PD versus AD</a:t>
            </a:r>
            <a:endParaRPr lang="en-US" sz="1100" dirty="0"/>
          </a:p>
        </p:txBody>
      </p:sp>
      <p:sp>
        <p:nvSpPr>
          <p:cNvPr id="14" name="frame f6a_degs"/>
          <p:cNvSpPr/>
          <p:nvPr/>
        </p:nvSpPr>
        <p:spPr>
          <a:xfrm>
            <a:off x="6208776" y="1545336"/>
            <a:ext cx="3127248" cy="2318984"/>
          </a:xfrm>
          <a:prstGeom prst="roundRect">
            <a:avLst>
              <a:gd name="adj" fmla="val 3154"/>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15" name="f6a_degs" descr="/tmp/claude-0/-home-user-owner/e66306d4-2675-5ec2-99fe-5e24f3a64605/scratchpad/figs/f6a_degs.png">    </p:cNvPr>
          <p:cNvPicPr>
            <a:picLocks noChangeAspect="1"/>
          </p:cNvPicPr>
          <p:nvPr/>
        </p:nvPicPr>
        <p:blipFill>
          <a:blip r:embed="rId3"/>
          <a:stretch>
            <a:fillRect/>
          </a:stretch>
        </p:blipFill>
        <p:spPr>
          <a:xfrm>
            <a:off x="6263640" y="1600200"/>
            <a:ext cx="3017520" cy="2209256"/>
          </a:xfrm>
          <a:prstGeom prst="rect">
            <a:avLst/>
          </a:prstGeom>
        </p:spPr>
      </p:pic>
      <p:sp>
        <p:nvSpPr>
          <p:cNvPr id="16" name="caption f6a_degs"/>
          <p:cNvSpPr txBox="1"/>
          <p:nvPr/>
        </p:nvSpPr>
        <p:spPr>
          <a:xfrm>
            <a:off x="6208776" y="3882608"/>
            <a:ext cx="3127248" cy="256032"/>
          </a:xfrm>
          <a:prstGeom prst="rect">
            <a:avLst/>
          </a:prstGeom>
          <a:noFill/>
          <a:ln/>
        </p:spPr>
        <p:txBody>
          <a:bodyPr wrap="square" lIns="0" tIns="0" rIns="0" bIns="0" rtlCol="0" anchor="ctr"/>
          <a:lstStyle/>
          <a:p>
            <a:pPr indent="0" marL="0">
              <a:buNone/>
            </a:pPr>
            <a:r>
              <a:rPr lang="en-US" sz="1000" i="1" dirty="0">
                <a:solidFill>
                  <a:schemeClr val="accent5"/>
                </a:solidFill>
              </a:rPr>
              <a:t>Fig. 6A  Shared DEGs with AD (Mathys 2019)</a:t>
            </a:r>
            <a:endParaRPr lang="en-US" sz="1000" dirty="0"/>
          </a:p>
        </p:txBody>
      </p:sp>
      <p:sp>
        <p:nvSpPr>
          <p:cNvPr id="17" name="frame f6c_bars"/>
          <p:cNvSpPr/>
          <p:nvPr/>
        </p:nvSpPr>
        <p:spPr>
          <a:xfrm>
            <a:off x="9363456" y="1545336"/>
            <a:ext cx="2423160" cy="1510821"/>
          </a:xfrm>
          <a:prstGeom prst="roundRect">
            <a:avLst>
              <a:gd name="adj" fmla="val 4842"/>
            </a:avLst>
          </a:prstGeom>
          <a:solidFill>
            <a:schemeClr val="bg1"/>
          </a:solidFill>
          <a:ln w="9525">
            <a:solidFill>
              <a:srgbClr val="C9CDE0"/>
            </a:solidFill>
            <a:prstDash val="solid"/>
          </a:ln>
          <a:effectLst>
            <a:outerShdw sx="100000" sy="100000" kx="0" ky="0" algn="bl" rotWithShape="0" blurRad="76200" dist="19050" dir="5400000">
              <a:srgbClr val="2B2D5B">
                <a:alpha val="18000"/>
              </a:srgbClr>
            </a:outerShdw>
          </a:effectLst>
        </p:spPr>
      </p:sp>
      <p:pic>
        <p:nvPicPr>
          <p:cNvPr id="18" name="f6c_bars" descr="/tmp/claude-0/-home-user-owner/e66306d4-2675-5ec2-99fe-5e24f3a64605/scratchpad/figs/f6c_bars.png">    </p:cNvPr>
          <p:cNvPicPr>
            <a:picLocks noChangeAspect="1"/>
          </p:cNvPicPr>
          <p:nvPr/>
        </p:nvPicPr>
        <p:blipFill>
          <a:blip r:embed="rId4"/>
          <a:stretch>
            <a:fillRect/>
          </a:stretch>
        </p:blipFill>
        <p:spPr>
          <a:xfrm>
            <a:off x="9418320" y="1600200"/>
            <a:ext cx="2313432" cy="1401093"/>
          </a:xfrm>
          <a:prstGeom prst="rect">
            <a:avLst/>
          </a:prstGeom>
        </p:spPr>
      </p:pic>
      <p:sp>
        <p:nvSpPr>
          <p:cNvPr id="19" name="caption f6c_bars"/>
          <p:cNvSpPr txBox="1"/>
          <p:nvPr/>
        </p:nvSpPr>
        <p:spPr>
          <a:xfrm>
            <a:off x="9363456" y="3074445"/>
            <a:ext cx="2423160" cy="256032"/>
          </a:xfrm>
          <a:prstGeom prst="rect">
            <a:avLst/>
          </a:prstGeom>
          <a:noFill/>
          <a:ln/>
        </p:spPr>
        <p:txBody>
          <a:bodyPr wrap="square" lIns="0" tIns="0" rIns="0" bIns="0" rtlCol="0" anchor="ctr"/>
          <a:lstStyle/>
          <a:p>
            <a:pPr indent="0" marL="0">
              <a:buNone/>
            </a:pPr>
            <a:r>
              <a:rPr lang="en-US" sz="1000" i="1" dirty="0">
                <a:solidFill>
                  <a:schemeClr val="accent5"/>
                </a:solidFill>
              </a:rPr>
              <a:t>Fig. 6C  Shared pathways</a:t>
            </a:r>
            <a:endParaRPr lang="en-US" sz="1000" dirty="0"/>
          </a:p>
        </p:txBody>
      </p:sp>
      <p:sp>
        <p:nvSpPr>
          <p:cNvPr id="20" name="r3 right bullets"/>
          <p:cNvSpPr txBox="1"/>
          <p:nvPr/>
        </p:nvSpPr>
        <p:spPr>
          <a:xfrm>
            <a:off x="6263640" y="4343400"/>
            <a:ext cx="5468112" cy="2011680"/>
          </a:xfrm>
          <a:prstGeom prst="rect">
            <a:avLst/>
          </a:prstGeom>
          <a:noFill/>
          <a:ln/>
        </p:spPr>
        <p:txBody>
          <a:bodyPr wrap="square" lIns="0" tIns="0" rIns="0" bIns="0" rtlCol="0" anchor="t"/>
          <a:lstStyle/>
          <a:p>
            <a:pPr marL="177800" indent="-177800">
              <a:lnSpc>
                <a:spcPct val="105000"/>
              </a:lnSpc>
              <a:spcAft>
                <a:spcPts val="500"/>
              </a:spcAft>
              <a:buSzPct val="100000"/>
              <a:buChar char="•"/>
            </a:pPr>
            <a:r>
              <a:rPr lang="en-US" sz="1200" b="1" dirty="0">
                <a:solidFill>
                  <a:schemeClr val="tx1"/>
                </a:solidFill>
              </a:rPr>
              <a:t>Zero shared neuronal DEGs </a:t>
            </a:r>
            <a:pPr indent="0" marL="0">
              <a:lnSpc>
                <a:spcPct val="105000"/>
              </a:lnSpc>
              <a:spcAft>
                <a:spcPts val="500"/>
              </a:spcAft>
              <a:buNone/>
            </a:pPr>
            <a:r>
              <a:rPr lang="en-US" sz="1200" dirty="0">
                <a:solidFill>
                  <a:schemeClr val="tx1"/>
                </a:solidFill>
              </a:rPr>
              <a:t>between PD and AD prefrontal cortex (24 AD vs 24 controls), despite 138 shared DEGs overall.</a:t>
            </a:r>
            <a:endParaRPr lang="en-US" sz="1200" dirty="0"/>
          </a:p>
          <a:p>
            <a:pPr marL="177800" indent="-177800">
              <a:lnSpc>
                <a:spcPct val="105000"/>
              </a:lnSpc>
              <a:spcAft>
                <a:spcPts val="500"/>
              </a:spcAft>
              <a:buSzPct val="100000"/>
              <a:buChar char="•"/>
            </a:pPr>
            <a:r>
              <a:rPr lang="en-US" sz="1200" b="1" dirty="0">
                <a:solidFill>
                  <a:schemeClr val="tx1"/>
                </a:solidFill>
              </a:rPr>
              <a:t>Overlap lives in glia: </a:t>
            </a:r>
            <a:pPr indent="0" marL="0">
              <a:lnSpc>
                <a:spcPct val="105000"/>
              </a:lnSpc>
              <a:spcAft>
                <a:spcPts val="500"/>
              </a:spcAft>
              <a:buNone/>
            </a:pPr>
            <a:r>
              <a:rPr lang="en-US" sz="1200" dirty="0">
                <a:solidFill>
                  <a:schemeClr val="tx1"/>
                </a:solidFill>
              </a:rPr>
              <a:t>astrocytes share metal-ion detoxification (MT1E, MT2A); microglia share immune activation and APOE, SPP1, APOC1 changes. Oligodendrocytes share SLC38A2, CA2.</a:t>
            </a:r>
            <a:endParaRPr lang="en-US" sz="1200" dirty="0"/>
          </a:p>
          <a:p>
            <a:pPr marL="177800" indent="-177800">
              <a:lnSpc>
                <a:spcPct val="105000"/>
              </a:lnSpc>
              <a:spcAft>
                <a:spcPts val="500"/>
              </a:spcAft>
              <a:buSzPct val="100000"/>
              <a:buChar char="•"/>
            </a:pPr>
            <a:r>
              <a:rPr lang="en-US" sz="1200" b="1" dirty="0">
                <a:solidFill>
                  <a:schemeClr val="tx1"/>
                </a:solidFill>
              </a:rPr>
              <a:t>Proteome agrees: </a:t>
            </a:r>
            <a:pPr indent="0" marL="0">
              <a:lnSpc>
                <a:spcPct val="105000"/>
              </a:lnSpc>
              <a:spcAft>
                <a:spcPts val="500"/>
              </a:spcAft>
              <a:buNone/>
            </a:pPr>
            <a:r>
              <a:rPr lang="en-US" sz="1200" dirty="0">
                <a:solidFill>
                  <a:schemeClr val="tx1"/>
                </a:solidFill>
              </a:rPr>
              <a:t>only CDH2 overlaps with the AD proteome; 12 up and 17 down pathways are shared (cytoskeletal transport, ER-Golgi, actin depolymerization).</a:t>
            </a:r>
            <a:endParaRPr lang="en-US" sz="1200" dirty="0"/>
          </a:p>
          <a:p>
            <a:pPr marL="177800" indent="-177800">
              <a:lnSpc>
                <a:spcPct val="105000"/>
              </a:lnSpc>
              <a:spcAft>
                <a:spcPts val="500"/>
              </a:spcAft>
              <a:buSzPct val="100000"/>
              <a:buChar char="•"/>
            </a:pPr>
            <a:r>
              <a:rPr lang="en-US" sz="1200" b="1" dirty="0">
                <a:solidFill>
                  <a:schemeClr val="tx1"/>
                </a:solidFill>
              </a:rPr>
              <a:t>Message: </a:t>
            </a:r>
            <a:pPr indent="0" marL="0">
              <a:lnSpc>
                <a:spcPct val="105000"/>
              </a:lnSpc>
              <a:spcAft>
                <a:spcPts val="500"/>
              </a:spcAft>
              <a:buNone/>
            </a:pPr>
            <a:r>
              <a:rPr lang="en-US" sz="1200" dirty="0">
                <a:solidFill>
                  <a:schemeClr val="tx1"/>
                </a:solidFill>
              </a:rPr>
              <a:t>neuronal vulnerability is disease-specific; glial inflammation is a common denominator.</a:t>
            </a:r>
            <a:endParaRPr lang="en-US" sz="12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11274552" cy="731520"/>
          </a:xfrm>
          <a:prstGeom prst="rect">
            <a:avLst/>
          </a:prstGeom>
          <a:noFill/>
          <a:ln/>
        </p:spPr>
        <p:txBody>
          <a:bodyPr wrap="square" lIns="0" tIns="0" rIns="0" bIns="0" rtlCol="0" anchor="ctr"/>
          <a:lstStyle/>
          <a:p>
            <a:pPr algn="l" indent="0" marL="0">
              <a:buNone/>
            </a:pPr>
            <a:r>
              <a:rPr lang="en-US" sz="2600" b="1" dirty="0">
                <a:solidFill>
                  <a:schemeClr val="bg1"/>
                </a:solidFill>
              </a:rPr>
              <a:t>Take-aways and critical appraisal</a:t>
            </a:r>
            <a:endParaRPr lang="en-US" sz="2600" dirty="0"/>
          </a:p>
        </p:txBody>
      </p:sp>
      <p:sp>
        <p:nvSpPr>
          <p:cNvPr id="3" name="takeaway card"/>
          <p:cNvSpPr/>
          <p:nvPr/>
        </p:nvSpPr>
        <p:spPr>
          <a:xfrm>
            <a:off x="457200" y="1188720"/>
            <a:ext cx="5532120" cy="5074920"/>
          </a:xfrm>
          <a:prstGeom prst="roundRect">
            <a:avLst>
              <a:gd name="adj" fmla="val 1802"/>
            </a:avLst>
          </a:prstGeom>
          <a:solidFill>
            <a:srgbClr val="FFFFFF"/>
          </a:solidFill>
          <a:ln w="12700">
            <a:solidFill>
              <a:srgbClr val="FFFFFF"/>
            </a:solidFill>
            <a:prstDash val="solid"/>
          </a:ln>
        </p:spPr>
      </p:sp>
      <p:sp>
        <p:nvSpPr>
          <p:cNvPr id="4" name="icon circle bulb"/>
          <p:cNvSpPr/>
          <p:nvPr/>
        </p:nvSpPr>
        <p:spPr>
          <a:xfrm>
            <a:off x="640080" y="1325880"/>
            <a:ext cx="457200" cy="457200"/>
          </a:xfrm>
          <a:prstGeom prst="ellipse">
            <a:avLst/>
          </a:prstGeom>
          <a:solidFill>
            <a:srgbClr val="F2A541"/>
          </a:solidFill>
          <a:ln w="12700">
            <a:solidFill>
              <a:srgbClr val="F2A541"/>
            </a:solidFill>
            <a:prstDash val="solid"/>
          </a:ln>
        </p:spPr>
      </p:sp>
      <p:pic>
        <p:nvPicPr>
          <p:cNvPr id="5" name="icon bulb" descr="/tmp/claude-0/-home-user-owner/e66306d4-2675-5ec2-99fe-5e24f3a64605/scratchpad/build/img/ic_bulb.png">    </p:cNvPr>
          <p:cNvPicPr>
            <a:picLocks noChangeAspect="1"/>
          </p:cNvPicPr>
          <p:nvPr/>
        </p:nvPicPr>
        <p:blipFill>
          <a:blip r:embed="rId1"/>
          <a:stretch>
            <a:fillRect/>
          </a:stretch>
        </p:blipFill>
        <p:spPr>
          <a:xfrm>
            <a:off x="758952" y="1444752"/>
            <a:ext cx="219456" cy="219456"/>
          </a:xfrm>
          <a:prstGeom prst="rect">
            <a:avLst/>
          </a:prstGeom>
        </p:spPr>
      </p:pic>
      <p:sp>
        <p:nvSpPr>
          <p:cNvPr id="6" name="heading What the paper shows"/>
          <p:cNvSpPr txBox="1"/>
          <p:nvPr/>
        </p:nvSpPr>
        <p:spPr>
          <a:xfrm>
            <a:off x="1234440" y="1371600"/>
            <a:ext cx="4480560" cy="365760"/>
          </a:xfrm>
          <a:prstGeom prst="rect">
            <a:avLst/>
          </a:prstGeom>
          <a:noFill/>
          <a:ln/>
        </p:spPr>
        <p:txBody>
          <a:bodyPr wrap="square" lIns="0" tIns="0" rIns="0" bIns="0" rtlCol="0" anchor="ctr"/>
          <a:lstStyle/>
          <a:p>
            <a:pPr indent="0" marL="0">
              <a:buNone/>
            </a:pPr>
            <a:r>
              <a:rPr lang="en-US" sz="1600" b="1" dirty="0">
                <a:solidFill>
                  <a:schemeClr val="tx2"/>
                </a:solidFill>
              </a:rPr>
              <a:t>What the paper shows</a:t>
            </a:r>
            <a:endParaRPr lang="en-US" sz="1600" dirty="0"/>
          </a:p>
        </p:txBody>
      </p:sp>
      <p:sp>
        <p:nvSpPr>
          <p:cNvPr id="7" name="takeaway bullets"/>
          <p:cNvSpPr txBox="1"/>
          <p:nvPr/>
        </p:nvSpPr>
        <p:spPr>
          <a:xfrm>
            <a:off x="685800" y="1874520"/>
            <a:ext cx="5120640" cy="4297680"/>
          </a:xfrm>
          <a:prstGeom prst="rect">
            <a:avLst/>
          </a:prstGeom>
          <a:noFill/>
          <a:ln/>
        </p:spPr>
        <p:txBody>
          <a:bodyPr wrap="square" lIns="0" tIns="0" rIns="0" bIns="0" rtlCol="0" anchor="t"/>
          <a:lstStyle/>
          <a:p>
            <a:pPr marL="177800" indent="-177800">
              <a:lnSpc>
                <a:spcPct val="105000"/>
              </a:lnSpc>
              <a:spcAft>
                <a:spcPts val="1200"/>
              </a:spcAft>
              <a:buSzPct val="100000"/>
              <a:buChar char="•"/>
            </a:pPr>
            <a:r>
              <a:rPr lang="en-US" sz="1400" b="1" dirty="0">
                <a:solidFill>
                  <a:schemeClr val="tx1"/>
                </a:solidFill>
              </a:rPr>
              <a:t>First single-cell atlas of PD prefrontal cortex </a:t>
            </a:r>
            <a:pPr indent="0" marL="0">
              <a:lnSpc>
                <a:spcPct val="105000"/>
              </a:lnSpc>
              <a:spcAft>
                <a:spcPts val="1200"/>
              </a:spcAft>
              <a:buNone/>
            </a:pPr>
            <a:r>
              <a:rPr lang="en-US" sz="1400" dirty="0">
                <a:solidFill>
                  <a:schemeClr val="tx1"/>
                </a:solidFill>
              </a:rPr>
              <a:t>(77,384 nuclei, 8 types) with paired proteomics and Lewy pathology from the same donors; data public (GEO GSE202210, PRIDE PXD030142).</a:t>
            </a:r>
            <a:endParaRPr lang="en-US" sz="1400" dirty="0"/>
          </a:p>
          <a:p>
            <a:pPr marL="177800" indent="-177800">
              <a:lnSpc>
                <a:spcPct val="105000"/>
              </a:lnSpc>
              <a:spcAft>
                <a:spcPts val="1200"/>
              </a:spcAft>
              <a:buSzPct val="100000"/>
              <a:buChar char="•"/>
            </a:pPr>
            <a:r>
              <a:rPr lang="en-US" sz="1400" b="1" dirty="0">
                <a:solidFill>
                  <a:schemeClr val="tx1"/>
                </a:solidFill>
              </a:rPr>
              <a:t>Neuroinflammation is cellular and specific: </a:t>
            </a:r>
            <a:pPr indent="0" marL="0">
              <a:lnSpc>
                <a:spcPct val="105000"/>
              </a:lnSpc>
              <a:spcAft>
                <a:spcPts val="1200"/>
              </a:spcAft>
              <a:buNone/>
            </a:pPr>
            <a:r>
              <a:rPr lang="en-US" sz="1400" dirty="0">
                <a:solidFill>
                  <a:schemeClr val="tx1"/>
                </a:solidFill>
              </a:rPr>
              <a:t>more brain-resident T cells and microglia, activation programs in glia, LRRK2 in microglia/OPCs.</a:t>
            </a:r>
            <a:endParaRPr lang="en-US" sz="1400" dirty="0"/>
          </a:p>
          <a:p>
            <a:pPr marL="177800" indent="-177800">
              <a:lnSpc>
                <a:spcPct val="105000"/>
              </a:lnSpc>
              <a:spcAft>
                <a:spcPts val="1200"/>
              </a:spcAft>
              <a:buSzPct val="100000"/>
              <a:buChar char="•"/>
            </a:pPr>
            <a:r>
              <a:rPr lang="en-US" sz="1400" b="1" dirty="0">
                <a:solidFill>
                  <a:schemeClr val="tx1"/>
                </a:solidFill>
              </a:rPr>
              <a:t>Excitatory neurons are the vulnerable population: </a:t>
            </a:r>
            <a:pPr indent="0" marL="0">
              <a:lnSpc>
                <a:spcPct val="105000"/>
              </a:lnSpc>
              <a:spcAft>
                <a:spcPts val="1200"/>
              </a:spcAft>
              <a:buNone/>
            </a:pPr>
            <a:r>
              <a:rPr lang="en-US" sz="1400" dirty="0">
                <a:solidFill>
                  <a:schemeClr val="tx1"/>
                </a:solidFill>
              </a:rPr>
              <a:t>chaperone loss scales with α-synuclein burden; HSP90AB1 and DNAJB6, which normally restrain α-syn aggregation, are candidate targets.</a:t>
            </a:r>
            <a:endParaRPr lang="en-US" sz="1400" dirty="0"/>
          </a:p>
          <a:p>
            <a:pPr marL="177800" indent="-177800">
              <a:lnSpc>
                <a:spcPct val="105000"/>
              </a:lnSpc>
              <a:spcAft>
                <a:spcPts val="1200"/>
              </a:spcAft>
              <a:buSzPct val="100000"/>
              <a:buChar char="•"/>
            </a:pPr>
            <a:r>
              <a:rPr lang="en-US" sz="1400" b="1" dirty="0">
                <a:solidFill>
                  <a:schemeClr val="tx1"/>
                </a:solidFill>
              </a:rPr>
              <a:t>Neuron-astrocyte support is lost </a:t>
            </a:r>
            <a:pPr indent="0" marL="0">
              <a:lnSpc>
                <a:spcPct val="105000"/>
              </a:lnSpc>
              <a:spcAft>
                <a:spcPts val="1200"/>
              </a:spcAft>
              <a:buNone/>
            </a:pPr>
            <a:r>
              <a:rPr lang="en-US" sz="1400" dirty="0">
                <a:solidFill>
                  <a:schemeClr val="tx1"/>
                </a:solidFill>
              </a:rPr>
              <a:t>while neuron-T cell Notch signalling appears.</a:t>
            </a:r>
            <a:endParaRPr lang="en-US" sz="1400" dirty="0"/>
          </a:p>
          <a:p>
            <a:pPr marL="177800" indent="-177800">
              <a:lnSpc>
                <a:spcPct val="105000"/>
              </a:lnSpc>
              <a:spcAft>
                <a:spcPts val="1200"/>
              </a:spcAft>
              <a:buSzPct val="100000"/>
              <a:buChar char="•"/>
            </a:pPr>
            <a:r>
              <a:rPr lang="en-US" sz="1400" b="1" dirty="0">
                <a:solidFill>
                  <a:schemeClr val="tx1"/>
                </a:solidFill>
              </a:rPr>
              <a:t>PD and AD diverge in neurons, converge in glia, </a:t>
            </a:r>
            <a:pPr indent="0" marL="0">
              <a:lnSpc>
                <a:spcPct val="105000"/>
              </a:lnSpc>
              <a:spcAft>
                <a:spcPts val="1200"/>
              </a:spcAft>
              <a:buNone/>
            </a:pPr>
            <a:r>
              <a:rPr lang="en-US" sz="1400" dirty="0">
                <a:solidFill>
                  <a:schemeClr val="tx1"/>
                </a:solidFill>
              </a:rPr>
              <a:t>arguing for disease-specific neuronal mechanisms on a shared inflammatory background.</a:t>
            </a:r>
            <a:endParaRPr lang="en-US" sz="1400" dirty="0"/>
          </a:p>
        </p:txBody>
      </p:sp>
      <p:sp>
        <p:nvSpPr>
          <p:cNvPr id="8" name="critique card"/>
          <p:cNvSpPr/>
          <p:nvPr/>
        </p:nvSpPr>
        <p:spPr>
          <a:xfrm>
            <a:off x="6217920" y="1188720"/>
            <a:ext cx="5513832" cy="5074920"/>
          </a:xfrm>
          <a:prstGeom prst="roundRect">
            <a:avLst>
              <a:gd name="adj" fmla="val 1802"/>
            </a:avLst>
          </a:prstGeom>
          <a:solidFill>
            <a:srgbClr val="FFFFFF"/>
          </a:solidFill>
          <a:ln w="12700">
            <a:solidFill>
              <a:srgbClr val="FFFFFF"/>
            </a:solidFill>
            <a:prstDash val="solid"/>
          </a:ln>
        </p:spPr>
      </p:sp>
      <p:sp>
        <p:nvSpPr>
          <p:cNvPr id="9" name="icon circle warn"/>
          <p:cNvSpPr/>
          <p:nvPr/>
        </p:nvSpPr>
        <p:spPr>
          <a:xfrm>
            <a:off x="6400800" y="1325880"/>
            <a:ext cx="457200" cy="457200"/>
          </a:xfrm>
          <a:prstGeom prst="ellipse">
            <a:avLst/>
          </a:prstGeom>
          <a:solidFill>
            <a:srgbClr val="E4572E"/>
          </a:solidFill>
          <a:ln w="12700">
            <a:solidFill>
              <a:srgbClr val="E4572E"/>
            </a:solidFill>
            <a:prstDash val="solid"/>
          </a:ln>
        </p:spPr>
      </p:sp>
      <p:pic>
        <p:nvPicPr>
          <p:cNvPr id="10" name="icon warn" descr="/tmp/claude-0/-home-user-owner/e66306d4-2675-5ec2-99fe-5e24f3a64605/scratchpad/build/img/ic_warn.png">    </p:cNvPr>
          <p:cNvPicPr>
            <a:picLocks noChangeAspect="1"/>
          </p:cNvPicPr>
          <p:nvPr/>
        </p:nvPicPr>
        <p:blipFill>
          <a:blip r:embed="rId2"/>
          <a:stretch>
            <a:fillRect/>
          </a:stretch>
        </p:blipFill>
        <p:spPr>
          <a:xfrm>
            <a:off x="6519672" y="1444752"/>
            <a:ext cx="219456" cy="219456"/>
          </a:xfrm>
          <a:prstGeom prst="rect">
            <a:avLst/>
          </a:prstGeom>
        </p:spPr>
      </p:pic>
      <p:sp>
        <p:nvSpPr>
          <p:cNvPr id="11" name="heading Questions to raise in discussion"/>
          <p:cNvSpPr txBox="1"/>
          <p:nvPr/>
        </p:nvSpPr>
        <p:spPr>
          <a:xfrm>
            <a:off x="6995160" y="1371600"/>
            <a:ext cx="4480560" cy="365760"/>
          </a:xfrm>
          <a:prstGeom prst="rect">
            <a:avLst/>
          </a:prstGeom>
          <a:noFill/>
          <a:ln/>
        </p:spPr>
        <p:txBody>
          <a:bodyPr wrap="square" lIns="0" tIns="0" rIns="0" bIns="0" rtlCol="0" anchor="ctr"/>
          <a:lstStyle/>
          <a:p>
            <a:pPr indent="0" marL="0">
              <a:buNone/>
            </a:pPr>
            <a:r>
              <a:rPr lang="en-US" sz="1600" b="1" dirty="0">
                <a:solidFill>
                  <a:schemeClr val="tx2"/>
                </a:solidFill>
              </a:rPr>
              <a:t>Questions to raise in discussion</a:t>
            </a:r>
            <a:endParaRPr lang="en-US" sz="1600" dirty="0"/>
          </a:p>
        </p:txBody>
      </p:sp>
      <p:sp>
        <p:nvSpPr>
          <p:cNvPr id="12" name="critique bullets"/>
          <p:cNvSpPr txBox="1"/>
          <p:nvPr/>
        </p:nvSpPr>
        <p:spPr>
          <a:xfrm>
            <a:off x="6446520" y="1874520"/>
            <a:ext cx="5120640" cy="4297680"/>
          </a:xfrm>
          <a:prstGeom prst="rect">
            <a:avLst/>
          </a:prstGeom>
          <a:noFill/>
          <a:ln/>
        </p:spPr>
        <p:txBody>
          <a:bodyPr wrap="square" lIns="0" tIns="0" rIns="0" bIns="0" rtlCol="0" anchor="t"/>
          <a:lstStyle/>
          <a:p>
            <a:pPr marL="177800" indent="-177800">
              <a:lnSpc>
                <a:spcPct val="105000"/>
              </a:lnSpc>
              <a:spcAft>
                <a:spcPts val="1200"/>
              </a:spcAft>
              <a:buSzPct val="100000"/>
              <a:buChar char="•"/>
            </a:pPr>
            <a:r>
              <a:rPr lang="en-US" sz="1400" b="1" dirty="0">
                <a:solidFill>
                  <a:schemeClr val="tx1"/>
                </a:solidFill>
              </a:rPr>
              <a:t>n = 6 vs 6. </a:t>
            </a:r>
            <a:pPr indent="0" marL="0">
              <a:lnSpc>
                <a:spcPct val="105000"/>
              </a:lnSpc>
              <a:spcAft>
                <a:spcPts val="1200"/>
              </a:spcAft>
              <a:buNone/>
            </a:pPr>
            <a:r>
              <a:rPr lang="en-US" sz="1400" dirty="0">
                <a:solidFill>
                  <a:schemeClr val="tx1"/>
                </a:solidFill>
              </a:rPr>
              <a:t>Correlations with pathology rest on six PD points; one donor (score 11.9) can drive R². Proteomic hits are uncorrected P &lt; 0.05 and need replication.</a:t>
            </a:r>
            <a:endParaRPr lang="en-US" sz="1400" dirty="0"/>
          </a:p>
          <a:p>
            <a:pPr marL="177800" indent="-177800">
              <a:lnSpc>
                <a:spcPct val="105000"/>
              </a:lnSpc>
              <a:spcAft>
                <a:spcPts val="1200"/>
              </a:spcAft>
              <a:buSzPct val="100000"/>
              <a:buChar char="•"/>
            </a:pPr>
            <a:r>
              <a:rPr lang="en-US" sz="1400" b="1" dirty="0">
                <a:solidFill>
                  <a:schemeClr val="tx1"/>
                </a:solidFill>
              </a:rPr>
              <a:t>Pseudoreplication. </a:t>
            </a:r>
            <a:pPr indent="0" marL="0">
              <a:lnSpc>
                <a:spcPct val="105000"/>
              </a:lnSpc>
              <a:spcAft>
                <a:spcPts val="1200"/>
              </a:spcAft>
              <a:buNone/>
            </a:pPr>
            <a:r>
              <a:rPr lang="en-US" sz="1400" dirty="0">
                <a:solidFill>
                  <a:schemeClr val="tx1"/>
                </a:solidFill>
              </a:rPr>
              <a:t>Wilcoxon treats each nucleus as independent, so DEG counts (and the 806 figure) are inflated relative to donor-level pseudobulk tests. Variance partition helps but does not fix this.</a:t>
            </a:r>
            <a:endParaRPr lang="en-US" sz="1400" dirty="0"/>
          </a:p>
          <a:p>
            <a:pPr marL="177800" indent="-177800">
              <a:lnSpc>
                <a:spcPct val="105000"/>
              </a:lnSpc>
              <a:spcAft>
                <a:spcPts val="1200"/>
              </a:spcAft>
              <a:buSzPct val="100000"/>
              <a:buChar char="•"/>
            </a:pPr>
            <a:r>
              <a:rPr lang="en-US" sz="1400" b="1" dirty="0">
                <a:solidFill>
                  <a:schemeClr val="tx1"/>
                </a:solidFill>
              </a:rPr>
              <a:t>Correlation, not causation. </a:t>
            </a:r>
            <a:pPr indent="0" marL="0">
              <a:lnSpc>
                <a:spcPct val="105000"/>
              </a:lnSpc>
              <a:spcAft>
                <a:spcPts val="1200"/>
              </a:spcAft>
              <a:buNone/>
            </a:pPr>
            <a:r>
              <a:rPr lang="en-US" sz="1400" dirty="0">
                <a:solidFill>
                  <a:schemeClr val="tx1"/>
                </a:solidFill>
              </a:rPr>
              <a:t>Is chaperone loss a cause of aggregation or a late consequence of dying neurons? Only RNAscope-level, not functional, validation.</a:t>
            </a:r>
            <a:endParaRPr lang="en-US" sz="1400" dirty="0"/>
          </a:p>
          <a:p>
            <a:pPr marL="177800" indent="-177800">
              <a:lnSpc>
                <a:spcPct val="105000"/>
              </a:lnSpc>
              <a:spcAft>
                <a:spcPts val="1200"/>
              </a:spcAft>
              <a:buSzPct val="100000"/>
              <a:buChar char="•"/>
            </a:pPr>
            <a:r>
              <a:rPr lang="en-US" sz="1400" b="1" dirty="0">
                <a:solidFill>
                  <a:schemeClr val="tx1"/>
                </a:solidFill>
              </a:rPr>
              <a:t>Design limits. </a:t>
            </a:r>
            <a:pPr indent="0" marL="0">
              <a:lnSpc>
                <a:spcPct val="105000"/>
              </a:lnSpc>
              <a:spcAft>
                <a:spcPts val="1200"/>
              </a:spcAft>
              <a:buNone/>
            </a:pPr>
            <a:r>
              <a:rPr lang="en-US" sz="1400" dirty="0">
                <a:solidFill>
                  <a:schemeClr val="tx1"/>
                </a:solidFill>
              </a:rPr>
              <a:t>Late-stage, unblinded, end-stage tissue; T cells are rare (276 nuclei); WGCNA pooled PD and HC; AD comparison spans different cohorts, regions (BA9 vs BA10) and pipelines.</a:t>
            </a:r>
            <a:endParaRPr lang="en-US" sz="1400" dirty="0"/>
          </a:p>
          <a:p>
            <a:pPr marL="177800" indent="-177800">
              <a:lnSpc>
                <a:spcPct val="105000"/>
              </a:lnSpc>
              <a:spcAft>
                <a:spcPts val="1200"/>
              </a:spcAft>
              <a:buSzPct val="100000"/>
              <a:buChar char="•"/>
            </a:pPr>
            <a:r>
              <a:rPr lang="en-US" sz="1400" b="1" dirty="0">
                <a:solidFill>
                  <a:schemeClr val="tx1"/>
                </a:solidFill>
              </a:rPr>
              <a:t>Next steps. </a:t>
            </a:r>
            <a:pPr indent="0" marL="0">
              <a:lnSpc>
                <a:spcPct val="105000"/>
              </a:lnSpc>
              <a:spcAft>
                <a:spcPts val="1200"/>
              </a:spcAft>
              <a:buNone/>
            </a:pPr>
            <a:r>
              <a:rPr lang="en-US" sz="1400" dirty="0">
                <a:solidFill>
                  <a:schemeClr val="tx1"/>
                </a:solidFill>
              </a:rPr>
              <a:t>Larger cohorts with pseudobulk models, early-stage and incidental Lewy body cases, spatial transcriptomics, and perturbing HSP90AB1/DNAJB6 in neuron-glia co-cultures.</a:t>
            </a:r>
            <a:endParaRPr lang="en-US" sz="1400" dirty="0"/>
          </a:p>
        </p:txBody>
      </p:sp>
      <p:sp>
        <p:nvSpPr>
          <p:cNvPr id="25" name="Slide Number Placeholder 0"/>
          <p:cNvSpPr>
            <a:spLocks noGrp="1"/>
          </p:cNvSpPr>
          <p:nvPr>
            <p:ph type="sldNum" sz="quarter" idx="4294967295"/>
          </p:nvPr>
        </p:nvSpPr>
        <p:spPr>
          <a:xfrm>
            <a:off x="1124712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PD Atlas">
  <a:themeElements>
    <a:clrScheme name="PD Atlas">
      <a:dk1>
        <a:srgbClr val="1B1D3A"/>
      </a:dk1>
      <a:lt1>
        <a:srgbClr val="FFFFFF"/>
      </a:lt1>
      <a:dk2>
        <a:srgbClr val="2B2D5B"/>
      </a:dk2>
      <a:lt2>
        <a:srgbClr val="EEF0F8"/>
      </a:lt2>
      <a:accent1>
        <a:srgbClr val="E4572E"/>
      </a:accent1>
      <a:accent2>
        <a:srgbClr val="17A398"/>
      </a:accent2>
      <a:accent3>
        <a:srgbClr val="F2A541"/>
      </a:accent3>
      <a:accent4>
        <a:srgbClr val="4A4D8C"/>
      </a:accent4>
      <a:accent5>
        <a:srgbClr val="6B7190"/>
      </a:accent5>
      <a:accent6>
        <a:srgbClr val="C9CDE0"/>
      </a:accent6>
      <a:hlink>
        <a:srgbClr val="17A398"/>
      </a:hlink>
      <a:folHlink>
        <a:srgbClr val="4A4D8C"/>
      </a:folHlink>
    </a:clrScheme>
    <a:fontScheme name="PD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Single-cell transcriptomic and proteomic analysis of Parkinson’s disease brains</dc:title>
  <dc:subject>PptxGenJS Presentation</dc:subject>
  <dc:creator>Journal club</dc:creator>
  <cp:lastModifiedBy>Journal club</cp:lastModifiedBy>
  <cp:revision>1</cp:revision>
  <dcterms:created xsi:type="dcterms:W3CDTF">2026-10-21T15:41:24Z</dcterms:created>
  <dcterms:modified xsi:type="dcterms:W3CDTF">2026-10-21T15:41:24Z</dcterms:modified>
</cp:coreProperties>
</file>