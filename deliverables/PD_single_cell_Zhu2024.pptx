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e03a86d8-cb18-ea81-72c4-70a40457ea20}">
          <p14:sldIdLst>
            <p14:sldId id="256"/>
          </p14:sldIdLst>
        </p14:section>
        <p14:section name="Introduction" id="{d0cc1cbd-6409-15b8-2705-e6dcff3f4d6e}">
          <p14:sldIdLst>
            <p14:sldId id="257"/>
            <p14:sldId id="258"/>
          </p14:sldIdLst>
        </p14:section>
        <p14:section name="Methods" id="{d7c7d4a0-de60-e3b6-9702-617f43f01d70}">
          <p14:sldIdLst>
            <p14:sldId id="259"/>
          </p14:sldIdLst>
        </p14:section>
        <p14:section name="Results" id="{dbdaebd9-21dd-cc49-c187-65bd7488c318}">
          <p14:sldIdLst>
            <p14:sldId id="260"/>
            <p14:sldId id="261"/>
            <p14:sldId id="262"/>
          </p14:sldIdLst>
        </p14:section>
        <p14:section name="Conclusion" id="{68ac1982-11bd-1c08-d8c7-c7da7a11c29f}">
          <p14:sldIdLst>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Today I'd like to walk you through a paper that came out in Science Translational Medicine in October 2024, from Le Zhang, Sreeganga Chandra and David Hafler's groups at Yale. The title is "Single-cell transcriptomic and proteomic analysis of Parkinson's disease brains."
In one sentence, this is the first single-cell map of the Parkinson's disease prefrontal cortex. What makes it a little different from a typical atlas paper, though, is that the authors didn't stop at RNA. They also measured proteins and scored Lewy pathology in the very same pieces of tissue, so the three layers can be compared directly within each donor.
The cohort is small, just six patients with late-stage PD and six age-matched controls, and I'll come back to what that means at the end. But first, let me set up why this study was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what we already know about Parkinson's disease. It is the second most common neurodegenerative disorder, affecting roughly one million people in the United States and about six million worldwide. The textbook pathology has two parts: the loss of dopamine neurons in the substantia nigra, which you can see marked in the midbrain on the illustration, and the accumulation of misfolded alpha-synuclein inside neurons, forming the inclusions we call Lewy bodies.
So far, so familiar. However, two things have become clear over the past decade. First, PD is not purely a neuronal disease. Genetic and epidemiological evidence keeps pointing toward glial and immune pathways, and that is what we loosely call neuroinflammation. The problem is that most of that evidence comes from bulk tissue, where neurons, astrocytes, microglia and T cells are all averaged together. As a result, we don't actually know which cell types drive the inflammatory signal, or how much neurons versus glia contribute to sporadic disease.
Second, the cortex has been something of a blind spot. In late-stage PD, Lewy pathology spreads well beyond the midbrain into cortical areas, including the prefrontal cortex, and earlier bulk RNA-seq had flagged this region as abnormal. Yet, at the time this work was done, there was no single-cell map of PD cortex at all. Conveniently, single-nucleus RNA sequencing now makes frozen postmortem brain tractable, because nuclei survive freezing even when whole cells don't.
With that gap in mind, let's look at what the authors set out to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overarching question is simple to state: which cell types, which genes, and which cell-to-cell conversations change in late-stage PD cortex, and are those changes specific to PD?
To answer it, the paper breaks into four aims, and I've organised the results slides to follow the same order.
The first aim is to build a cell-type atlas. That means single-nucleus RNA-seq of Brodmann area 9, the dorsolateral prefrontal cortex, from six PD donors and six controls, followed by identifying each cell type and its disease-associated genes and pathways.
The second aim is to anchor those transcriptional changes to something tangible. On one side, that's pathology: they stain the same tissue for phosphorylated alpha-synuclein, score the Lewy burden, and ask whether it correlates with gene expression in neurons. On the other side, it's genetics: they take the known PARK genes and GWAS risk loci and ask in which cell types those genes are actually changing.
The third aim moves from single cells to interactions and proteins. Using ligand-receptor inference, they map communication between neurons, glia and T cells, and in parallel they run mass spectrometry on the same donors and use co-expression network analysis to link protein modules back to cell types.
Finally, the fourth aim is comparative. Since PD and Alzheimer's disease are the two most common late-onset neurodegenerative disorders, and since a single-cell AD dataset from the same cortical region already existed, they ask whether the two diseases share a cellular signature.
Now, before we get to the findings, I want to spend a few minutes on how the data were generated and analysed, because several of the critical points at the end hinge on those choices.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looks busy, so let me walk through it lane by lane, from top to bottom.
At the top, the samples. Twelve postmortem donors, prefrontal cortex BA9, six with late-stage PD and six sex- and age-matched controls with a mean age of about 76. All three data streams below come from these same twelve brains, which is the real strength of the design.
The first lane is the single-nucleus RNA-seq pipeline. Nuclei are isolated from frozen tissue by sucrose-gradient ultracentrifugation, then loaded on the 10x Chromium platform and sequenced to roughly 100,000 reads per nucleus. One detail worth noting is the alignment step: they built a custom pre-mRNA reference. The reason is that nuclear RNA is largely unspliced, so a standard transcriptome reference would throw away most of the reads. After quality control, keeping nuclei with between 200 and 7,000 genes to remove debris and doublets, they end up with 77,384 nuclei.
Then comes the Seurat workflow. Each sample is log-normalised and the top 2,000 highly variable genes are selected. Next, and this is important, all twelve donors are integrated using anchor-based integration. In practice, that means the algorithm finds pairs of similar cells across samples and uses them to align the datasets, which removes donor and batch effects while preserving shared biology. After PCA and UMAP they obtain twelve clusters, which they collapse into eight major cell types using canonical markers. Differential expression is then run per cell type with a Wilcoxon rank-sum test, requiring a log fold change above 0.25 and an FDR below 0.05, and pathways are summarised with GO enrichment.
Below that, a row of downstream analyses: proportion tests, variance partitioning, RNA velocity with scVelo, ligand-receptor inference with CellPhoneDB, a GWAS-to-cell-type method called UTMOST, and RNAscope in situ hybridisation on an independent cohort for validation.
The second lane is proteomics. Label-free mass spectrometry on the same tissue quantifies about 2,500 proteins. Differential abundance uses a two-sided t test, and here I should flag that they report nominal P below 0.05 without multiple-testing correction. They then run WGCNA, which clusters proteins into co-expression modules, fourteen in this case, and tests each module for enrichment of cell-type marker genes with a Fisher exact test. That is how a bulk protein measurement gets attributed back to a cell type.
The third lane is pathology: phospho-S129 alpha-synuclein immunohistochemistry, a Lewy body and neurite count per brain, a t test between groups, and then correlation of that score with chaperone gene expression in excitatory neurons.
So why these particular statistics? Briefly: the Wilcoxon test is non-parametric, which suits sparse, zero-inflated single-cell counts, and it is also what the AD atlas used, so the later comparison is like-for-like. FDR control is needed because thousands of genes are tested per cell type. For proteins, log intensities are roughly normal, so a t test is reasonable, but with six versus six nothing survives correction, which the authors acknowledge. And the permutation test inside CellPhoneDB builds an empirical null by shuffling cell labels, so it needs no distributional assumption.
With the pipeline in hand, let's turn to what they found.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atlas. On the left, the UMAP of all 77,384 nuclei, coloured by cell type. You can see the eight major populations: excitatory and inhibitory neurons, oligodendrocytes, OPCs, astrocytes, microglia, endothelial cells and, importantly, a small cluster of brain-resident T cells. One reassuring point is that when the same plot is coloured by donor or by disease status, PD and control nuclei overlap within each cluster, so the clustering is driven by cell identity rather than by patient. The variance partition analysis backs this up: cell type explains more than half of the expression variance, donor explains under six percent, and post-mortem interval, age and sex each explain less than half a percent.
Now, what changes in PD? First, proportions. The middle panel shows that most cell types are stable. However, T cells increase about seven-fold, from 33 to 243 nuclei, and that is significant at P equals 0.02. Microglia also roughly double, although that only reaches P equals 0.09, and oligodendrocytes decrease. The microglial and T cell increases were confirmed with RNAscope on independent sections, so they don't rest on the sequencing alone.
Second, the direction of transcriptional change. Look at the table on the right. Neurons have relatively few differentially expressed genes, and most of them go down: 79 percent of excitatory and 67 percent of inhibitory neuron DEGs are down-regulated, and the down-regulated pathways are dominated by protein folding and the unfolded protein response, genes like HSPB1, HSP90AB1, DNAJB6 and HSPA1A. In other words, neurons seem to be losing chaperone capacity.
Glia, by contrast, do the opposite. Astrocytes and microglia carry the largest numbers of DEGs, and theirs are mostly up. Astrocytes switch on metal-ion detoxification genes such as the metallothioneins, microglia activate myeloid differentiation and hematopoiesis programs including FOS, STAT3 and RUNX1, and oligodendrocytes up-regulate protein-complex assembly. Even the T cells show enrichment for IL7R, IL15, CD28 and ZAP70, which suggests an active rather than a bystander population.
So the headline from this first result is an inverse pattern: neurons go quiet while glia and immune cells switch on. The natural next question is whether the neuronal change has anything to do with the pathology itself, and that brings us to the second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take the left half first. The authors stained the same prefrontal sections for phospho-S129 alpha-synuclein and counted Lewy bodies and Lewy neurites. As expected, controls had essentially none, whereas every PD brain had some, with scores ranging from 0.1 all the way up to about 12. That difference is significant at P equals 0.03, but notice the wide spread between PD donors. That spread is actually useful, because it lets them ask whether more pathology means more transcriptional change.
And it does, at least for chaperones. In the correlation panels, each point is a donor, and the y axis is the pathology score. For most of the protein-folding genes in excitatory neurons, higher Lewy burden goes with lower expression. HSP90AB1 is the strongest, with an R-squared of 0.74, followed by HSPA1A at 0.61, DNAJA4 at 0.58 and HSPB1 at 0.47. Interestingly, HSPA4L, which encodes a disaggregase, is the one that does not correlate, and the authors read that as the disaggregation machinery not being induced to compensate. Equally interesting, inhibitory neurons show the same trend but far more weakly, which fits the long-standing observation that Lewy bodies form mainly in excitatory neurons.
They also looked at the known PD genes. SNCA and LRRK2 are up in PD, and LRRK2 in particular is highest in microglia and OPCs, which echoes earlier findings in blood monocytes. On the other hand, PRKN, PINK1, GBA and PARK7 are down in excitatory neurons, so the direction of change is broadly consistent with the loss-of-function genetics.
Now, moving to the right half: cell-cell communication. This matrix shows, for every pair of cell types, the number of ligand-receptor interactions in PD minus the number in controls, as inferred by CellPhoneDB. The striking thing is that almost the whole matrix is blue. Communication is globally reduced in PD. The hardest-hit pair is excitatory neurons with astrocytes, where roughly a quarter of the interactions are lost, including trophic signals such as EGFR with TGF-alpha and betacellulin, TYRO3 with GAS6, and the SIRPA-CD47 "don't eat me" signal.
T cells, however, behave differently. Rather than simply disconnecting, they rewire. Interactions that restrain immune activation, such as CD74 with APP and the CX3CR1-CX3CL1 axis, are lost in PD, while new Notch and TNF-receptor interactions with neurons appear. Taken together, the picture is that supportive neuron-glia signalling fades while inflammatory signalling to T cells emerges.
That is the RNA story. The third result asks whether the proteins agree, and whether any of this is unique to PD.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Starting on the left with the proteome. From about 2,500 quantified proteins, 22 came out as differentially abundant at a nominal P below 0.05, with CDH2, GSTT1 and N4BP1 among those going up and SEC13, BRCC3 and NDRG2 among those going down. At the pathway level, glutathione metabolism is up, which fits an oxidative-stress response, whereas branched-chain amino acid catabolism and ER-to-Golgi transport are down. Again, I'd remind you these are uncorrected P values, so treat the individual proteins as candidates rather than established findings.
The more robust result comes from the network analysis. WGCNA organised the proteome into fourteen modules, each labelled by its top GO term in the colour bar you see on the dendrogram. Two of those modules, M1 synaptic vesicle cycle and M2 synapse organisation, have higher eigengene expression in PD, and when the authors tested which cell-type markers they contain, both were enriched for excitatory-neuron genes such as HPCA, NPTX1 and SYN2. That matters because it mirrors what they saw at the RNA level, where presynaptic assembly and axonogenesis were the top up-regulated pathways in neurons, and RNA velocity had independently flagged SYN2. So two different molecular layers point to the same synaptic remodelling in excitatory neurons.
Now to the right half, the comparison with Alzheimer's disease. They used the Mathys et al. 2019 single-nucleus dataset from the prefrontal cortex, 24 AD cases and 24 controls, and processed it with the same differential expression settings. The headline is in the first two rows of the table: zero shared differentially expressed genes in excitatory or inhibitory neurons. Not a reduced overlap, but none at all, even though 138 genes overlap across all cell types combined.
Where, then, is the overlap? It is in glia. Astrocytes share the metal-ion detoxification response, metallothioneins again, microglia share an immune activation signature including APOE, SPP1 and APOC1, and oligodendrocytes share a handful of genes. The bar chart shows the top shared pathways, and you can see they are all about cadmium, copper and zinc responses in astrocytes and interferon and innate immune regulation in microglia.
The proteome tells the same story in a different way. Against an AD proteomic dataset from the same region, only a single protein, CDH2, overlaps, yet 12 up- and 17 down-regulated pathways are shared, mostly cytoskeletal transport and ER-to-Golgi trafficking.
So the message of this slide is that neuronal vulnerability appears to be disease-specific, whereas glial inflammation looks like a common denominator across the two diseases.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pull this together, and then I'd like to spend the remaining time on what I think we should question.
On the left are the five things I would take away. First, this is the first single-cell atlas of PD prefrontal cortex, and crucially it comes with paired proteomics and pathology from the same donors, and all of the data are public on GEO and PRIDE. Second, neuroinflammation in PD is cellular and specific: more T cells, more microglia, defined activation programs in each glial type, and LRRK2 sitting in microglia and OPCs. Third, excitatory neurons are the vulnerable population, and their loss of chaperones scales with alpha-synuclein burden, which makes HSP90AB1 and DNAJB6, both known to restrain alpha-synuclein aggregation, plausible therapeutic targets. Fourth, neuron-astrocyte support is lost while neuron-T cell Notch signalling appears. And fifth, PD and AD diverge in neurons but converge in glia.
That said, there are several points I think deserve discussion, and these are on the right.
The first is sample size. Six versus six is very small for a human cohort. The pathology correlations, in particular, rest on six PD data points, and if you look back at the scatter plots, one donor with a score near 12 sits far from the others and could be driving several of those R-squared values. Likewise, the proteomic hits are uncorrected and the authors themselves say they need replication.
The second point is more technical but, in my view, the most important: pseudoreplication. The Wilcoxon test treats every nucleus as an independent observation, so a cell type with 20,000 nuclei is tested as if it had 20,000 samples, when in reality there are twelve biological replicates. That inflates significance, and it means the 806 DEGs would almost certainly shrink under a donor-level pseudobulk analysis. The variance partition result is reassuring about batch effects, but it does not fix this issue.
Third, correlation is not causation. Is the loss of chaperones a cause of aggregation, or is it a late consequence of neurons that are already dying? The study validates expression changes with RNAscope, which is good, but there is no functional experiment.
Fourth, some design limits: the tissue is late-stage and end-stage, the investigators were not blinded, T cells are a very small population of fewer than 300 nuclei, WGCNA was run on PD and control samples pooled together, and the AD comparison crosses different cohorts, slightly different regions, BA9 versus BA10, and different pipelines.
Finally, what would I do next? Larger cohorts analysed with pseudobulk mixed models, inclusion of early-stage or incidental Lewy body cases to separate cause from consequence, spatial transcriptomics to place the T cells and the lost astrocyte contacts in context, and, most directly, perturbing HSP90AB1 or DNAJB6 in neuron-glia co-cultures to test whether chaperone loss actually accelerates alpha-synuclein aggregation.
With that, I'll stop here. Thank you, and I'm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2B2D5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828800"/>
            <a:ext cx="6949440" cy="201168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3" name="Text 0"/>
          <p:cNvSpPr/>
          <p:nvPr>
            <p:ph idx="101" type="body" hasCustomPrompt="1"/>
          </p:nvPr>
        </p:nvSpPr>
        <p:spPr>
          <a:xfrm>
            <a:off x="640080" y="3931920"/>
            <a:ext cx="6949440" cy="1463040"/>
          </a:xfrm>
          <a:prstGeom prst="rect">
            <a:avLst/>
          </a:prstGeom>
          <a:noFill/>
          <a:ln/>
        </p:spPr>
        <p:txBody>
          <a:bodyPr wrap="square" rtlCol="0"/>
          <a:lstStyle>
            <a:lvl1pPr indent="0" marL="0">
              <a:buNone/>
              <a:defRPr lang="en-US" sz="1600" dirty="0">
                <a:solidFill>
                  <a:schemeClr val="accent6"/>
                </a:solidFill>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74552" cy="731520"/>
          </a:xfrm>
          <a:prstGeom prst="rect">
            <a:avLst/>
          </a:prstGeom>
          <a:noFill/>
          <a:ln/>
        </p:spPr>
        <p:txBody>
          <a:bodyPr wrap="square" rtlCol="0"/>
          <a:lstStyle>
            <a:lvl1pPr algn="l" indent="0" marL="0">
              <a:buNone/>
              <a:defRPr lang="en-US" sz="2600" b="1" dirty="0">
                <a:solidFill>
                  <a:schemeClr val="tx2"/>
                </a:solidFill>
              </a:defRPr>
            </a:lvl1pPr>
          </a:lstStyle>
          <a:p>
            <a:pPr algn="l" indent="0" marL="0">
              <a:buNone/>
            </a:pPr>
            <a:endParaRPr lang="en-US" sz="2600" dirty="0"/>
          </a:p>
        </p:txBody>
      </p:sp>
      <p:sp>
        <p:nvSpPr>
          <p:cNvPr id="3" name="Text 0"/>
          <p:cNvSpPr/>
          <p:nvPr/>
        </p:nvSpPr>
        <p:spPr>
          <a:xfrm>
            <a:off x="457200" y="644652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Zhu et al., Sci. Transl. Med. 16, eabo1997 (2024)</a:t>
            </a:r>
            <a:endParaRPr lang="en-US" sz="1000" dirty="0"/>
          </a:p>
        </p:txBody>
      </p:sp>
      <p:sp>
        <p:nvSpPr>
          <p:cNvPr id="25" name="Slide Number Placeholder 0"/>
          <p:cNvSpPr>
            <a:spLocks noGrp="1"/>
          </p:cNvSpPr>
          <p:nvPr>
            <p:ph type="sldNum" sz="quarter" idx="4294967295"/>
          </p:nvPr>
        </p:nvSpPr>
        <p:spPr>
          <a:xfrm>
            <a:off x="1124712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
    <p:bg>
      <p:bgPr>
        <a:solidFill>
          <a:srgbClr val="2B2D5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74552" cy="731520"/>
          </a:xfrm>
          <a:prstGeom prst="rect">
            <a:avLst/>
          </a:prstGeom>
          <a:noFill/>
          <a:ln/>
        </p:spPr>
        <p:txBody>
          <a:bodyPr wrap="square" rtlCol="0"/>
          <a:lstStyle>
            <a:lvl1pPr algn="l" indent="0" marL="0">
              <a:buNone/>
              <a:defRPr lang="en-US" sz="2600" b="1" dirty="0">
                <a:solidFill>
                  <a:schemeClr val="bg1"/>
                </a:solidFill>
              </a:defRPr>
            </a:lvl1pPr>
          </a:lstStyle>
          <a:p>
            <a:pPr algn="l" indent="0" marL="0">
              <a:buNone/>
            </a:pPr>
            <a:endParaRPr lang="en-US" sz="2600" dirty="0"/>
          </a:p>
        </p:txBody>
      </p:sp>
      <p:sp>
        <p:nvSpPr>
          <p:cNvPr id="3" name="Text 0"/>
          <p:cNvSpPr/>
          <p:nvPr/>
        </p:nvSpPr>
        <p:spPr>
          <a:xfrm>
            <a:off x="457200" y="6446520"/>
            <a:ext cx="8229600" cy="274320"/>
          </a:xfrm>
          <a:prstGeom prst="rect">
            <a:avLst/>
          </a:prstGeom>
          <a:noFill/>
          <a:ln/>
        </p:spPr>
        <p:txBody>
          <a:bodyPr wrap="square" lIns="0" tIns="0" rIns="0" bIns="0" rtlCol="0" anchor="ctr"/>
          <a:lstStyle/>
          <a:p>
            <a:pPr indent="0" marL="0">
              <a:buNone/>
            </a:pPr>
            <a:r>
              <a:rPr lang="en-US" sz="1000" dirty="0">
                <a:solidFill>
                  <a:schemeClr val="accent6"/>
                </a:solidFill>
              </a:rPr>
              <a:t>Zhu et al., Sci. Transl. Med. 16, eabo1997 (2024)</a:t>
            </a:r>
            <a:endParaRPr lang="en-US" sz="1000" dirty="0"/>
          </a:p>
        </p:txBody>
      </p:sp>
      <p:sp>
        <p:nvSpPr>
          <p:cNvPr id="25" name="Slide Number Placeholder 0"/>
          <p:cNvSpPr>
            <a:spLocks noGrp="1"/>
          </p:cNvSpPr>
          <p:nvPr>
            <p:ph type="sldNum" sz="quarter" idx="4294967295"/>
          </p:nvPr>
        </p:nvSpPr>
        <p:spPr>
          <a:xfrm>
            <a:off x="1124712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4.xml"/><Relationship Id="rId4"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kicker"/>
          <p:cNvSpPr txBox="1"/>
          <p:nvPr/>
        </p:nvSpPr>
        <p:spPr>
          <a:xfrm>
            <a:off x="640080" y="1188720"/>
            <a:ext cx="6949440" cy="365760"/>
          </a:xfrm>
          <a:prstGeom prst="rect">
            <a:avLst/>
          </a:prstGeom>
          <a:noFill/>
          <a:ln/>
        </p:spPr>
        <p:txBody>
          <a:bodyPr wrap="square" lIns="0" tIns="0" rIns="0" bIns="0" rtlCol="0" anchor="ctr"/>
          <a:lstStyle/>
          <a:p>
            <a:pPr indent="0" marL="0">
              <a:buNone/>
            </a:pPr>
            <a:r>
              <a:rPr lang="en-US" sz="1200" b="1" spc="300" kern="0" dirty="0">
                <a:solidFill>
                  <a:schemeClr val="accent1"/>
                </a:solidFill>
              </a:rPr>
              <a:t>JOURNAL CLUB  ·  PARKINSON’S DISEASE</a:t>
            </a:r>
            <a:endParaRPr lang="en-US" sz="1200" dirty="0"/>
          </a:p>
        </p:txBody>
      </p:sp>
      <p:sp>
        <p:nvSpPr>
          <p:cNvPr id="3" name="Text 0"/>
          <p:cNvSpPr/>
          <p:nvPr>
            <p:ph idx="100" type="title" hasCustomPrompt="1"/>
          </p:nvPr>
        </p:nvSpPr>
        <p:spPr>
          <a:xfrm>
            <a:off x="640080" y="1828800"/>
            <a:ext cx="6949440" cy="2011680"/>
          </a:xfrm>
          <a:prstGeom prst="rect">
            <a:avLst/>
          </a:prstGeom>
          <a:noFill/>
          <a:ln/>
        </p:spPr>
        <p:txBody>
          <a:bodyPr wrap="square" lIns="0" tIns="0" rIns="0" bIns="0" rtlCol="0" anchor="b"/>
          <a:lstStyle/>
          <a:p>
            <a:pPr algn="l" indent="0" marL="0">
              <a:buNone/>
            </a:pPr>
            <a:r>
              <a:rPr lang="en-US" sz="3600" b="1" dirty="0">
                <a:solidFill>
                  <a:schemeClr val="bg1"/>
                </a:solidFill>
              </a:rPr>
              <a:t>Single-cell transcriptomic and proteomic analysis of Parkinson’s disease brains</a:t>
            </a:r>
            <a:endParaRPr lang="en-US" sz="3600" dirty="0"/>
          </a:p>
        </p:txBody>
      </p:sp>
      <p:sp>
        <p:nvSpPr>
          <p:cNvPr id="4" name="Text 0"/>
          <p:cNvSpPr/>
          <p:nvPr>
            <p:ph idx="101" type="body" hasCustomPrompt="1"/>
          </p:nvPr>
        </p:nvSpPr>
        <p:spPr>
          <a:xfrm>
            <a:off x="640080" y="3931920"/>
            <a:ext cx="6949440" cy="1463040"/>
          </a:xfrm>
          <a:prstGeom prst="rect">
            <a:avLst/>
          </a:prstGeom>
          <a:noFill/>
          <a:ln/>
        </p:spPr>
        <p:txBody>
          <a:bodyPr wrap="square" lIns="0" tIns="0" rIns="0" bIns="0" rtlCol="0" anchor="t"/>
          <a:lstStyle/>
          <a:p>
            <a:pPr indent="0" marL="0">
              <a:buNone/>
            </a:pPr>
            <a:r>
              <a:rPr lang="en-US" sz="1600" b="1" dirty="0">
                <a:solidFill>
                  <a:schemeClr val="bg1"/>
                </a:solidFill>
              </a:rPr>
              <a:t>Zhu B, Park J-M, Coffey SR, … Hafler DA, Chandra SS, Zhang L</a:t>
            </a:r>
            <a:endParaRPr lang="en-US" sz="1600" dirty="0"/>
          </a:p>
          <a:p>
            <a:pPr indent="0" marL="0">
              <a:buNone/>
            </a:pPr>
            <a:r>
              <a:rPr lang="en-US" sz="1600" dirty="0">
                <a:solidFill>
                  <a:schemeClr val="accent6"/>
                </a:solidFill>
              </a:rPr>
              <a:t>Yale School of Medicine · Science Translational Medicine, 30 Oct 2024</a:t>
            </a:r>
            <a:endParaRPr lang="en-US" sz="1600" dirty="0"/>
          </a:p>
          <a:p>
            <a:pPr indent="0" marL="0">
              <a:buNone/>
            </a:pPr>
            <a:r>
              <a:rPr lang="en-US" sz="1600" dirty="0">
                <a:solidFill>
                  <a:schemeClr val="accent6"/>
                </a:solidFill>
              </a:rPr>
              <a:t>snRNA-seq + proteomics + Lewy pathology of the prefrontal cortex, 6 PD vs 6 controls</a:t>
            </a:r>
            <a:endParaRPr lang="en-US" sz="1600" dirty="0"/>
          </a:p>
        </p:txBody>
      </p:sp>
      <p:sp>
        <p:nvSpPr>
          <p:cNvPr id="5" name="title art card"/>
          <p:cNvSpPr/>
          <p:nvPr/>
        </p:nvSpPr>
        <p:spPr>
          <a:xfrm>
            <a:off x="8138160" y="1188720"/>
            <a:ext cx="3566160" cy="4480560"/>
          </a:xfrm>
          <a:prstGeom prst="roundRect">
            <a:avLst>
              <a:gd name="adj" fmla="val 2564"/>
            </a:avLst>
          </a:prstGeom>
          <a:solidFill>
            <a:srgbClr val="FFFFFF"/>
          </a:solidFill>
          <a:ln w="12700">
            <a:solidFill>
              <a:srgbClr val="FFFFFF"/>
            </a:solidFill>
            <a:prstDash val="solid"/>
          </a:ln>
        </p:spPr>
      </p:sp>
      <p:pic>
        <p:nvPicPr>
          <p:cNvPr id="6" name="illustration brain" descr="/tmp/claude-0/-home-user-owner/e66306d4-2675-5ec2-99fe-5e24f3a64605/scratchpad/build/img/brain.png">    </p:cNvPr>
          <p:cNvPicPr>
            <a:picLocks noChangeAspect="1"/>
          </p:cNvPicPr>
          <p:nvPr/>
        </p:nvPicPr>
        <p:blipFill>
          <a:blip r:embed="rId1"/>
          <a:stretch>
            <a:fillRect/>
          </a:stretch>
        </p:blipFill>
        <p:spPr>
          <a:xfrm>
            <a:off x="8336280" y="1371600"/>
            <a:ext cx="3169920" cy="2377440"/>
          </a:xfrm>
          <a:prstGeom prst="rect">
            <a:avLst/>
          </a:prstGeom>
        </p:spPr>
      </p:pic>
      <p:pic>
        <p:nvPicPr>
          <p:cNvPr id="7" name="illustration lewy" descr="/tmp/claude-0/-home-user-owner/e66306d4-2675-5ec2-99fe-5e24f3a64605/scratchpad/build/img/lewy.png">    </p:cNvPr>
          <p:cNvPicPr>
            <a:picLocks noChangeAspect="1"/>
          </p:cNvPicPr>
          <p:nvPr/>
        </p:nvPicPr>
        <p:blipFill>
          <a:blip r:embed="rId2"/>
          <a:stretch>
            <a:fillRect/>
          </a:stretch>
        </p:blipFill>
        <p:spPr>
          <a:xfrm>
            <a:off x="8458200" y="3657600"/>
            <a:ext cx="2926080" cy="19202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74552" cy="731520"/>
          </a:xfrm>
          <a:prstGeom prst="rect">
            <a:avLst/>
          </a:prstGeom>
          <a:noFill/>
          <a:ln/>
        </p:spPr>
        <p:txBody>
          <a:bodyPr wrap="square" lIns="0" tIns="0" rIns="0" bIns="0" rtlCol="0" anchor="ctr"/>
          <a:lstStyle/>
          <a:p>
            <a:pPr algn="l" indent="0" marL="0">
              <a:buNone/>
            </a:pPr>
            <a:r>
              <a:rPr lang="en-US" sz="2600" b="1" dirty="0">
                <a:solidFill>
                  <a:schemeClr val="tx2"/>
                </a:solidFill>
              </a:rPr>
              <a:t>Background: PD pathology is known, its cellular architecture is not</a:t>
            </a:r>
            <a:endParaRPr lang="en-US" sz="2600" dirty="0"/>
          </a:p>
        </p:txBody>
      </p:sp>
      <p:sp>
        <p:nvSpPr>
          <p:cNvPr id="3" name="icon circle brain"/>
          <p:cNvSpPr/>
          <p:nvPr/>
        </p:nvSpPr>
        <p:spPr>
          <a:xfrm>
            <a:off x="457200" y="1280160"/>
            <a:ext cx="566928" cy="566928"/>
          </a:xfrm>
          <a:prstGeom prst="ellipse">
            <a:avLst/>
          </a:prstGeom>
          <a:solidFill>
            <a:schemeClr val="accent1"/>
          </a:solidFill>
          <a:ln w="12700">
            <a:solidFill>
              <a:schemeClr val="accent1"/>
            </a:solidFill>
            <a:prstDash val="solid"/>
          </a:ln>
        </p:spPr>
      </p:sp>
      <p:pic>
        <p:nvPicPr>
          <p:cNvPr id="4" name="icon brain" descr="/tmp/claude-0/-home-user-owner/e66306d4-2675-5ec2-99fe-5e24f3a64605/scratchpad/build/img/ic_brain.png">    </p:cNvPr>
          <p:cNvPicPr>
            <a:picLocks noChangeAspect="1"/>
          </p:cNvPicPr>
          <p:nvPr/>
        </p:nvPicPr>
        <p:blipFill>
          <a:blip r:embed="rId1"/>
          <a:stretch>
            <a:fillRect/>
          </a:stretch>
        </p:blipFill>
        <p:spPr>
          <a:xfrm>
            <a:off x="604601" y="1427561"/>
            <a:ext cx="272125" cy="272125"/>
          </a:xfrm>
          <a:prstGeom prst="rect">
            <a:avLst/>
          </a:prstGeom>
        </p:spPr>
      </p:pic>
      <p:sp>
        <p:nvSpPr>
          <p:cNvPr id="5" name="bg heading"/>
          <p:cNvSpPr txBox="1"/>
          <p:nvPr/>
        </p:nvSpPr>
        <p:spPr>
          <a:xfrm>
            <a:off x="1188720" y="1234440"/>
            <a:ext cx="5394960" cy="365760"/>
          </a:xfrm>
          <a:prstGeom prst="rect">
            <a:avLst/>
          </a:prstGeom>
          <a:noFill/>
          <a:ln/>
        </p:spPr>
        <p:txBody>
          <a:bodyPr wrap="square" lIns="0" tIns="0" rIns="0" bIns="0" rtlCol="0" anchor="ctr"/>
          <a:lstStyle/>
          <a:p>
            <a:pPr indent="0" marL="0">
              <a:buNone/>
            </a:pPr>
            <a:r>
              <a:rPr lang="en-US" sz="1600" b="1" dirty="0">
                <a:solidFill>
                  <a:schemeClr val="tx2"/>
                </a:solidFill>
              </a:rPr>
              <a:t>A common movement disorder with a classic signature</a:t>
            </a:r>
            <a:endParaRPr lang="en-US" sz="1600" dirty="0"/>
          </a:p>
        </p:txBody>
      </p:sp>
      <p:sp>
        <p:nvSpPr>
          <p:cNvPr id="6" name="bg body"/>
          <p:cNvSpPr txBox="1"/>
          <p:nvPr/>
        </p:nvSpPr>
        <p:spPr>
          <a:xfrm>
            <a:off x="1188720" y="1618488"/>
            <a:ext cx="5394960" cy="1097280"/>
          </a:xfrm>
          <a:prstGeom prst="rect">
            <a:avLst/>
          </a:prstGeom>
          <a:noFill/>
          <a:ln/>
        </p:spPr>
        <p:txBody>
          <a:bodyPr wrap="square" lIns="0" tIns="0" rIns="0" bIns="0" rtlCol="0" anchor="t"/>
          <a:lstStyle/>
          <a:p>
            <a:pPr indent="0" marL="0">
              <a:buNone/>
            </a:pPr>
            <a:r>
              <a:rPr lang="en-US" sz="1300" dirty="0">
                <a:solidFill>
                  <a:schemeClr val="tx1"/>
                </a:solidFill>
              </a:rPr>
              <a:t>~1 million people in the US and ~6 million worldwide. Hallmarks: loss of substantia nigra dopamine neurons and intracellular α-synuclein aggregates (Lewy bodies).</a:t>
            </a:r>
            <a:endParaRPr lang="en-US" sz="1300" dirty="0"/>
          </a:p>
        </p:txBody>
      </p:sp>
      <p:sp>
        <p:nvSpPr>
          <p:cNvPr id="7" name="icon circle users"/>
          <p:cNvSpPr/>
          <p:nvPr/>
        </p:nvSpPr>
        <p:spPr>
          <a:xfrm>
            <a:off x="457200" y="2944368"/>
            <a:ext cx="566928" cy="566928"/>
          </a:xfrm>
          <a:prstGeom prst="ellipse">
            <a:avLst/>
          </a:prstGeom>
          <a:solidFill>
            <a:schemeClr val="accent2"/>
          </a:solidFill>
          <a:ln w="12700">
            <a:solidFill>
              <a:schemeClr val="accent2"/>
            </a:solidFill>
            <a:prstDash val="solid"/>
          </a:ln>
        </p:spPr>
      </p:sp>
      <p:pic>
        <p:nvPicPr>
          <p:cNvPr id="8" name="icon users" descr="/tmp/claude-0/-home-user-owner/e66306d4-2675-5ec2-99fe-5e24f3a64605/scratchpad/build/img/ic_users.png">    </p:cNvPr>
          <p:cNvPicPr>
            <a:picLocks noChangeAspect="1"/>
          </p:cNvPicPr>
          <p:nvPr/>
        </p:nvPicPr>
        <p:blipFill>
          <a:blip r:embed="rId2"/>
          <a:stretch>
            <a:fillRect/>
          </a:stretch>
        </p:blipFill>
        <p:spPr>
          <a:xfrm>
            <a:off x="604601" y="3091769"/>
            <a:ext cx="272125" cy="272125"/>
          </a:xfrm>
          <a:prstGeom prst="rect">
            <a:avLst/>
          </a:prstGeom>
        </p:spPr>
      </p:pic>
      <p:sp>
        <p:nvSpPr>
          <p:cNvPr id="9" name="bg heading"/>
          <p:cNvSpPr txBox="1"/>
          <p:nvPr/>
        </p:nvSpPr>
        <p:spPr>
          <a:xfrm>
            <a:off x="1188720" y="2898648"/>
            <a:ext cx="5394960" cy="365760"/>
          </a:xfrm>
          <a:prstGeom prst="rect">
            <a:avLst/>
          </a:prstGeom>
          <a:noFill/>
          <a:ln/>
        </p:spPr>
        <p:txBody>
          <a:bodyPr wrap="square" lIns="0" tIns="0" rIns="0" bIns="0" rtlCol="0" anchor="ctr"/>
          <a:lstStyle/>
          <a:p>
            <a:pPr indent="0" marL="0">
              <a:buNone/>
            </a:pPr>
            <a:r>
              <a:rPr lang="en-US" sz="1600" b="1" dirty="0">
                <a:solidFill>
                  <a:schemeClr val="tx2"/>
                </a:solidFill>
              </a:rPr>
              <a:t>Neuroinflammation is implicated, but which cells drive it?</a:t>
            </a:r>
            <a:endParaRPr lang="en-US" sz="1600" dirty="0"/>
          </a:p>
        </p:txBody>
      </p:sp>
      <p:sp>
        <p:nvSpPr>
          <p:cNvPr id="10" name="bg body"/>
          <p:cNvSpPr txBox="1"/>
          <p:nvPr/>
        </p:nvSpPr>
        <p:spPr>
          <a:xfrm>
            <a:off x="1188720" y="3282696"/>
            <a:ext cx="5394960" cy="1097280"/>
          </a:xfrm>
          <a:prstGeom prst="rect">
            <a:avLst/>
          </a:prstGeom>
          <a:noFill/>
          <a:ln/>
        </p:spPr>
        <p:txBody>
          <a:bodyPr wrap="square" lIns="0" tIns="0" rIns="0" bIns="0" rtlCol="0" anchor="t"/>
          <a:lstStyle/>
          <a:p>
            <a:pPr indent="0" marL="0">
              <a:buNone/>
            </a:pPr>
            <a:r>
              <a:rPr lang="en-US" sz="1300" dirty="0">
                <a:solidFill>
                  <a:schemeClr val="tx1"/>
                </a:solidFill>
              </a:rPr>
              <a:t>Glial and immune pathways are linked to PD, yet the relative contribution of neurons versus glia to sporadic disease is unresolved. Bulk tissue averages all cell types together.</a:t>
            </a:r>
            <a:endParaRPr lang="en-US" sz="1300" dirty="0"/>
          </a:p>
        </p:txBody>
      </p:sp>
      <p:sp>
        <p:nvSpPr>
          <p:cNvPr id="11" name="icon circle search"/>
          <p:cNvSpPr/>
          <p:nvPr/>
        </p:nvSpPr>
        <p:spPr>
          <a:xfrm>
            <a:off x="457200" y="4608576"/>
            <a:ext cx="566928" cy="566928"/>
          </a:xfrm>
          <a:prstGeom prst="ellipse">
            <a:avLst/>
          </a:prstGeom>
          <a:solidFill>
            <a:schemeClr val="accent3"/>
          </a:solidFill>
          <a:ln w="12700">
            <a:solidFill>
              <a:schemeClr val="accent3"/>
            </a:solidFill>
            <a:prstDash val="solid"/>
          </a:ln>
        </p:spPr>
      </p:sp>
      <p:pic>
        <p:nvPicPr>
          <p:cNvPr id="12" name="icon search" descr="/tmp/claude-0/-home-user-owner/e66306d4-2675-5ec2-99fe-5e24f3a64605/scratchpad/build/img/ic_search.png">    </p:cNvPr>
          <p:cNvPicPr>
            <a:picLocks noChangeAspect="1"/>
          </p:cNvPicPr>
          <p:nvPr/>
        </p:nvPicPr>
        <p:blipFill>
          <a:blip r:embed="rId3"/>
          <a:stretch>
            <a:fillRect/>
          </a:stretch>
        </p:blipFill>
        <p:spPr>
          <a:xfrm>
            <a:off x="604601" y="4755977"/>
            <a:ext cx="272125" cy="272125"/>
          </a:xfrm>
          <a:prstGeom prst="rect">
            <a:avLst/>
          </a:prstGeom>
        </p:spPr>
      </p:pic>
      <p:sp>
        <p:nvSpPr>
          <p:cNvPr id="13" name="bg heading"/>
          <p:cNvSpPr txBox="1"/>
          <p:nvPr/>
        </p:nvSpPr>
        <p:spPr>
          <a:xfrm>
            <a:off x="1188720" y="4562856"/>
            <a:ext cx="5394960" cy="365760"/>
          </a:xfrm>
          <a:prstGeom prst="rect">
            <a:avLst/>
          </a:prstGeom>
          <a:noFill/>
          <a:ln/>
        </p:spPr>
        <p:txBody>
          <a:bodyPr wrap="square" lIns="0" tIns="0" rIns="0" bIns="0" rtlCol="0" anchor="ctr"/>
          <a:lstStyle/>
          <a:p>
            <a:pPr indent="0" marL="0">
              <a:buNone/>
            </a:pPr>
            <a:r>
              <a:rPr lang="en-US" sz="1600" b="1" dirty="0">
                <a:solidFill>
                  <a:schemeClr val="tx2"/>
                </a:solidFill>
              </a:rPr>
              <a:t>The cortex was a blind spot</a:t>
            </a:r>
            <a:endParaRPr lang="en-US" sz="1600" dirty="0"/>
          </a:p>
        </p:txBody>
      </p:sp>
      <p:sp>
        <p:nvSpPr>
          <p:cNvPr id="14" name="bg body"/>
          <p:cNvSpPr txBox="1"/>
          <p:nvPr/>
        </p:nvSpPr>
        <p:spPr>
          <a:xfrm>
            <a:off x="1188720" y="4946904"/>
            <a:ext cx="5394960" cy="1097280"/>
          </a:xfrm>
          <a:prstGeom prst="rect">
            <a:avLst/>
          </a:prstGeom>
          <a:noFill/>
          <a:ln/>
        </p:spPr>
        <p:txBody>
          <a:bodyPr wrap="square" lIns="0" tIns="0" rIns="0" bIns="0" rtlCol="0" anchor="t"/>
          <a:lstStyle/>
          <a:p>
            <a:pPr indent="0" marL="0">
              <a:buNone/>
            </a:pPr>
            <a:r>
              <a:rPr lang="en-US" sz="1300" dirty="0">
                <a:solidFill>
                  <a:schemeClr val="tx1"/>
                </a:solidFill>
              </a:rPr>
              <a:t>Lewy pathology reaches the prefrontal cortex in late-stage PD, and bulk data flagged this region, but no single-cell map of PD cortex existed. Single-nucleus methods now make postmortem brain tractable.</a:t>
            </a:r>
            <a:endParaRPr lang="en-US" sz="1300" dirty="0"/>
          </a:p>
        </p:txBody>
      </p:sp>
      <p:sp>
        <p:nvSpPr>
          <p:cNvPr id="15" name="bg art card"/>
          <p:cNvSpPr/>
          <p:nvPr/>
        </p:nvSpPr>
        <p:spPr>
          <a:xfrm>
            <a:off x="6903720" y="1188720"/>
            <a:ext cx="4828032" cy="5074920"/>
          </a:xfrm>
          <a:prstGeom prst="roundRect">
            <a:avLst>
              <a:gd name="adj" fmla="val 1894"/>
            </a:avLst>
          </a:prstGeom>
          <a:solidFill>
            <a:srgbClr val="EEF0F8"/>
          </a:solidFill>
          <a:ln w="12700">
            <a:solidFill>
              <a:srgbClr val="EEF0F8"/>
            </a:solidFill>
            <a:prstDash val="solid"/>
          </a:ln>
        </p:spPr>
      </p:sp>
      <p:pic>
        <p:nvPicPr>
          <p:cNvPr id="16" name="illustration brain" descr="/tmp/claude-0/-home-user-owner/e66306d4-2675-5ec2-99fe-5e24f3a64605/scratchpad/build/img/brain.png">    </p:cNvPr>
          <p:cNvPicPr>
            <a:picLocks noChangeAspect="1"/>
          </p:cNvPicPr>
          <p:nvPr/>
        </p:nvPicPr>
        <p:blipFill>
          <a:blip r:embed="rId4"/>
          <a:stretch>
            <a:fillRect/>
          </a:stretch>
        </p:blipFill>
        <p:spPr>
          <a:xfrm>
            <a:off x="7589520" y="1280160"/>
            <a:ext cx="3474720" cy="2606040"/>
          </a:xfrm>
          <a:prstGeom prst="rect">
            <a:avLst/>
          </a:prstGeom>
        </p:spPr>
      </p:pic>
      <p:pic>
        <p:nvPicPr>
          <p:cNvPr id="17" name="illustration lewy" descr="/tmp/claude-0/-home-user-owner/e66306d4-2675-5ec2-99fe-5e24f3a64605/scratchpad/build/img/lewy.png">    </p:cNvPr>
          <p:cNvPicPr>
            <a:picLocks noChangeAspect="1"/>
          </p:cNvPicPr>
          <p:nvPr/>
        </p:nvPicPr>
        <p:blipFill>
          <a:blip r:embed="rId5"/>
          <a:stretch>
            <a:fillRect/>
          </a:stretch>
        </p:blipFill>
        <p:spPr>
          <a:xfrm>
            <a:off x="7620000" y="3931920"/>
            <a:ext cx="3413760" cy="2240280"/>
          </a:xfrm>
          <a:prstGeom prst="rect">
            <a:avLst/>
          </a:prstGeom>
        </p:spPr>
      </p:pic>
      <p:sp>
        <p:nvSpPr>
          <p:cNvPr id="25" name="Slide Number Placeholder 0"/>
          <p:cNvSpPr>
            <a:spLocks noGrp="1"/>
          </p:cNvSpPr>
          <p:nvPr>
            <p:ph type="sldNum" sz="quarter" idx="4294967295"/>
          </p:nvPr>
        </p:nvSpPr>
        <p:spPr>
          <a:xfrm>
            <a:off x="1124712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74552" cy="731520"/>
          </a:xfrm>
          <a:prstGeom prst="rect">
            <a:avLst/>
          </a:prstGeom>
          <a:noFill/>
          <a:ln/>
        </p:spPr>
        <p:txBody>
          <a:bodyPr wrap="square" lIns="0" tIns="0" rIns="0" bIns="0" rtlCol="0" anchor="ctr"/>
          <a:lstStyle/>
          <a:p>
            <a:pPr algn="l" indent="0" marL="0">
              <a:buNone/>
            </a:pPr>
            <a:r>
              <a:rPr lang="en-US" sz="2600" b="1" dirty="0">
                <a:solidFill>
                  <a:schemeClr val="tx2"/>
                </a:solidFill>
              </a:rPr>
              <a:t>Objectives: an unbiased, cell-resolved map of PD prefrontal cortex</a:t>
            </a:r>
            <a:endParaRPr lang="en-US" sz="2600" dirty="0"/>
          </a:p>
        </p:txBody>
      </p:sp>
      <p:sp>
        <p:nvSpPr>
          <p:cNvPr id="3" name="obj art card"/>
          <p:cNvSpPr/>
          <p:nvPr/>
        </p:nvSpPr>
        <p:spPr>
          <a:xfrm>
            <a:off x="457200" y="1188720"/>
            <a:ext cx="4297680" cy="5074920"/>
          </a:xfrm>
          <a:prstGeom prst="roundRect">
            <a:avLst>
              <a:gd name="adj" fmla="val 2128"/>
            </a:avLst>
          </a:prstGeom>
          <a:solidFill>
            <a:srgbClr val="EEF0F8"/>
          </a:solidFill>
          <a:ln w="12700">
            <a:solidFill>
              <a:srgbClr val="EEF0F8"/>
            </a:solidFill>
            <a:prstDash val="solid"/>
          </a:ln>
        </p:spPr>
      </p:sp>
      <p:pic>
        <p:nvPicPr>
          <p:cNvPr id="4" name="illustration glia" descr="/tmp/claude-0/-home-user-owner/e66306d4-2675-5ec2-99fe-5e24f3a64605/scratchpad/build/img/glia.png">    </p:cNvPr>
          <p:cNvPicPr>
            <a:picLocks noChangeAspect="1"/>
          </p:cNvPicPr>
          <p:nvPr/>
        </p:nvPicPr>
        <p:blipFill>
          <a:blip r:embed="rId1"/>
          <a:stretch>
            <a:fillRect/>
          </a:stretch>
        </p:blipFill>
        <p:spPr>
          <a:xfrm>
            <a:off x="594360" y="1463040"/>
            <a:ext cx="4023360" cy="2640330"/>
          </a:xfrm>
          <a:prstGeom prst="rect">
            <a:avLst/>
          </a:prstGeom>
        </p:spPr>
      </p:pic>
      <p:sp>
        <p:nvSpPr>
          <p:cNvPr id="5" name="central question"/>
          <p:cNvSpPr txBox="1"/>
          <p:nvPr/>
        </p:nvSpPr>
        <p:spPr>
          <a:xfrm>
            <a:off x="685800" y="4572000"/>
            <a:ext cx="3840480" cy="1463040"/>
          </a:xfrm>
          <a:prstGeom prst="rect">
            <a:avLst/>
          </a:prstGeom>
          <a:noFill/>
          <a:ln/>
        </p:spPr>
        <p:txBody>
          <a:bodyPr wrap="square" lIns="0" tIns="0" rIns="0" bIns="0" rtlCol="0" anchor="t"/>
          <a:lstStyle/>
          <a:p>
            <a:pPr indent="0" marL="0">
              <a:buNone/>
            </a:pPr>
            <a:r>
              <a:rPr lang="en-US" sz="1300" i="1" dirty="0">
                <a:solidFill>
                  <a:schemeClr val="tx2"/>
                </a:solidFill>
              </a:rPr>
              <a:t>Central question: which cell types, genes and cell-cell conversations change in late-stage PD cortex, and are they PD-specific?</a:t>
            </a:r>
            <a:endParaRPr lang="en-US" sz="1300" dirty="0"/>
          </a:p>
        </p:txBody>
      </p:sp>
      <p:sp>
        <p:nvSpPr>
          <p:cNvPr id="6" name="obj card"/>
          <p:cNvSpPr/>
          <p:nvPr/>
        </p:nvSpPr>
        <p:spPr>
          <a:xfrm>
            <a:off x="5029200" y="1188720"/>
            <a:ext cx="6702552" cy="1170432"/>
          </a:xfrm>
          <a:prstGeom prst="roundRect">
            <a:avLst>
              <a:gd name="adj" fmla="val 7813"/>
            </a:avLst>
          </a:prstGeom>
          <a:solidFill>
            <a:srgbClr val="FFFFFF"/>
          </a:solidFill>
          <a:ln w="12700">
            <a:solidFill>
              <a:srgbClr val="C9CDE0"/>
            </a:solidFill>
            <a:prstDash val="solid"/>
          </a:ln>
        </p:spPr>
      </p:sp>
      <p:sp>
        <p:nvSpPr>
          <p:cNvPr id="7" name="icon circle dna"/>
          <p:cNvSpPr/>
          <p:nvPr/>
        </p:nvSpPr>
        <p:spPr>
          <a:xfrm>
            <a:off x="5212080" y="1490472"/>
            <a:ext cx="566928" cy="566928"/>
          </a:xfrm>
          <a:prstGeom prst="ellipse">
            <a:avLst/>
          </a:prstGeom>
          <a:solidFill>
            <a:schemeClr val="accent1"/>
          </a:solidFill>
          <a:ln w="12700">
            <a:solidFill>
              <a:schemeClr val="accent1"/>
            </a:solidFill>
            <a:prstDash val="solid"/>
          </a:ln>
        </p:spPr>
      </p:sp>
      <p:pic>
        <p:nvPicPr>
          <p:cNvPr id="8" name="icon dna" descr="/tmp/claude-0/-home-user-owner/e66306d4-2675-5ec2-99fe-5e24f3a64605/scratchpad/build/img/ic_dna.png">    </p:cNvPr>
          <p:cNvPicPr>
            <a:picLocks noChangeAspect="1"/>
          </p:cNvPicPr>
          <p:nvPr/>
        </p:nvPicPr>
        <p:blipFill>
          <a:blip r:embed="rId2"/>
          <a:stretch>
            <a:fillRect/>
          </a:stretch>
        </p:blipFill>
        <p:spPr>
          <a:xfrm>
            <a:off x="5359481" y="1637873"/>
            <a:ext cx="272125" cy="272125"/>
          </a:xfrm>
          <a:prstGeom prst="rect">
            <a:avLst/>
          </a:prstGeom>
        </p:spPr>
      </p:pic>
      <p:sp>
        <p:nvSpPr>
          <p:cNvPr id="9" name="obj number"/>
          <p:cNvSpPr txBox="1"/>
          <p:nvPr/>
        </p:nvSpPr>
        <p:spPr>
          <a:xfrm>
            <a:off x="5897880" y="1280160"/>
            <a:ext cx="365760" cy="457200"/>
          </a:xfrm>
          <a:prstGeom prst="rect">
            <a:avLst/>
          </a:prstGeom>
          <a:noFill/>
          <a:ln/>
        </p:spPr>
        <p:txBody>
          <a:bodyPr wrap="square" lIns="0" tIns="0" rIns="0" bIns="0" rtlCol="0" anchor="ctr"/>
          <a:lstStyle/>
          <a:p>
            <a:pPr indent="0" marL="0">
              <a:buNone/>
            </a:pPr>
            <a:r>
              <a:rPr lang="en-US" sz="2400" b="1" dirty="0">
                <a:solidFill>
                  <a:schemeClr val="accent1"/>
                </a:solidFill>
              </a:rPr>
              <a:t>1</a:t>
            </a:r>
            <a:endParaRPr lang="en-US" sz="2400" dirty="0"/>
          </a:p>
        </p:txBody>
      </p:sp>
      <p:sp>
        <p:nvSpPr>
          <p:cNvPr id="10" name="obj heading"/>
          <p:cNvSpPr txBox="1"/>
          <p:nvPr/>
        </p:nvSpPr>
        <p:spPr>
          <a:xfrm>
            <a:off x="6309360" y="1280160"/>
            <a:ext cx="5303520" cy="347472"/>
          </a:xfrm>
          <a:prstGeom prst="rect">
            <a:avLst/>
          </a:prstGeom>
          <a:noFill/>
          <a:ln/>
        </p:spPr>
        <p:txBody>
          <a:bodyPr wrap="square" lIns="0" tIns="0" rIns="0" bIns="0" rtlCol="0" anchor="ctr"/>
          <a:lstStyle/>
          <a:p>
            <a:pPr indent="0" marL="0">
              <a:buNone/>
            </a:pPr>
            <a:r>
              <a:rPr lang="en-US" sz="1500" b="1" dirty="0">
                <a:solidFill>
                  <a:schemeClr val="tx2"/>
                </a:solidFill>
              </a:rPr>
              <a:t>Build a cell-type atlas</a:t>
            </a:r>
            <a:endParaRPr lang="en-US" sz="1500" dirty="0"/>
          </a:p>
        </p:txBody>
      </p:sp>
      <p:sp>
        <p:nvSpPr>
          <p:cNvPr id="11" name="obj body"/>
          <p:cNvSpPr txBox="1"/>
          <p:nvPr/>
        </p:nvSpPr>
        <p:spPr>
          <a:xfrm>
            <a:off x="6309360" y="1627632"/>
            <a:ext cx="5303520" cy="685800"/>
          </a:xfrm>
          <a:prstGeom prst="rect">
            <a:avLst/>
          </a:prstGeom>
          <a:noFill/>
          <a:ln/>
        </p:spPr>
        <p:txBody>
          <a:bodyPr wrap="square" lIns="0" tIns="0" rIns="0" bIns="0" rtlCol="0" anchor="t"/>
          <a:lstStyle/>
          <a:p>
            <a:pPr indent="0" marL="0">
              <a:buNone/>
            </a:pPr>
            <a:r>
              <a:rPr lang="en-US" sz="1200" dirty="0">
                <a:solidFill>
                  <a:schemeClr val="tx1"/>
                </a:solidFill>
              </a:rPr>
              <a:t>snRNA-seq of BA9 from 6 late-stage PD and 6 age-matched controls; identify cell types and their PD-associated DEGs and pathways.</a:t>
            </a:r>
            <a:endParaRPr lang="en-US" sz="1200" dirty="0"/>
          </a:p>
        </p:txBody>
      </p:sp>
      <p:sp>
        <p:nvSpPr>
          <p:cNvPr id="12" name="obj card"/>
          <p:cNvSpPr/>
          <p:nvPr/>
        </p:nvSpPr>
        <p:spPr>
          <a:xfrm>
            <a:off x="5029200" y="2487168"/>
            <a:ext cx="6702552" cy="1170432"/>
          </a:xfrm>
          <a:prstGeom prst="roundRect">
            <a:avLst>
              <a:gd name="adj" fmla="val 7813"/>
            </a:avLst>
          </a:prstGeom>
          <a:solidFill>
            <a:srgbClr val="FFFFFF"/>
          </a:solidFill>
          <a:ln w="12700">
            <a:solidFill>
              <a:srgbClr val="C9CDE0"/>
            </a:solidFill>
            <a:prstDash val="solid"/>
          </a:ln>
        </p:spPr>
      </p:sp>
      <p:sp>
        <p:nvSpPr>
          <p:cNvPr id="13" name="icon circle microscope"/>
          <p:cNvSpPr/>
          <p:nvPr/>
        </p:nvSpPr>
        <p:spPr>
          <a:xfrm>
            <a:off x="5212080" y="2788920"/>
            <a:ext cx="566928" cy="566928"/>
          </a:xfrm>
          <a:prstGeom prst="ellipse">
            <a:avLst/>
          </a:prstGeom>
          <a:solidFill>
            <a:schemeClr val="accent3"/>
          </a:solidFill>
          <a:ln w="12700">
            <a:solidFill>
              <a:schemeClr val="accent3"/>
            </a:solidFill>
            <a:prstDash val="solid"/>
          </a:ln>
        </p:spPr>
      </p:sp>
      <p:pic>
        <p:nvPicPr>
          <p:cNvPr id="14" name="icon microscope" descr="/tmp/claude-0/-home-user-owner/e66306d4-2675-5ec2-99fe-5e24f3a64605/scratchpad/build/img/ic_microscope.png">    </p:cNvPr>
          <p:cNvPicPr>
            <a:picLocks noChangeAspect="1"/>
          </p:cNvPicPr>
          <p:nvPr/>
        </p:nvPicPr>
        <p:blipFill>
          <a:blip r:embed="rId3"/>
          <a:stretch>
            <a:fillRect/>
          </a:stretch>
        </p:blipFill>
        <p:spPr>
          <a:xfrm>
            <a:off x="5359481" y="2936321"/>
            <a:ext cx="272125" cy="272125"/>
          </a:xfrm>
          <a:prstGeom prst="rect">
            <a:avLst/>
          </a:prstGeom>
        </p:spPr>
      </p:pic>
      <p:sp>
        <p:nvSpPr>
          <p:cNvPr id="15" name="obj number"/>
          <p:cNvSpPr txBox="1"/>
          <p:nvPr/>
        </p:nvSpPr>
        <p:spPr>
          <a:xfrm>
            <a:off x="5897880" y="2578608"/>
            <a:ext cx="365760" cy="457200"/>
          </a:xfrm>
          <a:prstGeom prst="rect">
            <a:avLst/>
          </a:prstGeom>
          <a:noFill/>
          <a:ln/>
        </p:spPr>
        <p:txBody>
          <a:bodyPr wrap="square" lIns="0" tIns="0" rIns="0" bIns="0" rtlCol="0" anchor="ctr"/>
          <a:lstStyle/>
          <a:p>
            <a:pPr indent="0" marL="0">
              <a:buNone/>
            </a:pPr>
            <a:r>
              <a:rPr lang="en-US" sz="2400" b="1" dirty="0">
                <a:solidFill>
                  <a:schemeClr val="accent3"/>
                </a:solidFill>
              </a:rPr>
              <a:t>2</a:t>
            </a:r>
            <a:endParaRPr lang="en-US" sz="2400" dirty="0"/>
          </a:p>
        </p:txBody>
      </p:sp>
      <p:sp>
        <p:nvSpPr>
          <p:cNvPr id="16" name="obj heading"/>
          <p:cNvSpPr txBox="1"/>
          <p:nvPr/>
        </p:nvSpPr>
        <p:spPr>
          <a:xfrm>
            <a:off x="6309360" y="2578608"/>
            <a:ext cx="5303520" cy="347472"/>
          </a:xfrm>
          <a:prstGeom prst="rect">
            <a:avLst/>
          </a:prstGeom>
          <a:noFill/>
          <a:ln/>
        </p:spPr>
        <p:txBody>
          <a:bodyPr wrap="square" lIns="0" tIns="0" rIns="0" bIns="0" rtlCol="0" anchor="ctr"/>
          <a:lstStyle/>
          <a:p>
            <a:pPr indent="0" marL="0">
              <a:buNone/>
            </a:pPr>
            <a:r>
              <a:rPr lang="en-US" sz="1500" b="1" dirty="0">
                <a:solidFill>
                  <a:schemeClr val="tx2"/>
                </a:solidFill>
              </a:rPr>
              <a:t>Anchor changes to pathology and genetics</a:t>
            </a:r>
            <a:endParaRPr lang="en-US" sz="1500" dirty="0"/>
          </a:p>
        </p:txBody>
      </p:sp>
      <p:sp>
        <p:nvSpPr>
          <p:cNvPr id="17" name="obj body"/>
          <p:cNvSpPr txBox="1"/>
          <p:nvPr/>
        </p:nvSpPr>
        <p:spPr>
          <a:xfrm>
            <a:off x="6309360" y="2926080"/>
            <a:ext cx="5303520" cy="685800"/>
          </a:xfrm>
          <a:prstGeom prst="rect">
            <a:avLst/>
          </a:prstGeom>
          <a:noFill/>
          <a:ln/>
        </p:spPr>
        <p:txBody>
          <a:bodyPr wrap="square" lIns="0" tIns="0" rIns="0" bIns="0" rtlCol="0" anchor="t"/>
          <a:lstStyle/>
          <a:p>
            <a:pPr indent="0" marL="0">
              <a:buNone/>
            </a:pPr>
            <a:r>
              <a:rPr lang="en-US" sz="1200" dirty="0">
                <a:solidFill>
                  <a:schemeClr val="tx1"/>
                </a:solidFill>
              </a:rPr>
              <a:t>Score pS129 α-synuclein Lewy pathology in the same tissue and relate it to neuronal gene expression; place PARK and GWAS genes into cell types.</a:t>
            </a:r>
            <a:endParaRPr lang="en-US" sz="1200" dirty="0"/>
          </a:p>
        </p:txBody>
      </p:sp>
      <p:sp>
        <p:nvSpPr>
          <p:cNvPr id="18" name="obj card"/>
          <p:cNvSpPr/>
          <p:nvPr/>
        </p:nvSpPr>
        <p:spPr>
          <a:xfrm>
            <a:off x="5029200" y="3785616"/>
            <a:ext cx="6702552" cy="1170432"/>
          </a:xfrm>
          <a:prstGeom prst="roundRect">
            <a:avLst>
              <a:gd name="adj" fmla="val 7813"/>
            </a:avLst>
          </a:prstGeom>
          <a:solidFill>
            <a:srgbClr val="FFFFFF"/>
          </a:solidFill>
          <a:ln w="12700">
            <a:solidFill>
              <a:srgbClr val="C9CDE0"/>
            </a:solidFill>
            <a:prstDash val="solid"/>
          </a:ln>
        </p:spPr>
      </p:sp>
      <p:sp>
        <p:nvSpPr>
          <p:cNvPr id="19" name="icon circle exchange"/>
          <p:cNvSpPr/>
          <p:nvPr/>
        </p:nvSpPr>
        <p:spPr>
          <a:xfrm>
            <a:off x="5212080" y="4087368"/>
            <a:ext cx="566928" cy="566928"/>
          </a:xfrm>
          <a:prstGeom prst="ellipse">
            <a:avLst/>
          </a:prstGeom>
          <a:solidFill>
            <a:schemeClr val="accent2"/>
          </a:solidFill>
          <a:ln w="12700">
            <a:solidFill>
              <a:schemeClr val="accent2"/>
            </a:solidFill>
            <a:prstDash val="solid"/>
          </a:ln>
        </p:spPr>
      </p:sp>
      <p:pic>
        <p:nvPicPr>
          <p:cNvPr id="20" name="icon exchange" descr="/tmp/claude-0/-home-user-owner/e66306d4-2675-5ec2-99fe-5e24f3a64605/scratchpad/build/img/ic_exchange.png">    </p:cNvPr>
          <p:cNvPicPr>
            <a:picLocks noChangeAspect="1"/>
          </p:cNvPicPr>
          <p:nvPr/>
        </p:nvPicPr>
        <p:blipFill>
          <a:blip r:embed="rId4"/>
          <a:stretch>
            <a:fillRect/>
          </a:stretch>
        </p:blipFill>
        <p:spPr>
          <a:xfrm>
            <a:off x="5359481" y="4234769"/>
            <a:ext cx="272125" cy="272125"/>
          </a:xfrm>
          <a:prstGeom prst="rect">
            <a:avLst/>
          </a:prstGeom>
        </p:spPr>
      </p:pic>
      <p:sp>
        <p:nvSpPr>
          <p:cNvPr id="21" name="obj number"/>
          <p:cNvSpPr txBox="1"/>
          <p:nvPr/>
        </p:nvSpPr>
        <p:spPr>
          <a:xfrm>
            <a:off x="5897880" y="3877056"/>
            <a:ext cx="365760" cy="457200"/>
          </a:xfrm>
          <a:prstGeom prst="rect">
            <a:avLst/>
          </a:prstGeom>
          <a:noFill/>
          <a:ln/>
        </p:spPr>
        <p:txBody>
          <a:bodyPr wrap="square" lIns="0" tIns="0" rIns="0" bIns="0" rtlCol="0" anchor="ctr"/>
          <a:lstStyle/>
          <a:p>
            <a:pPr indent="0" marL="0">
              <a:buNone/>
            </a:pPr>
            <a:r>
              <a:rPr lang="en-US" sz="2400" b="1" dirty="0">
                <a:solidFill>
                  <a:schemeClr val="accent2"/>
                </a:solidFill>
              </a:rPr>
              <a:t>3</a:t>
            </a:r>
            <a:endParaRPr lang="en-US" sz="2400" dirty="0"/>
          </a:p>
        </p:txBody>
      </p:sp>
      <p:sp>
        <p:nvSpPr>
          <p:cNvPr id="22" name="obj heading"/>
          <p:cNvSpPr txBox="1"/>
          <p:nvPr/>
        </p:nvSpPr>
        <p:spPr>
          <a:xfrm>
            <a:off x="6309360" y="3877056"/>
            <a:ext cx="5303520" cy="347472"/>
          </a:xfrm>
          <a:prstGeom prst="rect">
            <a:avLst/>
          </a:prstGeom>
          <a:noFill/>
          <a:ln/>
        </p:spPr>
        <p:txBody>
          <a:bodyPr wrap="square" lIns="0" tIns="0" rIns="0" bIns="0" rtlCol="0" anchor="ctr"/>
          <a:lstStyle/>
          <a:p>
            <a:pPr indent="0" marL="0">
              <a:buNone/>
            </a:pPr>
            <a:r>
              <a:rPr lang="en-US" sz="1500" b="1" dirty="0">
                <a:solidFill>
                  <a:schemeClr val="tx2"/>
                </a:solidFill>
              </a:rPr>
              <a:t>Map crosstalk and the proteome</a:t>
            </a:r>
            <a:endParaRPr lang="en-US" sz="1500" dirty="0"/>
          </a:p>
        </p:txBody>
      </p:sp>
      <p:sp>
        <p:nvSpPr>
          <p:cNvPr id="23" name="obj body"/>
          <p:cNvSpPr txBox="1"/>
          <p:nvPr/>
        </p:nvSpPr>
        <p:spPr>
          <a:xfrm>
            <a:off x="6309360" y="4224528"/>
            <a:ext cx="5303520" cy="685800"/>
          </a:xfrm>
          <a:prstGeom prst="rect">
            <a:avLst/>
          </a:prstGeom>
          <a:noFill/>
          <a:ln/>
        </p:spPr>
        <p:txBody>
          <a:bodyPr wrap="square" lIns="0" tIns="0" rIns="0" bIns="0" rtlCol="0" anchor="t"/>
          <a:lstStyle/>
          <a:p>
            <a:pPr indent="0" marL="0">
              <a:buNone/>
            </a:pPr>
            <a:r>
              <a:rPr lang="en-US" sz="1200" dirty="0">
                <a:solidFill>
                  <a:schemeClr val="tx1"/>
                </a:solidFill>
              </a:rPr>
              <a:t>Infer ligand-receptor communication between neurons, glia and T cells (CellPhoneDB); profile proteins from the same donors and link protein modules to cell types (WGCNA).</a:t>
            </a:r>
            <a:endParaRPr lang="en-US" sz="1200" dirty="0"/>
          </a:p>
        </p:txBody>
      </p:sp>
      <p:sp>
        <p:nvSpPr>
          <p:cNvPr id="24" name="obj card"/>
          <p:cNvSpPr/>
          <p:nvPr/>
        </p:nvSpPr>
        <p:spPr>
          <a:xfrm>
            <a:off x="5029200" y="5084064"/>
            <a:ext cx="6702552" cy="1170432"/>
          </a:xfrm>
          <a:prstGeom prst="roundRect">
            <a:avLst>
              <a:gd name="adj" fmla="val 7813"/>
            </a:avLst>
          </a:prstGeom>
          <a:solidFill>
            <a:srgbClr val="FFFFFF"/>
          </a:solidFill>
          <a:ln w="12700">
            <a:solidFill>
              <a:srgbClr val="C9CDE0"/>
            </a:solidFill>
            <a:prstDash val="solid"/>
          </a:ln>
        </p:spPr>
      </p:sp>
      <p:sp>
        <p:nvSpPr>
          <p:cNvPr id="25" name="icon circle scale"/>
          <p:cNvSpPr/>
          <p:nvPr/>
        </p:nvSpPr>
        <p:spPr>
          <a:xfrm>
            <a:off x="5212080" y="5385816"/>
            <a:ext cx="566928" cy="566928"/>
          </a:xfrm>
          <a:prstGeom prst="ellipse">
            <a:avLst/>
          </a:prstGeom>
          <a:solidFill>
            <a:schemeClr val="accent4"/>
          </a:solidFill>
          <a:ln w="12700">
            <a:solidFill>
              <a:schemeClr val="accent4"/>
            </a:solidFill>
            <a:prstDash val="solid"/>
          </a:ln>
        </p:spPr>
      </p:sp>
      <p:pic>
        <p:nvPicPr>
          <p:cNvPr id="26" name="icon scale" descr="/tmp/claude-0/-home-user-owner/e66306d4-2675-5ec2-99fe-5e24f3a64605/scratchpad/build/img/ic_scale.png">    </p:cNvPr>
          <p:cNvPicPr>
            <a:picLocks noChangeAspect="1"/>
          </p:cNvPicPr>
          <p:nvPr/>
        </p:nvPicPr>
        <p:blipFill>
          <a:blip r:embed="rId5"/>
          <a:stretch>
            <a:fillRect/>
          </a:stretch>
        </p:blipFill>
        <p:spPr>
          <a:xfrm>
            <a:off x="5359481" y="5533217"/>
            <a:ext cx="272125" cy="272125"/>
          </a:xfrm>
          <a:prstGeom prst="rect">
            <a:avLst/>
          </a:prstGeom>
        </p:spPr>
      </p:pic>
      <p:sp>
        <p:nvSpPr>
          <p:cNvPr id="27" name="obj number"/>
          <p:cNvSpPr txBox="1"/>
          <p:nvPr/>
        </p:nvSpPr>
        <p:spPr>
          <a:xfrm>
            <a:off x="5897880" y="5175504"/>
            <a:ext cx="365760" cy="457200"/>
          </a:xfrm>
          <a:prstGeom prst="rect">
            <a:avLst/>
          </a:prstGeom>
          <a:noFill/>
          <a:ln/>
        </p:spPr>
        <p:txBody>
          <a:bodyPr wrap="square" lIns="0" tIns="0" rIns="0" bIns="0" rtlCol="0" anchor="ctr"/>
          <a:lstStyle/>
          <a:p>
            <a:pPr indent="0" marL="0">
              <a:buNone/>
            </a:pPr>
            <a:r>
              <a:rPr lang="en-US" sz="2400" b="1" dirty="0">
                <a:solidFill>
                  <a:schemeClr val="accent4"/>
                </a:solidFill>
              </a:rPr>
              <a:t>4</a:t>
            </a:r>
            <a:endParaRPr lang="en-US" sz="2400" dirty="0"/>
          </a:p>
        </p:txBody>
      </p:sp>
      <p:sp>
        <p:nvSpPr>
          <p:cNvPr id="28" name="obj heading"/>
          <p:cNvSpPr txBox="1"/>
          <p:nvPr/>
        </p:nvSpPr>
        <p:spPr>
          <a:xfrm>
            <a:off x="6309360" y="5175504"/>
            <a:ext cx="5303520" cy="347472"/>
          </a:xfrm>
          <a:prstGeom prst="rect">
            <a:avLst/>
          </a:prstGeom>
          <a:noFill/>
          <a:ln/>
        </p:spPr>
        <p:txBody>
          <a:bodyPr wrap="square" lIns="0" tIns="0" rIns="0" bIns="0" rtlCol="0" anchor="ctr"/>
          <a:lstStyle/>
          <a:p>
            <a:pPr indent="0" marL="0">
              <a:buNone/>
            </a:pPr>
            <a:r>
              <a:rPr lang="en-US" sz="1500" b="1" dirty="0">
                <a:solidFill>
                  <a:schemeClr val="tx2"/>
                </a:solidFill>
              </a:rPr>
              <a:t>Ask whether PD looks like AD</a:t>
            </a:r>
            <a:endParaRPr lang="en-US" sz="1500" dirty="0"/>
          </a:p>
        </p:txBody>
      </p:sp>
      <p:sp>
        <p:nvSpPr>
          <p:cNvPr id="29" name="obj body"/>
          <p:cNvSpPr txBox="1"/>
          <p:nvPr/>
        </p:nvSpPr>
        <p:spPr>
          <a:xfrm>
            <a:off x="6309360" y="5522976"/>
            <a:ext cx="5303520" cy="685800"/>
          </a:xfrm>
          <a:prstGeom prst="rect">
            <a:avLst/>
          </a:prstGeom>
          <a:noFill/>
          <a:ln/>
        </p:spPr>
        <p:txBody>
          <a:bodyPr wrap="square" lIns="0" tIns="0" rIns="0" bIns="0" rtlCol="0" anchor="t"/>
          <a:lstStyle/>
          <a:p>
            <a:pPr indent="0" marL="0">
              <a:buNone/>
            </a:pPr>
            <a:r>
              <a:rPr lang="en-US" sz="1200" dirty="0">
                <a:solidFill>
                  <a:schemeClr val="tx1"/>
                </a:solidFill>
              </a:rPr>
              <a:t>Compare DEGs, pathways and proteins against published AD single-nucleus and proteomic datasets from the same cortical region.</a:t>
            </a:r>
            <a:endParaRPr lang="en-US" sz="1200" dirty="0"/>
          </a:p>
        </p:txBody>
      </p:sp>
      <p:sp>
        <p:nvSpPr>
          <p:cNvPr id="25" name="Slide Number Placeholder 0"/>
          <p:cNvSpPr>
            <a:spLocks noGrp="1"/>
          </p:cNvSpPr>
          <p:nvPr>
            <p:ph type="sldNum" sz="quarter" idx="4294967295"/>
          </p:nvPr>
        </p:nvSpPr>
        <p:spPr>
          <a:xfrm>
            <a:off x="1124712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74552" cy="731520"/>
          </a:xfrm>
          <a:prstGeom prst="rect">
            <a:avLst/>
          </a:prstGeom>
          <a:noFill/>
          <a:ln/>
        </p:spPr>
        <p:txBody>
          <a:bodyPr wrap="square" lIns="0" tIns="0" rIns="0" bIns="0" rtlCol="0" anchor="ctr"/>
          <a:lstStyle/>
          <a:p>
            <a:pPr algn="l" indent="0" marL="0">
              <a:buNone/>
            </a:pPr>
            <a:r>
              <a:rPr lang="en-US" sz="2600" b="1" dirty="0">
                <a:solidFill>
                  <a:schemeClr val="tx2"/>
                </a:solidFill>
              </a:rPr>
              <a:t>Methods: three data streams from the same twelve brains</a:t>
            </a:r>
            <a:endParaRPr lang="en-US" sz="2600" dirty="0"/>
          </a:p>
        </p:txBody>
      </p:sp>
      <p:sp>
        <p:nvSpPr>
          <p:cNvPr id="3" name="flow "/>
          <p:cNvSpPr/>
          <p:nvPr/>
        </p:nvSpPr>
        <p:spPr>
          <a:xfrm>
            <a:off x="457200" y="1097280"/>
            <a:ext cx="7818120" cy="457200"/>
          </a:xfrm>
          <a:prstGeom prst="roundRect">
            <a:avLst>
              <a:gd name="adj" fmla="val 16000"/>
            </a:avLst>
          </a:prstGeom>
          <a:solidFill>
            <a:srgbClr val="2B2D5B"/>
          </a:solidFill>
          <a:ln w="12700">
            <a:solidFill>
              <a:srgbClr val="2B2D5B"/>
            </a:solidFill>
            <a:prstDash val="solid"/>
          </a:ln>
        </p:spPr>
      </p:sp>
      <p:sp>
        <p:nvSpPr>
          <p:cNvPr id="4" name="flow text "/>
          <p:cNvSpPr txBox="1"/>
          <p:nvPr/>
        </p:nvSpPr>
        <p:spPr>
          <a:xfrm>
            <a:off x="530352" y="1097280"/>
            <a:ext cx="7671816" cy="457200"/>
          </a:xfrm>
          <a:prstGeom prst="rect">
            <a:avLst/>
          </a:prstGeom>
          <a:noFill/>
          <a:ln/>
        </p:spPr>
        <p:txBody>
          <a:bodyPr wrap="square" lIns="0" tIns="0" rIns="0" bIns="0" rtlCol="0" anchor="ctr"/>
          <a:lstStyle/>
          <a:p>
            <a:pPr indent="0" marL="0">
              <a:lnSpc>
                <a:spcPct val="100000"/>
              </a:lnSpc>
              <a:buNone/>
            </a:pPr>
            <a:endParaRPr lang="en-US" sz="1100" dirty="0"/>
          </a:p>
        </p:txBody>
      </p:sp>
      <p:sp>
        <p:nvSpPr>
          <p:cNvPr id="5" name="samples text"/>
          <p:cNvSpPr txBox="1"/>
          <p:nvPr/>
        </p:nvSpPr>
        <p:spPr>
          <a:xfrm>
            <a:off x="548640" y="1097280"/>
            <a:ext cx="7680960" cy="457200"/>
          </a:xfrm>
          <a:prstGeom prst="rect">
            <a:avLst/>
          </a:prstGeom>
          <a:noFill/>
          <a:ln/>
        </p:spPr>
        <p:txBody>
          <a:bodyPr wrap="square" lIns="0" tIns="0" rIns="0" bIns="0" rtlCol="0" anchor="ctr"/>
          <a:lstStyle/>
          <a:p>
            <a:pPr indent="0" marL="0">
              <a:buNone/>
            </a:pPr>
            <a:r>
              <a:rPr lang="en-US" sz="1200" b="1" dirty="0">
                <a:solidFill>
                  <a:schemeClr val="bg1"/>
                </a:solidFill>
              </a:rPr>
              <a:t>Samples  </a:t>
            </a:r>
            <a:pPr indent="0" marL="0">
              <a:buNone/>
            </a:pPr>
            <a:r>
              <a:rPr lang="en-US" sz="1100" dirty="0">
                <a:solidFill>
                  <a:schemeClr val="bg1"/>
                </a:solidFill>
              </a:rPr>
              <a:t>12 postmortem donors · prefrontal cortex BA9 · 6 late-stage PD vs 6 sex- and age-matched controls (mean 75.9 y)</a:t>
            </a:r>
            <a:endParaRPr lang="en-US" sz="1200" dirty="0"/>
          </a:p>
        </p:txBody>
      </p:sp>
      <p:sp>
        <p:nvSpPr>
          <p:cNvPr id="6" name="chip snRNA-seq (10x Genomics)"/>
          <p:cNvSpPr/>
          <p:nvPr/>
        </p:nvSpPr>
        <p:spPr>
          <a:xfrm>
            <a:off x="457200" y="1664208"/>
            <a:ext cx="2194560" cy="292608"/>
          </a:xfrm>
          <a:prstGeom prst="roundRect">
            <a:avLst>
              <a:gd name="adj" fmla="val 50000"/>
            </a:avLst>
          </a:prstGeom>
          <a:solidFill>
            <a:srgbClr val="E4572E"/>
          </a:solidFill>
          <a:ln w="12700">
            <a:solidFill>
              <a:srgbClr val="E4572E"/>
            </a:solidFill>
            <a:prstDash val="solid"/>
          </a:ln>
        </p:spPr>
      </p:sp>
      <p:sp>
        <p:nvSpPr>
          <p:cNvPr id="7" name="chip text snRNA-seq (10x Genomics)"/>
          <p:cNvSpPr txBox="1"/>
          <p:nvPr/>
        </p:nvSpPr>
        <p:spPr>
          <a:xfrm>
            <a:off x="457200" y="1664208"/>
            <a:ext cx="2194560" cy="292608"/>
          </a:xfrm>
          <a:prstGeom prst="rect">
            <a:avLst/>
          </a:prstGeom>
          <a:noFill/>
          <a:ln/>
        </p:spPr>
        <p:txBody>
          <a:bodyPr wrap="square" lIns="0" tIns="0" rIns="0" bIns="0" rtlCol="0" anchor="ctr"/>
          <a:lstStyle/>
          <a:p>
            <a:pPr algn="ctr" indent="0" marL="0">
              <a:buNone/>
            </a:pPr>
            <a:r>
              <a:rPr lang="en-US" sz="1100" b="1" dirty="0">
                <a:solidFill>
                  <a:schemeClr val="bg1"/>
                </a:solidFill>
              </a:rPr>
              <a:t>snRNA-seq (10x Genomics)</a:t>
            </a:r>
            <a:endParaRPr lang="en-US" sz="1100" dirty="0"/>
          </a:p>
        </p:txBody>
      </p:sp>
      <p:sp>
        <p:nvSpPr>
          <p:cNvPr id="8" name="flow Nuclei isolation"/>
          <p:cNvSpPr/>
          <p:nvPr/>
        </p:nvSpPr>
        <p:spPr>
          <a:xfrm>
            <a:off x="457200" y="2011680"/>
            <a:ext cx="1828800" cy="822960"/>
          </a:xfrm>
          <a:prstGeom prst="roundRect">
            <a:avLst>
              <a:gd name="adj" fmla="val 8889"/>
            </a:avLst>
          </a:prstGeom>
          <a:solidFill>
            <a:srgbClr val="FBE3DB"/>
          </a:solidFill>
          <a:ln w="12700">
            <a:solidFill>
              <a:srgbClr val="FBE3DB"/>
            </a:solidFill>
            <a:prstDash val="solid"/>
          </a:ln>
        </p:spPr>
      </p:sp>
      <p:sp>
        <p:nvSpPr>
          <p:cNvPr id="9" name="flow text Nuclei isolation"/>
          <p:cNvSpPr txBox="1"/>
          <p:nvPr/>
        </p:nvSpPr>
        <p:spPr>
          <a:xfrm>
            <a:off x="530352" y="2011680"/>
            <a:ext cx="1682496" cy="822960"/>
          </a:xfrm>
          <a:prstGeom prst="rect">
            <a:avLst/>
          </a:prstGeom>
          <a:noFill/>
          <a:ln/>
        </p:spPr>
        <p:txBody>
          <a:bodyPr wrap="square" lIns="0" tIns="0" rIns="0" bIns="0" rtlCol="0" anchor="ctr"/>
          <a:lstStyle/>
          <a:p>
            <a:pPr indent="0" marL="0">
              <a:lnSpc>
                <a:spcPct val="100000"/>
              </a:lnSpc>
              <a:buNone/>
            </a:pPr>
            <a:r>
              <a:rPr lang="en-US" sz="1100" b="1" dirty="0">
                <a:solidFill>
                  <a:schemeClr val="tx1"/>
                </a:solidFill>
              </a:rPr>
              <a:t>Nuclei isolation</a:t>
            </a:r>
            <a:endParaRPr lang="en-US" sz="1100" dirty="0"/>
          </a:p>
          <a:p>
            <a:pPr indent="0" marL="0">
              <a:lnSpc>
                <a:spcPct val="100000"/>
              </a:lnSpc>
              <a:buNone/>
            </a:pPr>
            <a:r>
              <a:rPr lang="en-US" sz="1000" dirty="0">
                <a:solidFill>
                  <a:schemeClr val="tx1"/>
                </a:solidFill>
              </a:rPr>
              <a:t>Sucrose-gradient ultracentrifugation of frozen tissue; 500-1000 nuclei/µl</a:t>
            </a:r>
            <a:endParaRPr lang="en-US" sz="1100" dirty="0"/>
          </a:p>
        </p:txBody>
      </p:sp>
      <p:sp>
        <p:nvSpPr>
          <p:cNvPr id="10" name="arrow"/>
          <p:cNvSpPr/>
          <p:nvPr/>
        </p:nvSpPr>
        <p:spPr>
          <a:xfrm>
            <a:off x="2286000" y="2423160"/>
            <a:ext cx="167335" cy="0"/>
          </a:xfrm>
          <a:prstGeom prst="line">
            <a:avLst/>
          </a:prstGeom>
          <a:noFill/>
          <a:ln w="19050">
            <a:solidFill>
              <a:srgbClr val="6B7190"/>
            </a:solidFill>
            <a:prstDash val="solid"/>
            <a:tailEnd type="triangle"/>
          </a:ln>
        </p:spPr>
      </p:sp>
      <p:sp>
        <p:nvSpPr>
          <p:cNvPr id="11" name="flow Library + sequencing"/>
          <p:cNvSpPr/>
          <p:nvPr/>
        </p:nvSpPr>
        <p:spPr>
          <a:xfrm>
            <a:off x="2453335" y="2011680"/>
            <a:ext cx="1828800" cy="822960"/>
          </a:xfrm>
          <a:prstGeom prst="roundRect">
            <a:avLst>
              <a:gd name="adj" fmla="val 8889"/>
            </a:avLst>
          </a:prstGeom>
          <a:solidFill>
            <a:srgbClr val="FBE3DB"/>
          </a:solidFill>
          <a:ln w="12700">
            <a:solidFill>
              <a:srgbClr val="FBE3DB"/>
            </a:solidFill>
            <a:prstDash val="solid"/>
          </a:ln>
        </p:spPr>
      </p:sp>
      <p:sp>
        <p:nvSpPr>
          <p:cNvPr id="12" name="flow text Library + sequencing"/>
          <p:cNvSpPr txBox="1"/>
          <p:nvPr/>
        </p:nvSpPr>
        <p:spPr>
          <a:xfrm>
            <a:off x="2526487" y="2011680"/>
            <a:ext cx="1682496" cy="822960"/>
          </a:xfrm>
          <a:prstGeom prst="rect">
            <a:avLst/>
          </a:prstGeom>
          <a:noFill/>
          <a:ln/>
        </p:spPr>
        <p:txBody>
          <a:bodyPr wrap="square" lIns="0" tIns="0" rIns="0" bIns="0" rtlCol="0" anchor="ctr"/>
          <a:lstStyle/>
          <a:p>
            <a:pPr indent="0" marL="0">
              <a:lnSpc>
                <a:spcPct val="100000"/>
              </a:lnSpc>
              <a:buNone/>
            </a:pPr>
            <a:r>
              <a:rPr lang="en-US" sz="1100" b="1" dirty="0">
                <a:solidFill>
                  <a:schemeClr val="tx1"/>
                </a:solidFill>
              </a:rPr>
              <a:t>Library + sequencing</a:t>
            </a:r>
            <a:endParaRPr lang="en-US" sz="1100" dirty="0"/>
          </a:p>
          <a:p>
            <a:pPr indent="0" marL="0">
              <a:lnSpc>
                <a:spcPct val="100000"/>
              </a:lnSpc>
              <a:buNone/>
            </a:pPr>
            <a:r>
              <a:rPr lang="en-US" sz="1000" dirty="0">
                <a:solidFill>
                  <a:schemeClr val="tx1"/>
                </a:solidFill>
              </a:rPr>
              <a:t>Chromium Single Cell 3′ v3; NovaSeq 6000, ~100k reads per nucleus</a:t>
            </a:r>
            <a:endParaRPr lang="en-US" sz="1100" dirty="0"/>
          </a:p>
        </p:txBody>
      </p:sp>
      <p:sp>
        <p:nvSpPr>
          <p:cNvPr id="13" name="arrow"/>
          <p:cNvSpPr/>
          <p:nvPr/>
        </p:nvSpPr>
        <p:spPr>
          <a:xfrm>
            <a:off x="4282135" y="2423160"/>
            <a:ext cx="167335" cy="0"/>
          </a:xfrm>
          <a:prstGeom prst="line">
            <a:avLst/>
          </a:prstGeom>
          <a:noFill/>
          <a:ln w="19050">
            <a:solidFill>
              <a:srgbClr val="6B7190"/>
            </a:solidFill>
            <a:prstDash val="solid"/>
            <a:tailEnd type="triangle"/>
          </a:ln>
        </p:spPr>
      </p:sp>
      <p:sp>
        <p:nvSpPr>
          <p:cNvPr id="14" name="flow Alignment"/>
          <p:cNvSpPr/>
          <p:nvPr/>
        </p:nvSpPr>
        <p:spPr>
          <a:xfrm>
            <a:off x="4449470" y="2011680"/>
            <a:ext cx="1828800" cy="822960"/>
          </a:xfrm>
          <a:prstGeom prst="roundRect">
            <a:avLst>
              <a:gd name="adj" fmla="val 8889"/>
            </a:avLst>
          </a:prstGeom>
          <a:solidFill>
            <a:srgbClr val="FBE3DB"/>
          </a:solidFill>
          <a:ln w="12700">
            <a:solidFill>
              <a:srgbClr val="FBE3DB"/>
            </a:solidFill>
            <a:prstDash val="solid"/>
          </a:ln>
        </p:spPr>
      </p:sp>
      <p:sp>
        <p:nvSpPr>
          <p:cNvPr id="15" name="flow text Alignment"/>
          <p:cNvSpPr txBox="1"/>
          <p:nvPr/>
        </p:nvSpPr>
        <p:spPr>
          <a:xfrm>
            <a:off x="4522622" y="2011680"/>
            <a:ext cx="1682496" cy="822960"/>
          </a:xfrm>
          <a:prstGeom prst="rect">
            <a:avLst/>
          </a:prstGeom>
          <a:noFill/>
          <a:ln/>
        </p:spPr>
        <p:txBody>
          <a:bodyPr wrap="square" lIns="0" tIns="0" rIns="0" bIns="0" rtlCol="0" anchor="ctr"/>
          <a:lstStyle/>
          <a:p>
            <a:pPr indent="0" marL="0">
              <a:lnSpc>
                <a:spcPct val="100000"/>
              </a:lnSpc>
              <a:buNone/>
            </a:pPr>
            <a:r>
              <a:rPr lang="en-US" sz="1100" b="1" dirty="0">
                <a:solidFill>
                  <a:schemeClr val="tx1"/>
                </a:solidFill>
              </a:rPr>
              <a:t>Alignment</a:t>
            </a:r>
            <a:endParaRPr lang="en-US" sz="1100" dirty="0"/>
          </a:p>
          <a:p>
            <a:pPr indent="0" marL="0">
              <a:lnSpc>
                <a:spcPct val="100000"/>
              </a:lnSpc>
              <a:buNone/>
            </a:pPr>
            <a:r>
              <a:rPr lang="en-US" sz="1000" dirty="0">
                <a:solidFill>
                  <a:schemeClr val="tx1"/>
                </a:solidFill>
              </a:rPr>
              <a:t>Cell Ranger 3.1 on a GRCh38 pre-mRNA reference so intronic (unspliced) nuclear reads count</a:t>
            </a:r>
            <a:endParaRPr lang="en-US" sz="1100" dirty="0"/>
          </a:p>
        </p:txBody>
      </p:sp>
      <p:sp>
        <p:nvSpPr>
          <p:cNvPr id="16" name="arrow"/>
          <p:cNvSpPr/>
          <p:nvPr/>
        </p:nvSpPr>
        <p:spPr>
          <a:xfrm>
            <a:off x="6278270" y="2423160"/>
            <a:ext cx="167335" cy="0"/>
          </a:xfrm>
          <a:prstGeom prst="line">
            <a:avLst/>
          </a:prstGeom>
          <a:noFill/>
          <a:ln w="19050">
            <a:solidFill>
              <a:srgbClr val="6B7190"/>
            </a:solidFill>
            <a:prstDash val="solid"/>
            <a:tailEnd type="triangle"/>
          </a:ln>
        </p:spPr>
      </p:sp>
      <p:sp>
        <p:nvSpPr>
          <p:cNvPr id="17" name="flow Quality control"/>
          <p:cNvSpPr/>
          <p:nvPr/>
        </p:nvSpPr>
        <p:spPr>
          <a:xfrm>
            <a:off x="6445606" y="2011680"/>
            <a:ext cx="1828800" cy="822960"/>
          </a:xfrm>
          <a:prstGeom prst="roundRect">
            <a:avLst>
              <a:gd name="adj" fmla="val 8889"/>
            </a:avLst>
          </a:prstGeom>
          <a:solidFill>
            <a:srgbClr val="FBE3DB"/>
          </a:solidFill>
          <a:ln w="12700">
            <a:solidFill>
              <a:srgbClr val="FBE3DB"/>
            </a:solidFill>
            <a:prstDash val="solid"/>
          </a:ln>
        </p:spPr>
      </p:sp>
      <p:sp>
        <p:nvSpPr>
          <p:cNvPr id="18" name="flow text Quality control"/>
          <p:cNvSpPr txBox="1"/>
          <p:nvPr/>
        </p:nvSpPr>
        <p:spPr>
          <a:xfrm>
            <a:off x="6518758" y="2011680"/>
            <a:ext cx="1682496" cy="822960"/>
          </a:xfrm>
          <a:prstGeom prst="rect">
            <a:avLst/>
          </a:prstGeom>
          <a:noFill/>
          <a:ln/>
        </p:spPr>
        <p:txBody>
          <a:bodyPr wrap="square" lIns="0" tIns="0" rIns="0" bIns="0" rtlCol="0" anchor="ctr"/>
          <a:lstStyle/>
          <a:p>
            <a:pPr indent="0" marL="0">
              <a:lnSpc>
                <a:spcPct val="100000"/>
              </a:lnSpc>
              <a:buNone/>
            </a:pPr>
            <a:r>
              <a:rPr lang="en-US" sz="1100" b="1" dirty="0">
                <a:solidFill>
                  <a:schemeClr val="tx1"/>
                </a:solidFill>
              </a:rPr>
              <a:t>Quality control</a:t>
            </a:r>
            <a:endParaRPr lang="en-US" sz="1100" dirty="0"/>
          </a:p>
          <a:p>
            <a:pPr indent="0" marL="0">
              <a:lnSpc>
                <a:spcPct val="100000"/>
              </a:lnSpc>
              <a:buNone/>
            </a:pPr>
            <a:r>
              <a:rPr lang="en-US" sz="1000" dirty="0">
                <a:solidFill>
                  <a:schemeClr val="tx1"/>
                </a:solidFill>
              </a:rPr>
              <a:t>Keep nuclei with 200-7000 genes (drops debris and doublets) → 77,384 nuclei; median 2598 genes</a:t>
            </a:r>
            <a:endParaRPr lang="en-US" sz="1100" dirty="0"/>
          </a:p>
        </p:txBody>
      </p:sp>
      <p:sp>
        <p:nvSpPr>
          <p:cNvPr id="19" name="flow Normalise + feature select"/>
          <p:cNvSpPr/>
          <p:nvPr/>
        </p:nvSpPr>
        <p:spPr>
          <a:xfrm>
            <a:off x="457200" y="2971800"/>
            <a:ext cx="1828800" cy="822960"/>
          </a:xfrm>
          <a:prstGeom prst="roundRect">
            <a:avLst>
              <a:gd name="adj" fmla="val 8889"/>
            </a:avLst>
          </a:prstGeom>
          <a:solidFill>
            <a:srgbClr val="FBE3DB"/>
          </a:solidFill>
          <a:ln w="12700">
            <a:solidFill>
              <a:srgbClr val="FBE3DB"/>
            </a:solidFill>
            <a:prstDash val="solid"/>
          </a:ln>
        </p:spPr>
      </p:sp>
      <p:sp>
        <p:nvSpPr>
          <p:cNvPr id="20" name="flow text Normalise + feature select"/>
          <p:cNvSpPr txBox="1"/>
          <p:nvPr/>
        </p:nvSpPr>
        <p:spPr>
          <a:xfrm>
            <a:off x="530352" y="2971800"/>
            <a:ext cx="1682496" cy="822960"/>
          </a:xfrm>
          <a:prstGeom prst="rect">
            <a:avLst/>
          </a:prstGeom>
          <a:noFill/>
          <a:ln/>
        </p:spPr>
        <p:txBody>
          <a:bodyPr wrap="square" lIns="0" tIns="0" rIns="0" bIns="0" rtlCol="0" anchor="ctr"/>
          <a:lstStyle/>
          <a:p>
            <a:pPr indent="0" marL="0">
              <a:lnSpc>
                <a:spcPct val="100000"/>
              </a:lnSpc>
              <a:buNone/>
            </a:pPr>
            <a:r>
              <a:rPr lang="en-US" sz="1100" b="1" dirty="0">
                <a:solidFill>
                  <a:schemeClr val="tx1"/>
                </a:solidFill>
              </a:rPr>
              <a:t>Normalise + feature select</a:t>
            </a:r>
            <a:endParaRPr lang="en-US" sz="1100" dirty="0"/>
          </a:p>
          <a:p>
            <a:pPr indent="0" marL="0">
              <a:lnSpc>
                <a:spcPct val="100000"/>
              </a:lnSpc>
              <a:buNone/>
            </a:pPr>
            <a:r>
              <a:rPr lang="en-US" sz="1000" dirty="0">
                <a:solidFill>
                  <a:schemeClr val="tx1"/>
                </a:solidFill>
              </a:rPr>
              <a:t>Seurat 4.0.2: log-normalise each sample; top 2000 highly variable genes</a:t>
            </a:r>
            <a:endParaRPr lang="en-US" sz="1100" dirty="0"/>
          </a:p>
        </p:txBody>
      </p:sp>
      <p:sp>
        <p:nvSpPr>
          <p:cNvPr id="21" name="arrow"/>
          <p:cNvSpPr/>
          <p:nvPr/>
        </p:nvSpPr>
        <p:spPr>
          <a:xfrm>
            <a:off x="2286000" y="3383280"/>
            <a:ext cx="167335" cy="0"/>
          </a:xfrm>
          <a:prstGeom prst="line">
            <a:avLst/>
          </a:prstGeom>
          <a:noFill/>
          <a:ln w="19050">
            <a:solidFill>
              <a:srgbClr val="6B7190"/>
            </a:solidFill>
            <a:prstDash val="solid"/>
            <a:tailEnd type="triangle"/>
          </a:ln>
        </p:spPr>
      </p:sp>
      <p:sp>
        <p:nvSpPr>
          <p:cNvPr id="22" name="flow Integrate + reduce"/>
          <p:cNvSpPr/>
          <p:nvPr/>
        </p:nvSpPr>
        <p:spPr>
          <a:xfrm>
            <a:off x="2453335" y="2971800"/>
            <a:ext cx="1828800" cy="822960"/>
          </a:xfrm>
          <a:prstGeom prst="roundRect">
            <a:avLst>
              <a:gd name="adj" fmla="val 8889"/>
            </a:avLst>
          </a:prstGeom>
          <a:solidFill>
            <a:srgbClr val="FBE3DB"/>
          </a:solidFill>
          <a:ln w="12700">
            <a:solidFill>
              <a:srgbClr val="FBE3DB"/>
            </a:solidFill>
            <a:prstDash val="solid"/>
          </a:ln>
        </p:spPr>
      </p:sp>
      <p:sp>
        <p:nvSpPr>
          <p:cNvPr id="23" name="flow text Integrate + reduce"/>
          <p:cNvSpPr txBox="1"/>
          <p:nvPr/>
        </p:nvSpPr>
        <p:spPr>
          <a:xfrm>
            <a:off x="2526487" y="2971800"/>
            <a:ext cx="1682496" cy="822960"/>
          </a:xfrm>
          <a:prstGeom prst="rect">
            <a:avLst/>
          </a:prstGeom>
          <a:noFill/>
          <a:ln/>
        </p:spPr>
        <p:txBody>
          <a:bodyPr wrap="square" lIns="0" tIns="0" rIns="0" bIns="0" rtlCol="0" anchor="ctr"/>
          <a:lstStyle/>
          <a:p>
            <a:pPr indent="0" marL="0">
              <a:lnSpc>
                <a:spcPct val="100000"/>
              </a:lnSpc>
              <a:buNone/>
            </a:pPr>
            <a:r>
              <a:rPr lang="en-US" sz="1100" b="1" dirty="0">
                <a:solidFill>
                  <a:schemeClr val="tx1"/>
                </a:solidFill>
              </a:rPr>
              <a:t>Integrate + reduce</a:t>
            </a:r>
            <a:endParaRPr lang="en-US" sz="1100" dirty="0"/>
          </a:p>
          <a:p>
            <a:pPr indent="0" marL="0">
              <a:lnSpc>
                <a:spcPct val="100000"/>
              </a:lnSpc>
              <a:buNone/>
            </a:pPr>
            <a:r>
              <a:rPr lang="en-US" sz="1000" dirty="0">
                <a:solidFill>
                  <a:schemeClr val="tx1"/>
                </a:solidFill>
              </a:rPr>
              <a:t>FindIntegrationAnchors → IntegrateData across all 12 donors; PCA → UMAP → 12 clusters</a:t>
            </a:r>
            <a:endParaRPr lang="en-US" sz="1100" dirty="0"/>
          </a:p>
        </p:txBody>
      </p:sp>
      <p:sp>
        <p:nvSpPr>
          <p:cNvPr id="24" name="arrow"/>
          <p:cNvSpPr/>
          <p:nvPr/>
        </p:nvSpPr>
        <p:spPr>
          <a:xfrm>
            <a:off x="4282135" y="3383280"/>
            <a:ext cx="167335" cy="0"/>
          </a:xfrm>
          <a:prstGeom prst="line">
            <a:avLst/>
          </a:prstGeom>
          <a:noFill/>
          <a:ln w="19050">
            <a:solidFill>
              <a:srgbClr val="6B7190"/>
            </a:solidFill>
            <a:prstDash val="solid"/>
            <a:tailEnd type="triangle"/>
          </a:ln>
        </p:spPr>
      </p:sp>
      <p:sp>
        <p:nvSpPr>
          <p:cNvPr id="25" name="flow Annotate"/>
          <p:cNvSpPr/>
          <p:nvPr/>
        </p:nvSpPr>
        <p:spPr>
          <a:xfrm>
            <a:off x="4449470" y="2971800"/>
            <a:ext cx="1828800" cy="822960"/>
          </a:xfrm>
          <a:prstGeom prst="roundRect">
            <a:avLst>
              <a:gd name="adj" fmla="val 8889"/>
            </a:avLst>
          </a:prstGeom>
          <a:solidFill>
            <a:srgbClr val="FBE3DB"/>
          </a:solidFill>
          <a:ln w="12700">
            <a:solidFill>
              <a:srgbClr val="FBE3DB"/>
            </a:solidFill>
            <a:prstDash val="solid"/>
          </a:ln>
        </p:spPr>
      </p:sp>
      <p:sp>
        <p:nvSpPr>
          <p:cNvPr id="26" name="flow text Annotate"/>
          <p:cNvSpPr txBox="1"/>
          <p:nvPr/>
        </p:nvSpPr>
        <p:spPr>
          <a:xfrm>
            <a:off x="4522622" y="2971800"/>
            <a:ext cx="1682496" cy="822960"/>
          </a:xfrm>
          <a:prstGeom prst="rect">
            <a:avLst/>
          </a:prstGeom>
          <a:noFill/>
          <a:ln/>
        </p:spPr>
        <p:txBody>
          <a:bodyPr wrap="square" lIns="0" tIns="0" rIns="0" bIns="0" rtlCol="0" anchor="ctr"/>
          <a:lstStyle/>
          <a:p>
            <a:pPr indent="0" marL="0">
              <a:lnSpc>
                <a:spcPct val="100000"/>
              </a:lnSpc>
              <a:buNone/>
            </a:pPr>
            <a:r>
              <a:rPr lang="en-US" sz="1100" b="1" dirty="0">
                <a:solidFill>
                  <a:schemeClr val="tx1"/>
                </a:solidFill>
              </a:rPr>
              <a:t>Annotate</a:t>
            </a:r>
            <a:endParaRPr lang="en-US" sz="1100" dirty="0"/>
          </a:p>
          <a:p>
            <a:pPr indent="0" marL="0">
              <a:lnSpc>
                <a:spcPct val="100000"/>
              </a:lnSpc>
              <a:buNone/>
            </a:pPr>
            <a:r>
              <a:rPr lang="en-US" sz="1000" dirty="0">
                <a:solidFill>
                  <a:schemeClr val="tx1"/>
                </a:solidFill>
              </a:rPr>
              <a:t>Canonical markers (SLC17A7, GAD1, MBP, AQP4, ITGAM, PDGFRA, CLDN5, CD3E) → 8 cell types</a:t>
            </a:r>
            <a:endParaRPr lang="en-US" sz="1100" dirty="0"/>
          </a:p>
        </p:txBody>
      </p:sp>
      <p:sp>
        <p:nvSpPr>
          <p:cNvPr id="27" name="arrow"/>
          <p:cNvSpPr/>
          <p:nvPr/>
        </p:nvSpPr>
        <p:spPr>
          <a:xfrm>
            <a:off x="6278270" y="3383280"/>
            <a:ext cx="167335" cy="0"/>
          </a:xfrm>
          <a:prstGeom prst="line">
            <a:avLst/>
          </a:prstGeom>
          <a:noFill/>
          <a:ln w="19050">
            <a:solidFill>
              <a:srgbClr val="6B7190"/>
            </a:solidFill>
            <a:prstDash val="solid"/>
            <a:tailEnd type="triangle"/>
          </a:ln>
        </p:spPr>
      </p:sp>
      <p:sp>
        <p:nvSpPr>
          <p:cNvPr id="28" name="flow Differential expression"/>
          <p:cNvSpPr/>
          <p:nvPr/>
        </p:nvSpPr>
        <p:spPr>
          <a:xfrm>
            <a:off x="6445606" y="2971800"/>
            <a:ext cx="1828800" cy="822960"/>
          </a:xfrm>
          <a:prstGeom prst="roundRect">
            <a:avLst>
              <a:gd name="adj" fmla="val 8889"/>
            </a:avLst>
          </a:prstGeom>
          <a:solidFill>
            <a:srgbClr val="FBE3DB"/>
          </a:solidFill>
          <a:ln w="12700">
            <a:solidFill>
              <a:srgbClr val="FBE3DB"/>
            </a:solidFill>
            <a:prstDash val="solid"/>
          </a:ln>
        </p:spPr>
      </p:sp>
      <p:sp>
        <p:nvSpPr>
          <p:cNvPr id="29" name="flow text Differential expression"/>
          <p:cNvSpPr txBox="1"/>
          <p:nvPr/>
        </p:nvSpPr>
        <p:spPr>
          <a:xfrm>
            <a:off x="6518758" y="2971800"/>
            <a:ext cx="1682496" cy="822960"/>
          </a:xfrm>
          <a:prstGeom prst="rect">
            <a:avLst/>
          </a:prstGeom>
          <a:noFill/>
          <a:ln/>
        </p:spPr>
        <p:txBody>
          <a:bodyPr wrap="square" lIns="0" tIns="0" rIns="0" bIns="0" rtlCol="0" anchor="ctr"/>
          <a:lstStyle/>
          <a:p>
            <a:pPr indent="0" marL="0">
              <a:lnSpc>
                <a:spcPct val="100000"/>
              </a:lnSpc>
              <a:buNone/>
            </a:pPr>
            <a:r>
              <a:rPr lang="en-US" sz="1100" b="1" dirty="0">
                <a:solidFill>
                  <a:schemeClr val="tx1"/>
                </a:solidFill>
              </a:rPr>
              <a:t>Differential expression</a:t>
            </a:r>
            <a:endParaRPr lang="en-US" sz="1100" dirty="0"/>
          </a:p>
          <a:p>
            <a:pPr indent="0" marL="0">
              <a:lnSpc>
                <a:spcPct val="100000"/>
              </a:lnSpc>
              <a:buNone/>
            </a:pPr>
            <a:r>
              <a:rPr lang="en-US" sz="1000" dirty="0">
                <a:solidFill>
                  <a:schemeClr val="tx1"/>
                </a:solidFill>
              </a:rPr>
              <a:t>Wilcoxon rank-sum per cell type (FindMarkers), |log FC| &gt; 0.25, FDR &lt; 0.05; GO via clusterProfiler</a:t>
            </a:r>
            <a:endParaRPr lang="en-US" sz="1100" dirty="0"/>
          </a:p>
        </p:txBody>
      </p:sp>
      <p:sp>
        <p:nvSpPr>
          <p:cNvPr id="30" name="elbow1"/>
          <p:cNvSpPr/>
          <p:nvPr/>
        </p:nvSpPr>
        <p:spPr>
          <a:xfrm>
            <a:off x="7360006" y="2834640"/>
            <a:ext cx="0" cy="68580"/>
          </a:xfrm>
          <a:prstGeom prst="line">
            <a:avLst/>
          </a:prstGeom>
          <a:noFill/>
          <a:ln w="19050">
            <a:solidFill>
              <a:srgbClr val="6B7190"/>
            </a:solidFill>
            <a:prstDash val="solid"/>
          </a:ln>
        </p:spPr>
      </p:sp>
      <p:sp>
        <p:nvSpPr>
          <p:cNvPr id="31" name="elbow2"/>
          <p:cNvSpPr/>
          <p:nvPr/>
        </p:nvSpPr>
        <p:spPr>
          <a:xfrm>
            <a:off x="1371600" y="2903220"/>
            <a:ext cx="5988406" cy="0"/>
          </a:xfrm>
          <a:prstGeom prst="line">
            <a:avLst/>
          </a:prstGeom>
          <a:noFill/>
          <a:ln w="19050">
            <a:solidFill>
              <a:srgbClr val="6B7190"/>
            </a:solidFill>
            <a:prstDash val="solid"/>
          </a:ln>
        </p:spPr>
      </p:sp>
      <p:sp>
        <p:nvSpPr>
          <p:cNvPr id="32" name="arrow"/>
          <p:cNvSpPr/>
          <p:nvPr/>
        </p:nvSpPr>
        <p:spPr>
          <a:xfrm>
            <a:off x="1371600" y="2903220"/>
            <a:ext cx="0" cy="68580"/>
          </a:xfrm>
          <a:prstGeom prst="line">
            <a:avLst/>
          </a:prstGeom>
          <a:noFill/>
          <a:ln w="19050">
            <a:solidFill>
              <a:srgbClr val="6B7190"/>
            </a:solidFill>
            <a:prstDash val="solid"/>
            <a:tailEnd type="triangle"/>
          </a:ln>
        </p:spPr>
      </p:sp>
      <p:sp>
        <p:nvSpPr>
          <p:cNvPr id="33" name="flow Cell proportions"/>
          <p:cNvSpPr/>
          <p:nvPr/>
        </p:nvSpPr>
        <p:spPr>
          <a:xfrm>
            <a:off x="457200" y="3886200"/>
            <a:ext cx="1211580" cy="731520"/>
          </a:xfrm>
          <a:prstGeom prst="roundRect">
            <a:avLst>
              <a:gd name="adj" fmla="val 10000"/>
            </a:avLst>
          </a:prstGeom>
          <a:solidFill>
            <a:srgbClr val="EEF0F8"/>
          </a:solidFill>
          <a:ln w="12700">
            <a:solidFill>
              <a:srgbClr val="EEF0F8"/>
            </a:solidFill>
            <a:prstDash val="solid"/>
          </a:ln>
        </p:spPr>
      </p:sp>
      <p:sp>
        <p:nvSpPr>
          <p:cNvPr id="34" name="flow text Cell proportions"/>
          <p:cNvSpPr txBox="1"/>
          <p:nvPr/>
        </p:nvSpPr>
        <p:spPr>
          <a:xfrm>
            <a:off x="530352" y="3886200"/>
            <a:ext cx="1065276" cy="731520"/>
          </a:xfrm>
          <a:prstGeom prst="rect">
            <a:avLst/>
          </a:prstGeom>
          <a:noFill/>
          <a:ln/>
        </p:spPr>
        <p:txBody>
          <a:bodyPr wrap="square" lIns="0" tIns="0" rIns="0" bIns="0" rtlCol="0" anchor="ctr"/>
          <a:lstStyle/>
          <a:p>
            <a:pPr indent="0" marL="0">
              <a:lnSpc>
                <a:spcPct val="100000"/>
              </a:lnSpc>
              <a:buNone/>
            </a:pPr>
            <a:r>
              <a:rPr lang="en-US" sz="1100" b="1" dirty="0">
                <a:solidFill>
                  <a:schemeClr val="tx1"/>
                </a:solidFill>
              </a:rPr>
              <a:t>Cell proportions</a:t>
            </a:r>
            <a:endParaRPr lang="en-US" sz="1100" dirty="0"/>
          </a:p>
          <a:p>
            <a:pPr indent="0" marL="0">
              <a:lnSpc>
                <a:spcPct val="100000"/>
              </a:lnSpc>
              <a:buNone/>
            </a:pPr>
            <a:r>
              <a:rPr lang="en-US" sz="1000" dirty="0">
                <a:solidFill>
                  <a:schemeClr val="tx1"/>
                </a:solidFill>
              </a:rPr>
              <a:t>Wilcoxon PD vs HC per type</a:t>
            </a:r>
            <a:endParaRPr lang="en-US" sz="1100" dirty="0"/>
          </a:p>
        </p:txBody>
      </p:sp>
      <p:sp>
        <p:nvSpPr>
          <p:cNvPr id="35" name="flow Variance partition"/>
          <p:cNvSpPr/>
          <p:nvPr/>
        </p:nvSpPr>
        <p:spPr>
          <a:xfrm>
            <a:off x="1778508" y="3886200"/>
            <a:ext cx="1211580" cy="731520"/>
          </a:xfrm>
          <a:prstGeom prst="roundRect">
            <a:avLst>
              <a:gd name="adj" fmla="val 10000"/>
            </a:avLst>
          </a:prstGeom>
          <a:solidFill>
            <a:srgbClr val="EEF0F8"/>
          </a:solidFill>
          <a:ln w="12700">
            <a:solidFill>
              <a:srgbClr val="EEF0F8"/>
            </a:solidFill>
            <a:prstDash val="solid"/>
          </a:ln>
        </p:spPr>
      </p:sp>
      <p:sp>
        <p:nvSpPr>
          <p:cNvPr id="36" name="flow text Variance partition"/>
          <p:cNvSpPr txBox="1"/>
          <p:nvPr/>
        </p:nvSpPr>
        <p:spPr>
          <a:xfrm>
            <a:off x="1851660" y="3886200"/>
            <a:ext cx="1065276" cy="731520"/>
          </a:xfrm>
          <a:prstGeom prst="rect">
            <a:avLst/>
          </a:prstGeom>
          <a:noFill/>
          <a:ln/>
        </p:spPr>
        <p:txBody>
          <a:bodyPr wrap="square" lIns="0" tIns="0" rIns="0" bIns="0" rtlCol="0" anchor="ctr"/>
          <a:lstStyle/>
          <a:p>
            <a:pPr indent="0" marL="0">
              <a:lnSpc>
                <a:spcPct val="100000"/>
              </a:lnSpc>
              <a:buNone/>
            </a:pPr>
            <a:r>
              <a:rPr lang="en-US" sz="1100" b="1" dirty="0">
                <a:solidFill>
                  <a:schemeClr val="tx1"/>
                </a:solidFill>
              </a:rPr>
              <a:t>Variance partition</a:t>
            </a:r>
            <a:endParaRPr lang="en-US" sz="1100" dirty="0"/>
          </a:p>
          <a:p>
            <a:pPr indent="0" marL="0">
              <a:lnSpc>
                <a:spcPct val="100000"/>
              </a:lnSpc>
              <a:buNone/>
            </a:pPr>
            <a:r>
              <a:rPr lang="en-US" sz="1000" dirty="0">
                <a:solidFill>
                  <a:schemeClr val="tx1"/>
                </a:solidFill>
              </a:rPr>
              <a:t>cell type vs donor, age, sex, PMI</a:t>
            </a:r>
            <a:endParaRPr lang="en-US" sz="1100" dirty="0"/>
          </a:p>
        </p:txBody>
      </p:sp>
      <p:sp>
        <p:nvSpPr>
          <p:cNvPr id="37" name="flow scVelo velocity"/>
          <p:cNvSpPr/>
          <p:nvPr/>
        </p:nvSpPr>
        <p:spPr>
          <a:xfrm>
            <a:off x="3099816" y="3886200"/>
            <a:ext cx="1211580" cy="731520"/>
          </a:xfrm>
          <a:prstGeom prst="roundRect">
            <a:avLst>
              <a:gd name="adj" fmla="val 10000"/>
            </a:avLst>
          </a:prstGeom>
          <a:solidFill>
            <a:srgbClr val="EEF0F8"/>
          </a:solidFill>
          <a:ln w="12700">
            <a:solidFill>
              <a:srgbClr val="EEF0F8"/>
            </a:solidFill>
            <a:prstDash val="solid"/>
          </a:ln>
        </p:spPr>
      </p:sp>
      <p:sp>
        <p:nvSpPr>
          <p:cNvPr id="38" name="flow text scVelo velocity"/>
          <p:cNvSpPr txBox="1"/>
          <p:nvPr/>
        </p:nvSpPr>
        <p:spPr>
          <a:xfrm>
            <a:off x="3172968" y="3886200"/>
            <a:ext cx="1065276" cy="731520"/>
          </a:xfrm>
          <a:prstGeom prst="rect">
            <a:avLst/>
          </a:prstGeom>
          <a:noFill/>
          <a:ln/>
        </p:spPr>
        <p:txBody>
          <a:bodyPr wrap="square" lIns="0" tIns="0" rIns="0" bIns="0" rtlCol="0" anchor="ctr"/>
          <a:lstStyle/>
          <a:p>
            <a:pPr indent="0" marL="0">
              <a:lnSpc>
                <a:spcPct val="100000"/>
              </a:lnSpc>
              <a:buNone/>
            </a:pPr>
            <a:r>
              <a:rPr lang="en-US" sz="1100" b="1" dirty="0">
                <a:solidFill>
                  <a:schemeClr val="tx1"/>
                </a:solidFill>
              </a:rPr>
              <a:t>scVelo velocity</a:t>
            </a:r>
            <a:endParaRPr lang="en-US" sz="1100" dirty="0"/>
          </a:p>
          <a:p>
            <a:pPr indent="0" marL="0">
              <a:lnSpc>
                <a:spcPct val="100000"/>
              </a:lnSpc>
              <a:buNone/>
            </a:pPr>
            <a:r>
              <a:rPr lang="en-US" sz="1000" dirty="0">
                <a:solidFill>
                  <a:schemeClr val="tx1"/>
                </a:solidFill>
              </a:rPr>
              <a:t>spliced vs unspliced, per donor</a:t>
            </a:r>
            <a:endParaRPr lang="en-US" sz="1100" dirty="0"/>
          </a:p>
        </p:txBody>
      </p:sp>
      <p:sp>
        <p:nvSpPr>
          <p:cNvPr id="39" name="flow CellPhoneDB v2"/>
          <p:cNvSpPr/>
          <p:nvPr/>
        </p:nvSpPr>
        <p:spPr>
          <a:xfrm>
            <a:off x="4421124" y="3886200"/>
            <a:ext cx="1211580" cy="731520"/>
          </a:xfrm>
          <a:prstGeom prst="roundRect">
            <a:avLst>
              <a:gd name="adj" fmla="val 10000"/>
            </a:avLst>
          </a:prstGeom>
          <a:solidFill>
            <a:srgbClr val="EEF0F8"/>
          </a:solidFill>
          <a:ln w="12700">
            <a:solidFill>
              <a:srgbClr val="EEF0F8"/>
            </a:solidFill>
            <a:prstDash val="solid"/>
          </a:ln>
        </p:spPr>
      </p:sp>
      <p:sp>
        <p:nvSpPr>
          <p:cNvPr id="40" name="flow text CellPhoneDB v2"/>
          <p:cNvSpPr txBox="1"/>
          <p:nvPr/>
        </p:nvSpPr>
        <p:spPr>
          <a:xfrm>
            <a:off x="4494276" y="3886200"/>
            <a:ext cx="1065276" cy="731520"/>
          </a:xfrm>
          <a:prstGeom prst="rect">
            <a:avLst/>
          </a:prstGeom>
          <a:noFill/>
          <a:ln/>
        </p:spPr>
        <p:txBody>
          <a:bodyPr wrap="square" lIns="0" tIns="0" rIns="0" bIns="0" rtlCol="0" anchor="ctr"/>
          <a:lstStyle/>
          <a:p>
            <a:pPr indent="0" marL="0">
              <a:lnSpc>
                <a:spcPct val="100000"/>
              </a:lnSpc>
              <a:buNone/>
            </a:pPr>
            <a:r>
              <a:rPr lang="en-US" sz="1100" b="1" dirty="0">
                <a:solidFill>
                  <a:schemeClr val="tx1"/>
                </a:solidFill>
              </a:rPr>
              <a:t>CellPhoneDB v2</a:t>
            </a:r>
            <a:endParaRPr lang="en-US" sz="1100" dirty="0"/>
          </a:p>
          <a:p>
            <a:pPr indent="0" marL="0">
              <a:lnSpc>
                <a:spcPct val="100000"/>
              </a:lnSpc>
              <a:buNone/>
            </a:pPr>
            <a:r>
              <a:rPr lang="en-US" sz="1000" dirty="0">
                <a:solidFill>
                  <a:schemeClr val="tx1"/>
                </a:solidFill>
              </a:rPr>
              <a:t>ligand-receptor pairs; 1000 permutations</a:t>
            </a:r>
            <a:endParaRPr lang="en-US" sz="1100" dirty="0"/>
          </a:p>
        </p:txBody>
      </p:sp>
      <p:sp>
        <p:nvSpPr>
          <p:cNvPr id="41" name="flow UTMOST"/>
          <p:cNvSpPr/>
          <p:nvPr/>
        </p:nvSpPr>
        <p:spPr>
          <a:xfrm>
            <a:off x="5742432" y="3886200"/>
            <a:ext cx="1211580" cy="731520"/>
          </a:xfrm>
          <a:prstGeom prst="roundRect">
            <a:avLst>
              <a:gd name="adj" fmla="val 10000"/>
            </a:avLst>
          </a:prstGeom>
          <a:solidFill>
            <a:srgbClr val="EEF0F8"/>
          </a:solidFill>
          <a:ln w="12700">
            <a:solidFill>
              <a:srgbClr val="EEF0F8"/>
            </a:solidFill>
            <a:prstDash val="solid"/>
          </a:ln>
        </p:spPr>
      </p:sp>
      <p:sp>
        <p:nvSpPr>
          <p:cNvPr id="42" name="flow text UTMOST"/>
          <p:cNvSpPr txBox="1"/>
          <p:nvPr/>
        </p:nvSpPr>
        <p:spPr>
          <a:xfrm>
            <a:off x="5815584" y="3886200"/>
            <a:ext cx="1065276" cy="731520"/>
          </a:xfrm>
          <a:prstGeom prst="rect">
            <a:avLst/>
          </a:prstGeom>
          <a:noFill/>
          <a:ln/>
        </p:spPr>
        <p:txBody>
          <a:bodyPr wrap="square" lIns="0" tIns="0" rIns="0" bIns="0" rtlCol="0" anchor="ctr"/>
          <a:lstStyle/>
          <a:p>
            <a:pPr indent="0" marL="0">
              <a:lnSpc>
                <a:spcPct val="100000"/>
              </a:lnSpc>
              <a:buNone/>
            </a:pPr>
            <a:r>
              <a:rPr lang="en-US" sz="1100" b="1" dirty="0">
                <a:solidFill>
                  <a:schemeClr val="tx1"/>
                </a:solidFill>
              </a:rPr>
              <a:t>UTMOST</a:t>
            </a:r>
            <a:endParaRPr lang="en-US" sz="1100" dirty="0"/>
          </a:p>
          <a:p>
            <a:pPr indent="0" marL="0">
              <a:lnSpc>
                <a:spcPct val="100000"/>
              </a:lnSpc>
              <a:buNone/>
            </a:pPr>
            <a:r>
              <a:rPr lang="en-US" sz="1000" dirty="0">
                <a:solidFill>
                  <a:schemeClr val="tx1"/>
                </a:solidFill>
              </a:rPr>
              <a:t>GWAS → genes → cell-type z-scores</a:t>
            </a:r>
            <a:endParaRPr lang="en-US" sz="1100" dirty="0"/>
          </a:p>
        </p:txBody>
      </p:sp>
      <p:sp>
        <p:nvSpPr>
          <p:cNvPr id="43" name="flow RNAscope"/>
          <p:cNvSpPr/>
          <p:nvPr/>
        </p:nvSpPr>
        <p:spPr>
          <a:xfrm>
            <a:off x="7063740" y="3886200"/>
            <a:ext cx="1211580" cy="731520"/>
          </a:xfrm>
          <a:prstGeom prst="roundRect">
            <a:avLst>
              <a:gd name="adj" fmla="val 10000"/>
            </a:avLst>
          </a:prstGeom>
          <a:solidFill>
            <a:srgbClr val="EEF0F8"/>
          </a:solidFill>
          <a:ln w="12700">
            <a:solidFill>
              <a:srgbClr val="EEF0F8"/>
            </a:solidFill>
            <a:prstDash val="solid"/>
          </a:ln>
        </p:spPr>
      </p:sp>
      <p:sp>
        <p:nvSpPr>
          <p:cNvPr id="44" name="flow text RNAscope"/>
          <p:cNvSpPr txBox="1"/>
          <p:nvPr/>
        </p:nvSpPr>
        <p:spPr>
          <a:xfrm>
            <a:off x="7136892" y="3886200"/>
            <a:ext cx="1065276" cy="731520"/>
          </a:xfrm>
          <a:prstGeom prst="rect">
            <a:avLst/>
          </a:prstGeom>
          <a:noFill/>
          <a:ln/>
        </p:spPr>
        <p:txBody>
          <a:bodyPr wrap="square" lIns="0" tIns="0" rIns="0" bIns="0" rtlCol="0" anchor="ctr"/>
          <a:lstStyle/>
          <a:p>
            <a:pPr indent="0" marL="0">
              <a:lnSpc>
                <a:spcPct val="100000"/>
              </a:lnSpc>
              <a:buNone/>
            </a:pPr>
            <a:r>
              <a:rPr lang="en-US" sz="1100" b="1" dirty="0">
                <a:solidFill>
                  <a:schemeClr val="tx1"/>
                </a:solidFill>
              </a:rPr>
              <a:t>RNAscope</a:t>
            </a:r>
            <a:endParaRPr lang="en-US" sz="1100" dirty="0"/>
          </a:p>
          <a:p>
            <a:pPr indent="0" marL="0">
              <a:lnSpc>
                <a:spcPct val="100000"/>
              </a:lnSpc>
              <a:buNone/>
            </a:pPr>
            <a:r>
              <a:rPr lang="en-US" sz="1000" dirty="0">
                <a:solidFill>
                  <a:schemeClr val="tx1"/>
                </a:solidFill>
              </a:rPr>
              <a:t>validation in an independent cohort</a:t>
            </a:r>
            <a:endParaRPr lang="en-US" sz="1100" dirty="0"/>
          </a:p>
        </p:txBody>
      </p:sp>
      <p:sp>
        <p:nvSpPr>
          <p:cNvPr id="45" name="chip Proteomics (same tissue)"/>
          <p:cNvSpPr/>
          <p:nvPr/>
        </p:nvSpPr>
        <p:spPr>
          <a:xfrm>
            <a:off x="457200" y="4690872"/>
            <a:ext cx="2194560" cy="292608"/>
          </a:xfrm>
          <a:prstGeom prst="roundRect">
            <a:avLst>
              <a:gd name="adj" fmla="val 50000"/>
            </a:avLst>
          </a:prstGeom>
          <a:solidFill>
            <a:srgbClr val="17A398"/>
          </a:solidFill>
          <a:ln w="12700">
            <a:solidFill>
              <a:srgbClr val="17A398"/>
            </a:solidFill>
            <a:prstDash val="solid"/>
          </a:ln>
        </p:spPr>
      </p:sp>
      <p:sp>
        <p:nvSpPr>
          <p:cNvPr id="46" name="chip text Proteomics (same tissue)"/>
          <p:cNvSpPr txBox="1"/>
          <p:nvPr/>
        </p:nvSpPr>
        <p:spPr>
          <a:xfrm>
            <a:off x="457200" y="4690872"/>
            <a:ext cx="2194560" cy="292608"/>
          </a:xfrm>
          <a:prstGeom prst="rect">
            <a:avLst/>
          </a:prstGeom>
          <a:noFill/>
          <a:ln/>
        </p:spPr>
        <p:txBody>
          <a:bodyPr wrap="square" lIns="0" tIns="0" rIns="0" bIns="0" rtlCol="0" anchor="ctr"/>
          <a:lstStyle/>
          <a:p>
            <a:pPr algn="ctr" indent="0" marL="0">
              <a:buNone/>
            </a:pPr>
            <a:r>
              <a:rPr lang="en-US" sz="1100" b="1" dirty="0">
                <a:solidFill>
                  <a:schemeClr val="bg1"/>
                </a:solidFill>
              </a:rPr>
              <a:t>Proteomics (same tissue)</a:t>
            </a:r>
            <a:endParaRPr lang="en-US" sz="1100" dirty="0"/>
          </a:p>
        </p:txBody>
      </p:sp>
      <p:sp>
        <p:nvSpPr>
          <p:cNvPr id="47" name="flow Label-free LC-MS/MS"/>
          <p:cNvSpPr/>
          <p:nvPr/>
        </p:nvSpPr>
        <p:spPr>
          <a:xfrm>
            <a:off x="457200" y="5029200"/>
            <a:ext cx="1828800" cy="713232"/>
          </a:xfrm>
          <a:prstGeom prst="roundRect">
            <a:avLst>
              <a:gd name="adj" fmla="val 10256"/>
            </a:avLst>
          </a:prstGeom>
          <a:solidFill>
            <a:srgbClr val="DDF2EF"/>
          </a:solidFill>
          <a:ln w="12700">
            <a:solidFill>
              <a:srgbClr val="DDF2EF"/>
            </a:solidFill>
            <a:prstDash val="solid"/>
          </a:ln>
        </p:spPr>
      </p:sp>
      <p:sp>
        <p:nvSpPr>
          <p:cNvPr id="48" name="flow text Label-free LC-MS/MS"/>
          <p:cNvSpPr txBox="1"/>
          <p:nvPr/>
        </p:nvSpPr>
        <p:spPr>
          <a:xfrm>
            <a:off x="530352" y="5029200"/>
            <a:ext cx="1682496" cy="713232"/>
          </a:xfrm>
          <a:prstGeom prst="rect">
            <a:avLst/>
          </a:prstGeom>
          <a:noFill/>
          <a:ln/>
        </p:spPr>
        <p:txBody>
          <a:bodyPr wrap="square" lIns="0" tIns="0" rIns="0" bIns="0" rtlCol="0" anchor="ctr"/>
          <a:lstStyle/>
          <a:p>
            <a:pPr indent="0" marL="0">
              <a:lnSpc>
                <a:spcPct val="100000"/>
              </a:lnSpc>
              <a:buNone/>
            </a:pPr>
            <a:r>
              <a:rPr lang="en-US" sz="1100" b="1" dirty="0">
                <a:solidFill>
                  <a:schemeClr val="tx1"/>
                </a:solidFill>
              </a:rPr>
              <a:t>Label-free LC-MS/MS</a:t>
            </a:r>
            <a:endParaRPr lang="en-US" sz="1100" dirty="0"/>
          </a:p>
          <a:p>
            <a:pPr indent="0" marL="0">
              <a:lnSpc>
                <a:spcPct val="100000"/>
              </a:lnSpc>
              <a:buNone/>
            </a:pPr>
            <a:r>
              <a:rPr lang="en-US" sz="1000" dirty="0">
                <a:solidFill>
                  <a:schemeClr val="tx1"/>
                </a:solidFill>
              </a:rPr>
              <a:t>35,964 peptides → 2534 proteins across all 12 donors</a:t>
            </a:r>
            <a:endParaRPr lang="en-US" sz="1100" dirty="0"/>
          </a:p>
        </p:txBody>
      </p:sp>
      <p:sp>
        <p:nvSpPr>
          <p:cNvPr id="49" name="arrow"/>
          <p:cNvSpPr/>
          <p:nvPr/>
        </p:nvSpPr>
        <p:spPr>
          <a:xfrm>
            <a:off x="2286000" y="5385816"/>
            <a:ext cx="167335" cy="0"/>
          </a:xfrm>
          <a:prstGeom prst="line">
            <a:avLst/>
          </a:prstGeom>
          <a:noFill/>
          <a:ln w="19050">
            <a:solidFill>
              <a:srgbClr val="6B7190"/>
            </a:solidFill>
            <a:prstDash val="solid"/>
            <a:tailEnd type="triangle"/>
          </a:ln>
        </p:spPr>
      </p:sp>
      <p:sp>
        <p:nvSpPr>
          <p:cNvPr id="50" name="flow Differential abundance"/>
          <p:cNvSpPr/>
          <p:nvPr/>
        </p:nvSpPr>
        <p:spPr>
          <a:xfrm>
            <a:off x="2453335" y="5029200"/>
            <a:ext cx="1828800" cy="713232"/>
          </a:xfrm>
          <a:prstGeom prst="roundRect">
            <a:avLst>
              <a:gd name="adj" fmla="val 10256"/>
            </a:avLst>
          </a:prstGeom>
          <a:solidFill>
            <a:srgbClr val="DDF2EF"/>
          </a:solidFill>
          <a:ln w="12700">
            <a:solidFill>
              <a:srgbClr val="DDF2EF"/>
            </a:solidFill>
            <a:prstDash val="solid"/>
          </a:ln>
        </p:spPr>
      </p:sp>
      <p:sp>
        <p:nvSpPr>
          <p:cNvPr id="51" name="flow text Differential abundance"/>
          <p:cNvSpPr txBox="1"/>
          <p:nvPr/>
        </p:nvSpPr>
        <p:spPr>
          <a:xfrm>
            <a:off x="2526487" y="5029200"/>
            <a:ext cx="1682496" cy="713232"/>
          </a:xfrm>
          <a:prstGeom prst="rect">
            <a:avLst/>
          </a:prstGeom>
          <a:noFill/>
          <a:ln/>
        </p:spPr>
        <p:txBody>
          <a:bodyPr wrap="square" lIns="0" tIns="0" rIns="0" bIns="0" rtlCol="0" anchor="ctr"/>
          <a:lstStyle/>
          <a:p>
            <a:pPr indent="0" marL="0">
              <a:lnSpc>
                <a:spcPct val="100000"/>
              </a:lnSpc>
              <a:buNone/>
            </a:pPr>
            <a:r>
              <a:rPr lang="en-US" sz="1100" b="1" dirty="0">
                <a:solidFill>
                  <a:schemeClr val="tx1"/>
                </a:solidFill>
              </a:rPr>
              <a:t>Differential abundance</a:t>
            </a:r>
            <a:endParaRPr lang="en-US" sz="1100" dirty="0"/>
          </a:p>
          <a:p>
            <a:pPr indent="0" marL="0">
              <a:lnSpc>
                <a:spcPct val="100000"/>
              </a:lnSpc>
              <a:buNone/>
            </a:pPr>
            <a:r>
              <a:rPr lang="en-US" sz="1000" dirty="0">
                <a:solidFill>
                  <a:schemeClr val="tx1"/>
                </a:solidFill>
              </a:rPr>
              <a:t>Two-sided t test, P &lt; 0.05 uncorrected → 22 proteins (13 up, 9 down)</a:t>
            </a:r>
            <a:endParaRPr lang="en-US" sz="1100" dirty="0"/>
          </a:p>
        </p:txBody>
      </p:sp>
      <p:sp>
        <p:nvSpPr>
          <p:cNvPr id="52" name="arrow"/>
          <p:cNvSpPr/>
          <p:nvPr/>
        </p:nvSpPr>
        <p:spPr>
          <a:xfrm>
            <a:off x="4282135" y="5385816"/>
            <a:ext cx="167335" cy="0"/>
          </a:xfrm>
          <a:prstGeom prst="line">
            <a:avLst/>
          </a:prstGeom>
          <a:noFill/>
          <a:ln w="19050">
            <a:solidFill>
              <a:srgbClr val="6B7190"/>
            </a:solidFill>
            <a:prstDash val="solid"/>
            <a:tailEnd type="triangle"/>
          </a:ln>
        </p:spPr>
      </p:sp>
      <p:sp>
        <p:nvSpPr>
          <p:cNvPr id="53" name="flow WGCNA co-expression"/>
          <p:cNvSpPr/>
          <p:nvPr/>
        </p:nvSpPr>
        <p:spPr>
          <a:xfrm>
            <a:off x="4449470" y="5029200"/>
            <a:ext cx="1828800" cy="713232"/>
          </a:xfrm>
          <a:prstGeom prst="roundRect">
            <a:avLst>
              <a:gd name="adj" fmla="val 10256"/>
            </a:avLst>
          </a:prstGeom>
          <a:solidFill>
            <a:srgbClr val="DDF2EF"/>
          </a:solidFill>
          <a:ln w="12700">
            <a:solidFill>
              <a:srgbClr val="DDF2EF"/>
            </a:solidFill>
            <a:prstDash val="solid"/>
          </a:ln>
        </p:spPr>
      </p:sp>
      <p:sp>
        <p:nvSpPr>
          <p:cNvPr id="54" name="flow text WGCNA co-expression"/>
          <p:cNvSpPr txBox="1"/>
          <p:nvPr/>
        </p:nvSpPr>
        <p:spPr>
          <a:xfrm>
            <a:off x="4522622" y="5029200"/>
            <a:ext cx="1682496" cy="713232"/>
          </a:xfrm>
          <a:prstGeom prst="rect">
            <a:avLst/>
          </a:prstGeom>
          <a:noFill/>
          <a:ln/>
        </p:spPr>
        <p:txBody>
          <a:bodyPr wrap="square" lIns="0" tIns="0" rIns="0" bIns="0" rtlCol="0" anchor="ctr"/>
          <a:lstStyle/>
          <a:p>
            <a:pPr indent="0" marL="0">
              <a:lnSpc>
                <a:spcPct val="100000"/>
              </a:lnSpc>
              <a:buNone/>
            </a:pPr>
            <a:r>
              <a:rPr lang="en-US" sz="1100" b="1" dirty="0">
                <a:solidFill>
                  <a:schemeClr val="tx1"/>
                </a:solidFill>
              </a:rPr>
              <a:t>WGCNA co-expression</a:t>
            </a:r>
            <a:endParaRPr lang="en-US" sz="1100" dirty="0"/>
          </a:p>
          <a:p>
            <a:pPr indent="0" marL="0">
              <a:lnSpc>
                <a:spcPct val="100000"/>
              </a:lnSpc>
              <a:buNone/>
            </a:pPr>
            <a:r>
              <a:rPr lang="en-US" sz="1000" dirty="0">
                <a:solidFill>
                  <a:schemeClr val="tx1"/>
                </a:solidFill>
              </a:rPr>
              <a:t>blockwiseModules, soft threshold 12 (R² ≈ 0.9) → 14 modules, eigengenes PD vs HC</a:t>
            </a:r>
            <a:endParaRPr lang="en-US" sz="1100" dirty="0"/>
          </a:p>
        </p:txBody>
      </p:sp>
      <p:sp>
        <p:nvSpPr>
          <p:cNvPr id="55" name="arrow"/>
          <p:cNvSpPr/>
          <p:nvPr/>
        </p:nvSpPr>
        <p:spPr>
          <a:xfrm>
            <a:off x="6278270" y="5385816"/>
            <a:ext cx="167335" cy="0"/>
          </a:xfrm>
          <a:prstGeom prst="line">
            <a:avLst/>
          </a:prstGeom>
          <a:noFill/>
          <a:ln w="19050">
            <a:solidFill>
              <a:srgbClr val="6B7190"/>
            </a:solidFill>
            <a:prstDash val="solid"/>
            <a:tailEnd type="triangle"/>
          </a:ln>
        </p:spPr>
      </p:sp>
      <p:sp>
        <p:nvSpPr>
          <p:cNvPr id="56" name="flow Module → cell type"/>
          <p:cNvSpPr/>
          <p:nvPr/>
        </p:nvSpPr>
        <p:spPr>
          <a:xfrm>
            <a:off x="6445606" y="5029200"/>
            <a:ext cx="1828800" cy="713232"/>
          </a:xfrm>
          <a:prstGeom prst="roundRect">
            <a:avLst>
              <a:gd name="adj" fmla="val 10256"/>
            </a:avLst>
          </a:prstGeom>
          <a:solidFill>
            <a:srgbClr val="DDF2EF"/>
          </a:solidFill>
          <a:ln w="12700">
            <a:solidFill>
              <a:srgbClr val="DDF2EF"/>
            </a:solidFill>
            <a:prstDash val="solid"/>
          </a:ln>
        </p:spPr>
      </p:sp>
      <p:sp>
        <p:nvSpPr>
          <p:cNvPr id="57" name="flow text Module → cell type"/>
          <p:cNvSpPr txBox="1"/>
          <p:nvPr/>
        </p:nvSpPr>
        <p:spPr>
          <a:xfrm>
            <a:off x="6518758" y="5029200"/>
            <a:ext cx="1682496" cy="713232"/>
          </a:xfrm>
          <a:prstGeom prst="rect">
            <a:avLst/>
          </a:prstGeom>
          <a:noFill/>
          <a:ln/>
        </p:spPr>
        <p:txBody>
          <a:bodyPr wrap="square" lIns="0" tIns="0" rIns="0" bIns="0" rtlCol="0" anchor="ctr"/>
          <a:lstStyle/>
          <a:p>
            <a:pPr indent="0" marL="0">
              <a:lnSpc>
                <a:spcPct val="100000"/>
              </a:lnSpc>
              <a:buNone/>
            </a:pPr>
            <a:r>
              <a:rPr lang="en-US" sz="1100" b="1" dirty="0">
                <a:solidFill>
                  <a:schemeClr val="tx1"/>
                </a:solidFill>
              </a:rPr>
              <a:t>Module → cell type</a:t>
            </a:r>
            <a:endParaRPr lang="en-US" sz="1100" dirty="0"/>
          </a:p>
          <a:p>
            <a:pPr indent="0" marL="0">
              <a:lnSpc>
                <a:spcPct val="100000"/>
              </a:lnSpc>
              <a:buNone/>
            </a:pPr>
            <a:r>
              <a:rPr lang="en-US" sz="1000" dirty="0">
                <a:solidFill>
                  <a:schemeClr val="tx1"/>
                </a:solidFill>
              </a:rPr>
              <a:t>One-tailed Fisher exact test vs snRNA-seq marker lists, Bonferroni; GO label per module</a:t>
            </a:r>
            <a:endParaRPr lang="en-US" sz="1100" dirty="0"/>
          </a:p>
        </p:txBody>
      </p:sp>
      <p:sp>
        <p:nvSpPr>
          <p:cNvPr id="58" name="chip Pathology"/>
          <p:cNvSpPr/>
          <p:nvPr/>
        </p:nvSpPr>
        <p:spPr>
          <a:xfrm>
            <a:off x="457200" y="5943600"/>
            <a:ext cx="1188720" cy="292608"/>
          </a:xfrm>
          <a:prstGeom prst="roundRect">
            <a:avLst>
              <a:gd name="adj" fmla="val 50000"/>
            </a:avLst>
          </a:prstGeom>
          <a:solidFill>
            <a:srgbClr val="F2A541"/>
          </a:solidFill>
          <a:ln w="12700">
            <a:solidFill>
              <a:srgbClr val="F2A541"/>
            </a:solidFill>
            <a:prstDash val="solid"/>
          </a:ln>
        </p:spPr>
      </p:sp>
      <p:sp>
        <p:nvSpPr>
          <p:cNvPr id="59" name="chip text Pathology"/>
          <p:cNvSpPr txBox="1"/>
          <p:nvPr/>
        </p:nvSpPr>
        <p:spPr>
          <a:xfrm>
            <a:off x="457200" y="5943600"/>
            <a:ext cx="1188720" cy="292608"/>
          </a:xfrm>
          <a:prstGeom prst="rect">
            <a:avLst/>
          </a:prstGeom>
          <a:noFill/>
          <a:ln/>
        </p:spPr>
        <p:txBody>
          <a:bodyPr wrap="square" lIns="0" tIns="0" rIns="0" bIns="0" rtlCol="0" anchor="ctr"/>
          <a:lstStyle/>
          <a:p>
            <a:pPr algn="ctr" indent="0" marL="0">
              <a:buNone/>
            </a:pPr>
            <a:r>
              <a:rPr lang="en-US" sz="1100" b="1" dirty="0">
                <a:solidFill>
                  <a:schemeClr val="bg1"/>
                </a:solidFill>
              </a:rPr>
              <a:t>Pathology</a:t>
            </a:r>
            <a:endParaRPr lang="en-US" sz="1100" dirty="0"/>
          </a:p>
        </p:txBody>
      </p:sp>
      <p:sp>
        <p:nvSpPr>
          <p:cNvPr id="60" name="flow pS129 α-synuclein IHC"/>
          <p:cNvSpPr/>
          <p:nvPr/>
        </p:nvSpPr>
        <p:spPr>
          <a:xfrm>
            <a:off x="1737360" y="5806440"/>
            <a:ext cx="2067763" cy="566928"/>
          </a:xfrm>
          <a:prstGeom prst="roundRect">
            <a:avLst>
              <a:gd name="adj" fmla="val 12903"/>
            </a:avLst>
          </a:prstGeom>
          <a:solidFill>
            <a:srgbClr val="FDEDD3"/>
          </a:solidFill>
          <a:ln w="12700">
            <a:solidFill>
              <a:srgbClr val="FDEDD3"/>
            </a:solidFill>
            <a:prstDash val="solid"/>
          </a:ln>
        </p:spPr>
      </p:sp>
      <p:sp>
        <p:nvSpPr>
          <p:cNvPr id="61" name="flow text pS129 α-synuclein IHC"/>
          <p:cNvSpPr txBox="1"/>
          <p:nvPr/>
        </p:nvSpPr>
        <p:spPr>
          <a:xfrm>
            <a:off x="1810512" y="5806440"/>
            <a:ext cx="1921459" cy="566928"/>
          </a:xfrm>
          <a:prstGeom prst="rect">
            <a:avLst/>
          </a:prstGeom>
          <a:noFill/>
          <a:ln/>
        </p:spPr>
        <p:txBody>
          <a:bodyPr wrap="square" lIns="0" tIns="0" rIns="0" bIns="0" rtlCol="0" anchor="ctr"/>
          <a:lstStyle/>
          <a:p>
            <a:pPr indent="0" marL="0">
              <a:lnSpc>
                <a:spcPct val="100000"/>
              </a:lnSpc>
              <a:buNone/>
            </a:pPr>
            <a:r>
              <a:rPr lang="en-US" sz="1100" b="1" dirty="0">
                <a:solidFill>
                  <a:schemeClr val="tx1"/>
                </a:solidFill>
              </a:rPr>
              <a:t>pS129 α-synuclein IHC</a:t>
            </a:r>
            <a:endParaRPr lang="en-US" sz="1100" dirty="0"/>
          </a:p>
          <a:p>
            <a:pPr indent="0" marL="0">
              <a:lnSpc>
                <a:spcPct val="100000"/>
              </a:lnSpc>
              <a:buNone/>
            </a:pPr>
            <a:r>
              <a:rPr lang="en-US" sz="1000" dirty="0">
                <a:solidFill>
                  <a:schemeClr val="tx1"/>
                </a:solidFill>
              </a:rPr>
              <a:t>Lewy bodies + neurites counted → pathology score per brain</a:t>
            </a:r>
            <a:endParaRPr lang="en-US" sz="1100" dirty="0"/>
          </a:p>
        </p:txBody>
      </p:sp>
      <p:sp>
        <p:nvSpPr>
          <p:cNvPr id="62" name="arrow"/>
          <p:cNvSpPr/>
          <p:nvPr/>
        </p:nvSpPr>
        <p:spPr>
          <a:xfrm>
            <a:off x="3805123" y="6089904"/>
            <a:ext cx="167335" cy="0"/>
          </a:xfrm>
          <a:prstGeom prst="line">
            <a:avLst/>
          </a:prstGeom>
          <a:noFill/>
          <a:ln w="19050">
            <a:solidFill>
              <a:srgbClr val="6B7190"/>
            </a:solidFill>
            <a:prstDash val="solid"/>
            <a:tailEnd type="triangle"/>
          </a:ln>
        </p:spPr>
      </p:sp>
      <p:sp>
        <p:nvSpPr>
          <p:cNvPr id="63" name="flow PD vs HC"/>
          <p:cNvSpPr/>
          <p:nvPr/>
        </p:nvSpPr>
        <p:spPr>
          <a:xfrm>
            <a:off x="3972458" y="5806440"/>
            <a:ext cx="2067763" cy="566928"/>
          </a:xfrm>
          <a:prstGeom prst="roundRect">
            <a:avLst>
              <a:gd name="adj" fmla="val 12903"/>
            </a:avLst>
          </a:prstGeom>
          <a:solidFill>
            <a:srgbClr val="FDEDD3"/>
          </a:solidFill>
          <a:ln w="12700">
            <a:solidFill>
              <a:srgbClr val="FDEDD3"/>
            </a:solidFill>
            <a:prstDash val="solid"/>
          </a:ln>
        </p:spPr>
      </p:sp>
      <p:sp>
        <p:nvSpPr>
          <p:cNvPr id="64" name="flow text PD vs HC"/>
          <p:cNvSpPr txBox="1"/>
          <p:nvPr/>
        </p:nvSpPr>
        <p:spPr>
          <a:xfrm>
            <a:off x="4045610" y="5806440"/>
            <a:ext cx="1921459" cy="566928"/>
          </a:xfrm>
          <a:prstGeom prst="rect">
            <a:avLst/>
          </a:prstGeom>
          <a:noFill/>
          <a:ln/>
        </p:spPr>
        <p:txBody>
          <a:bodyPr wrap="square" lIns="0" tIns="0" rIns="0" bIns="0" rtlCol="0" anchor="ctr"/>
          <a:lstStyle/>
          <a:p>
            <a:pPr indent="0" marL="0">
              <a:lnSpc>
                <a:spcPct val="100000"/>
              </a:lnSpc>
              <a:buNone/>
            </a:pPr>
            <a:r>
              <a:rPr lang="en-US" sz="1100" b="1" dirty="0">
                <a:solidFill>
                  <a:schemeClr val="tx1"/>
                </a:solidFill>
              </a:rPr>
              <a:t>PD vs HC</a:t>
            </a:r>
            <a:endParaRPr lang="en-US" sz="1100" dirty="0"/>
          </a:p>
          <a:p>
            <a:pPr indent="0" marL="0">
              <a:lnSpc>
                <a:spcPct val="100000"/>
              </a:lnSpc>
              <a:buNone/>
            </a:pPr>
            <a:r>
              <a:rPr lang="en-US" sz="1000" dirty="0">
                <a:solidFill>
                  <a:schemeClr val="tx1"/>
                </a:solidFill>
              </a:rPr>
              <a:t>Unpaired t test (P = 0.03); score not linked to RNA quality</a:t>
            </a:r>
            <a:endParaRPr lang="en-US" sz="1100" dirty="0"/>
          </a:p>
        </p:txBody>
      </p:sp>
      <p:sp>
        <p:nvSpPr>
          <p:cNvPr id="65" name="arrow"/>
          <p:cNvSpPr/>
          <p:nvPr/>
        </p:nvSpPr>
        <p:spPr>
          <a:xfrm>
            <a:off x="6040222" y="6089904"/>
            <a:ext cx="167335" cy="0"/>
          </a:xfrm>
          <a:prstGeom prst="line">
            <a:avLst/>
          </a:prstGeom>
          <a:noFill/>
          <a:ln w="19050">
            <a:solidFill>
              <a:srgbClr val="6B7190"/>
            </a:solidFill>
            <a:prstDash val="solid"/>
            <a:tailEnd type="triangle"/>
          </a:ln>
        </p:spPr>
      </p:sp>
      <p:sp>
        <p:nvSpPr>
          <p:cNvPr id="66" name="flow Correlate with expression"/>
          <p:cNvSpPr/>
          <p:nvPr/>
        </p:nvSpPr>
        <p:spPr>
          <a:xfrm>
            <a:off x="6207557" y="5806440"/>
            <a:ext cx="2067763" cy="566928"/>
          </a:xfrm>
          <a:prstGeom prst="roundRect">
            <a:avLst>
              <a:gd name="adj" fmla="val 12903"/>
            </a:avLst>
          </a:prstGeom>
          <a:solidFill>
            <a:srgbClr val="FDEDD3"/>
          </a:solidFill>
          <a:ln w="12700">
            <a:solidFill>
              <a:srgbClr val="FDEDD3"/>
            </a:solidFill>
            <a:prstDash val="solid"/>
          </a:ln>
        </p:spPr>
      </p:sp>
      <p:sp>
        <p:nvSpPr>
          <p:cNvPr id="67" name="flow text Correlate with expression"/>
          <p:cNvSpPr txBox="1"/>
          <p:nvPr/>
        </p:nvSpPr>
        <p:spPr>
          <a:xfrm>
            <a:off x="6280709" y="5806440"/>
            <a:ext cx="1921459" cy="566928"/>
          </a:xfrm>
          <a:prstGeom prst="rect">
            <a:avLst/>
          </a:prstGeom>
          <a:noFill/>
          <a:ln/>
        </p:spPr>
        <p:txBody>
          <a:bodyPr wrap="square" lIns="0" tIns="0" rIns="0" bIns="0" rtlCol="0" anchor="ctr"/>
          <a:lstStyle/>
          <a:p>
            <a:pPr indent="0" marL="0">
              <a:lnSpc>
                <a:spcPct val="100000"/>
              </a:lnSpc>
              <a:buNone/>
            </a:pPr>
            <a:r>
              <a:rPr lang="en-US" sz="1100" b="1" dirty="0">
                <a:solidFill>
                  <a:schemeClr val="tx1"/>
                </a:solidFill>
              </a:rPr>
              <a:t>Correlate with expression</a:t>
            </a:r>
            <a:endParaRPr lang="en-US" sz="1100" dirty="0"/>
          </a:p>
          <a:p>
            <a:pPr indent="0" marL="0">
              <a:lnSpc>
                <a:spcPct val="100000"/>
              </a:lnSpc>
              <a:buNone/>
            </a:pPr>
            <a:r>
              <a:rPr lang="en-US" sz="1000" dirty="0">
                <a:solidFill>
                  <a:schemeClr val="tx1"/>
                </a:solidFill>
              </a:rPr>
              <a:t>Pathology score vs chaperone genes in excitatory neurons (R² per gene)</a:t>
            </a:r>
            <a:endParaRPr lang="en-US" sz="1100" dirty="0"/>
          </a:p>
        </p:txBody>
      </p:sp>
      <p:sp>
        <p:nvSpPr>
          <p:cNvPr id="68" name="stats card"/>
          <p:cNvSpPr/>
          <p:nvPr/>
        </p:nvSpPr>
        <p:spPr>
          <a:xfrm>
            <a:off x="8503920" y="1097280"/>
            <a:ext cx="3227832" cy="5276088"/>
          </a:xfrm>
          <a:prstGeom prst="roundRect">
            <a:avLst>
              <a:gd name="adj" fmla="val 2833"/>
            </a:avLst>
          </a:prstGeom>
          <a:solidFill>
            <a:srgbClr val="EEF0F8"/>
          </a:solidFill>
          <a:ln w="12700">
            <a:solidFill>
              <a:srgbClr val="EEF0F8"/>
            </a:solidFill>
            <a:prstDash val="solid"/>
          </a:ln>
        </p:spPr>
      </p:sp>
      <p:sp>
        <p:nvSpPr>
          <p:cNvPr id="69" name="icon circle question"/>
          <p:cNvSpPr/>
          <p:nvPr/>
        </p:nvSpPr>
        <p:spPr>
          <a:xfrm>
            <a:off x="8641080" y="1207008"/>
            <a:ext cx="384048" cy="384048"/>
          </a:xfrm>
          <a:prstGeom prst="ellipse">
            <a:avLst/>
          </a:prstGeom>
          <a:solidFill>
            <a:srgbClr val="2B2D5B"/>
          </a:solidFill>
          <a:ln w="12700">
            <a:solidFill>
              <a:srgbClr val="2B2D5B"/>
            </a:solidFill>
            <a:prstDash val="solid"/>
          </a:ln>
        </p:spPr>
      </p:sp>
      <p:pic>
        <p:nvPicPr>
          <p:cNvPr id="70" name="icon question" descr="/tmp/claude-0/-home-user-owner/e66306d4-2675-5ec2-99fe-5e24f3a64605/scratchpad/build/img/ic_question.png">    </p:cNvPr>
          <p:cNvPicPr>
            <a:picLocks noChangeAspect="1"/>
          </p:cNvPicPr>
          <p:nvPr/>
        </p:nvPicPr>
        <p:blipFill>
          <a:blip r:embed="rId1"/>
          <a:stretch>
            <a:fillRect/>
          </a:stretch>
        </p:blipFill>
        <p:spPr>
          <a:xfrm>
            <a:off x="8740932" y="1306860"/>
            <a:ext cx="184343" cy="184343"/>
          </a:xfrm>
          <a:prstGeom prst="rect">
            <a:avLst/>
          </a:prstGeom>
        </p:spPr>
      </p:pic>
      <p:sp>
        <p:nvSpPr>
          <p:cNvPr id="71" name="why heading"/>
          <p:cNvSpPr txBox="1"/>
          <p:nvPr/>
        </p:nvSpPr>
        <p:spPr>
          <a:xfrm>
            <a:off x="9125712" y="1207008"/>
            <a:ext cx="2560320" cy="384048"/>
          </a:xfrm>
          <a:prstGeom prst="rect">
            <a:avLst/>
          </a:prstGeom>
          <a:noFill/>
          <a:ln/>
        </p:spPr>
        <p:txBody>
          <a:bodyPr wrap="square" lIns="0" tIns="0" rIns="0" bIns="0" rtlCol="0" anchor="ctr"/>
          <a:lstStyle/>
          <a:p>
            <a:pPr indent="0" marL="0">
              <a:buNone/>
            </a:pPr>
            <a:r>
              <a:rPr lang="en-US" sz="1500" b="1" dirty="0">
                <a:solidFill>
                  <a:schemeClr val="tx2"/>
                </a:solidFill>
              </a:rPr>
              <a:t>Why these methods?</a:t>
            </a:r>
            <a:endParaRPr lang="en-US" sz="1500" dirty="0"/>
          </a:p>
        </p:txBody>
      </p:sp>
      <p:sp>
        <p:nvSpPr>
          <p:cNvPr id="72" name="why bullets"/>
          <p:cNvSpPr txBox="1"/>
          <p:nvPr/>
        </p:nvSpPr>
        <p:spPr>
          <a:xfrm>
            <a:off x="8641080" y="1691640"/>
            <a:ext cx="2971800" cy="4617720"/>
          </a:xfrm>
          <a:prstGeom prst="rect">
            <a:avLst/>
          </a:prstGeom>
          <a:noFill/>
          <a:ln/>
        </p:spPr>
        <p:txBody>
          <a:bodyPr wrap="square" lIns="0" tIns="0" rIns="0" bIns="0" rtlCol="0" anchor="t"/>
          <a:lstStyle/>
          <a:p>
            <a:pPr marL="177800" indent="-177800">
              <a:lnSpc>
                <a:spcPct val="105000"/>
              </a:lnSpc>
              <a:spcAft>
                <a:spcPts val="400"/>
              </a:spcAft>
              <a:buSzPct val="100000"/>
              <a:buChar char="•"/>
            </a:pPr>
            <a:r>
              <a:rPr lang="en-US" sz="1050" b="1" dirty="0">
                <a:solidFill>
                  <a:schemeClr val="tx1"/>
                </a:solidFill>
              </a:rPr>
              <a:t>Pre-mRNA reference: </a:t>
            </a:r>
            <a:pPr indent="0" marL="0">
              <a:lnSpc>
                <a:spcPct val="105000"/>
              </a:lnSpc>
              <a:spcAft>
                <a:spcPts val="400"/>
              </a:spcAft>
              <a:buNone/>
            </a:pPr>
            <a:r>
              <a:rPr lang="en-US" sz="1050" dirty="0">
                <a:solidFill>
                  <a:schemeClr val="tx1"/>
                </a:solidFill>
              </a:rPr>
              <a:t>nuclear RNA is largely unspliced; a standard reference would discard most reads.</a:t>
            </a:r>
            <a:endParaRPr lang="en-US" sz="1050" dirty="0"/>
          </a:p>
          <a:p>
            <a:pPr marL="177800" indent="-177800">
              <a:lnSpc>
                <a:spcPct val="105000"/>
              </a:lnSpc>
              <a:spcAft>
                <a:spcPts val="400"/>
              </a:spcAft>
              <a:buSzPct val="100000"/>
              <a:buChar char="•"/>
            </a:pPr>
            <a:r>
              <a:rPr lang="en-US" sz="1050" b="1" dirty="0">
                <a:solidFill>
                  <a:schemeClr val="tx1"/>
                </a:solidFill>
              </a:rPr>
              <a:t>Anchor integration: </a:t>
            </a:r>
            <a:pPr indent="0" marL="0">
              <a:lnSpc>
                <a:spcPct val="105000"/>
              </a:lnSpc>
              <a:spcAft>
                <a:spcPts val="400"/>
              </a:spcAft>
              <a:buNone/>
            </a:pPr>
            <a:r>
              <a:rPr lang="en-US" sz="1050" dirty="0">
                <a:solidFill>
                  <a:schemeClr val="tx1"/>
                </a:solidFill>
              </a:rPr>
              <a:t>removes donor and batch effects while aligning shared cell types, so clusters reflect cell identity (&gt;56% of variance) rather than patient (5.8%).</a:t>
            </a:r>
            <a:endParaRPr lang="en-US" sz="1050" dirty="0"/>
          </a:p>
          <a:p>
            <a:pPr marL="177800" indent="-177800">
              <a:lnSpc>
                <a:spcPct val="105000"/>
              </a:lnSpc>
              <a:spcAft>
                <a:spcPts val="400"/>
              </a:spcAft>
              <a:buSzPct val="100000"/>
              <a:buChar char="•"/>
            </a:pPr>
            <a:r>
              <a:rPr lang="en-US" sz="1050" b="1" dirty="0">
                <a:solidFill>
                  <a:schemeClr val="tx1"/>
                </a:solidFill>
              </a:rPr>
              <a:t>Wilcoxon rank-sum: </a:t>
            </a:r>
            <a:pPr indent="0" marL="0">
              <a:lnSpc>
                <a:spcPct val="105000"/>
              </a:lnSpc>
              <a:spcAft>
                <a:spcPts val="400"/>
              </a:spcAft>
              <a:buNone/>
            </a:pPr>
            <a:r>
              <a:rPr lang="en-US" sz="1050" dirty="0">
                <a:solidFill>
                  <a:schemeClr val="tx1"/>
                </a:solidFill>
              </a:rPr>
              <a:t>non-parametric, no normality assumption for sparse, zero-inflated counts; Seurat default and the same procedure as the AD atlas they compare to.</a:t>
            </a:r>
            <a:endParaRPr lang="en-US" sz="1050" dirty="0"/>
          </a:p>
          <a:p>
            <a:pPr marL="177800" indent="-177800">
              <a:lnSpc>
                <a:spcPct val="105000"/>
              </a:lnSpc>
              <a:spcAft>
                <a:spcPts val="400"/>
              </a:spcAft>
              <a:buSzPct val="100000"/>
              <a:buChar char="•"/>
            </a:pPr>
            <a:r>
              <a:rPr lang="en-US" sz="1050" b="1" dirty="0">
                <a:solidFill>
                  <a:schemeClr val="tx1"/>
                </a:solidFill>
              </a:rPr>
              <a:t>FDR (Benjamini-Hochberg): </a:t>
            </a:r>
            <a:pPr indent="0" marL="0">
              <a:lnSpc>
                <a:spcPct val="105000"/>
              </a:lnSpc>
              <a:spcAft>
                <a:spcPts val="400"/>
              </a:spcAft>
              <a:buNone/>
            </a:pPr>
            <a:r>
              <a:rPr lang="en-US" sz="1050" dirty="0">
                <a:solidFill>
                  <a:schemeClr val="tx1"/>
                </a:solidFill>
              </a:rPr>
              <a:t>thousands of genes tested per cell type; controls the expected false-discovery share.</a:t>
            </a:r>
            <a:endParaRPr lang="en-US" sz="1050" dirty="0"/>
          </a:p>
          <a:p>
            <a:pPr marL="177800" indent="-177800">
              <a:lnSpc>
                <a:spcPct val="105000"/>
              </a:lnSpc>
              <a:spcAft>
                <a:spcPts val="400"/>
              </a:spcAft>
              <a:buSzPct val="100000"/>
              <a:buChar char="•"/>
            </a:pPr>
            <a:r>
              <a:rPr lang="en-US" sz="1050" b="1" dirty="0">
                <a:solidFill>
                  <a:schemeClr val="tx1"/>
                </a:solidFill>
              </a:rPr>
              <a:t>t test for proteins: </a:t>
            </a:r>
            <a:pPr indent="0" marL="0">
              <a:lnSpc>
                <a:spcPct val="105000"/>
              </a:lnSpc>
              <a:spcAft>
                <a:spcPts val="400"/>
              </a:spcAft>
              <a:buNone/>
            </a:pPr>
            <a:r>
              <a:rPr lang="en-US" sz="1050" dirty="0">
                <a:solidFill>
                  <a:schemeClr val="tx1"/>
                </a:solidFill>
              </a:rPr>
              <a:t>log intensities are continuous and roughly normal; with n = 6 vs 6 no protein survives correction, so nominal P is used (a stated limitation).</a:t>
            </a:r>
            <a:endParaRPr lang="en-US" sz="1050" dirty="0"/>
          </a:p>
          <a:p>
            <a:pPr marL="177800" indent="-177800">
              <a:lnSpc>
                <a:spcPct val="105000"/>
              </a:lnSpc>
              <a:spcAft>
                <a:spcPts val="400"/>
              </a:spcAft>
              <a:buSzPct val="100000"/>
              <a:buChar char="•"/>
            </a:pPr>
            <a:r>
              <a:rPr lang="en-US" sz="1050" b="1" dirty="0">
                <a:solidFill>
                  <a:schemeClr val="tx1"/>
                </a:solidFill>
              </a:rPr>
              <a:t>WGCNA: </a:t>
            </a:r>
            <a:pPr indent="0" marL="0">
              <a:lnSpc>
                <a:spcPct val="105000"/>
              </a:lnSpc>
              <a:spcAft>
                <a:spcPts val="400"/>
              </a:spcAft>
              <a:buNone/>
            </a:pPr>
            <a:r>
              <a:rPr lang="en-US" sz="1050" dirty="0">
                <a:solidFill>
                  <a:schemeClr val="tx1"/>
                </a:solidFill>
              </a:rPr>
              <a:t>proteins act in ensembles; unsupervised modules plus Fisher enrichment tie protein changes back to cell types without needing single-cell proteomics.</a:t>
            </a:r>
            <a:endParaRPr lang="en-US" sz="1050" dirty="0"/>
          </a:p>
          <a:p>
            <a:pPr marL="177800" indent="-177800">
              <a:lnSpc>
                <a:spcPct val="105000"/>
              </a:lnSpc>
              <a:spcAft>
                <a:spcPts val="400"/>
              </a:spcAft>
              <a:buSzPct val="100000"/>
              <a:buChar char="•"/>
            </a:pPr>
            <a:r>
              <a:rPr lang="en-US" sz="1050" b="1" dirty="0">
                <a:solidFill>
                  <a:schemeClr val="tx1"/>
                </a:solidFill>
              </a:rPr>
              <a:t>Permutation test (CellPhoneDB): </a:t>
            </a:r>
            <a:pPr indent="0" marL="0">
              <a:lnSpc>
                <a:spcPct val="105000"/>
              </a:lnSpc>
              <a:spcAft>
                <a:spcPts val="400"/>
              </a:spcAft>
              <a:buNone/>
            </a:pPr>
            <a:r>
              <a:rPr lang="en-US" sz="1050" dirty="0">
                <a:solidFill>
                  <a:schemeClr val="tx1"/>
                </a:solidFill>
              </a:rPr>
              <a:t>shuffles cell labels to build an empirical null for each ligand-receptor pair.</a:t>
            </a:r>
            <a:endParaRPr lang="en-US" sz="1050" dirty="0"/>
          </a:p>
        </p:txBody>
      </p:sp>
      <p:sp>
        <p:nvSpPr>
          <p:cNvPr id="25" name="Slide Number Placeholder 0"/>
          <p:cNvSpPr>
            <a:spLocks noGrp="1"/>
          </p:cNvSpPr>
          <p:nvPr>
            <p:ph type="sldNum" sz="quarter" idx="4294967295"/>
          </p:nvPr>
        </p:nvSpPr>
        <p:spPr>
          <a:xfrm>
            <a:off x="1124712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74552" cy="731520"/>
          </a:xfrm>
          <a:prstGeom prst="rect">
            <a:avLst/>
          </a:prstGeom>
          <a:noFill/>
          <a:ln/>
        </p:spPr>
        <p:txBody>
          <a:bodyPr wrap="square" lIns="0" tIns="0" rIns="0" bIns="0" rtlCol="0" anchor="ctr"/>
          <a:lstStyle/>
          <a:p>
            <a:pPr algn="l" indent="0" marL="0">
              <a:buNone/>
            </a:pPr>
            <a:r>
              <a:rPr lang="en-US" sz="2600" b="1" dirty="0">
                <a:solidFill>
                  <a:schemeClr val="tx2"/>
                </a:solidFill>
              </a:rPr>
              <a:t>Result 1: T cells and microglia expand while neurons go quiet</a:t>
            </a:r>
            <a:endParaRPr lang="en-US" sz="2600" dirty="0"/>
          </a:p>
        </p:txBody>
      </p:sp>
      <p:sp>
        <p:nvSpPr>
          <p:cNvPr id="3" name="frame f1a_umap"/>
          <p:cNvSpPr/>
          <p:nvPr/>
        </p:nvSpPr>
        <p:spPr>
          <a:xfrm>
            <a:off x="402336" y="1133856"/>
            <a:ext cx="4680440" cy="3310128"/>
          </a:xfrm>
          <a:prstGeom prst="roundRect">
            <a:avLst>
              <a:gd name="adj" fmla="val 2210"/>
            </a:avLst>
          </a:prstGeom>
          <a:solidFill>
            <a:schemeClr val="bg1"/>
          </a:solidFill>
          <a:ln w="9525">
            <a:solidFill>
              <a:srgbClr val="C9CDE0"/>
            </a:solidFill>
            <a:prstDash val="solid"/>
          </a:ln>
          <a:effectLst>
            <a:outerShdw sx="100000" sy="100000" kx="0" ky="0" algn="bl" rotWithShape="0" blurRad="76200" dist="19050" dir="5400000">
              <a:srgbClr val="2B2D5B">
                <a:alpha val="18000"/>
              </a:srgbClr>
            </a:outerShdw>
          </a:effectLst>
        </p:spPr>
      </p:sp>
      <p:pic>
        <p:nvPicPr>
          <p:cNvPr id="4" name="f1a_umap" descr="/tmp/claude-0/-home-user-owner/e66306d4-2675-5ec2-99fe-5e24f3a64605/scratchpad/figs/f1a_umap.png">    </p:cNvPr>
          <p:cNvPicPr>
            <a:picLocks noChangeAspect="1"/>
          </p:cNvPicPr>
          <p:nvPr/>
        </p:nvPicPr>
        <p:blipFill>
          <a:blip r:embed="rId1"/>
          <a:stretch>
            <a:fillRect/>
          </a:stretch>
        </p:blipFill>
        <p:spPr>
          <a:xfrm>
            <a:off x="457200" y="1188720"/>
            <a:ext cx="4570712" cy="3200400"/>
          </a:xfrm>
          <a:prstGeom prst="rect">
            <a:avLst/>
          </a:prstGeom>
        </p:spPr>
      </p:pic>
      <p:sp>
        <p:nvSpPr>
          <p:cNvPr id="5" name="caption f1a_umap"/>
          <p:cNvSpPr txBox="1"/>
          <p:nvPr/>
        </p:nvSpPr>
        <p:spPr>
          <a:xfrm>
            <a:off x="402336" y="4462272"/>
            <a:ext cx="4680440" cy="256032"/>
          </a:xfrm>
          <a:prstGeom prst="rect">
            <a:avLst/>
          </a:prstGeom>
          <a:noFill/>
          <a:ln/>
        </p:spPr>
        <p:txBody>
          <a:bodyPr wrap="square" lIns="0" tIns="0" rIns="0" bIns="0" rtlCol="0" anchor="ctr"/>
          <a:lstStyle/>
          <a:p>
            <a:pPr indent="0" marL="0">
              <a:buNone/>
            </a:pPr>
            <a:r>
              <a:rPr lang="en-US" sz="1000" i="1" dirty="0">
                <a:solidFill>
                  <a:schemeClr val="accent5"/>
                </a:solidFill>
              </a:rPr>
              <a:t>Fig. 1A  UMAP of 77,384 nuclei, 12 donors</a:t>
            </a:r>
            <a:endParaRPr lang="en-US" sz="1000" dirty="0"/>
          </a:p>
        </p:txBody>
      </p:sp>
      <p:sp>
        <p:nvSpPr>
          <p:cNvPr id="6" name="frame f1e_prop"/>
          <p:cNvSpPr/>
          <p:nvPr/>
        </p:nvSpPr>
        <p:spPr>
          <a:xfrm>
            <a:off x="5202936" y="1133856"/>
            <a:ext cx="1984248" cy="2635844"/>
          </a:xfrm>
          <a:prstGeom prst="roundRect">
            <a:avLst>
              <a:gd name="adj" fmla="val 3687"/>
            </a:avLst>
          </a:prstGeom>
          <a:solidFill>
            <a:schemeClr val="bg1"/>
          </a:solidFill>
          <a:ln w="9525">
            <a:solidFill>
              <a:srgbClr val="C9CDE0"/>
            </a:solidFill>
            <a:prstDash val="solid"/>
          </a:ln>
          <a:effectLst>
            <a:outerShdw sx="100000" sy="100000" kx="0" ky="0" algn="bl" rotWithShape="0" blurRad="76200" dist="19050" dir="5400000">
              <a:srgbClr val="2B2D5B">
                <a:alpha val="18000"/>
              </a:srgbClr>
            </a:outerShdw>
          </a:effectLst>
        </p:spPr>
      </p:sp>
      <p:pic>
        <p:nvPicPr>
          <p:cNvPr id="7" name="f1e_prop" descr="/tmp/claude-0/-home-user-owner/e66306d4-2675-5ec2-99fe-5e24f3a64605/scratchpad/figs/f1e_prop.png">    </p:cNvPr>
          <p:cNvPicPr>
            <a:picLocks noChangeAspect="1"/>
          </p:cNvPicPr>
          <p:nvPr/>
        </p:nvPicPr>
        <p:blipFill>
          <a:blip r:embed="rId2"/>
          <a:stretch>
            <a:fillRect/>
          </a:stretch>
        </p:blipFill>
        <p:spPr>
          <a:xfrm>
            <a:off x="5257800" y="1188720"/>
            <a:ext cx="1874520" cy="2526116"/>
          </a:xfrm>
          <a:prstGeom prst="rect">
            <a:avLst/>
          </a:prstGeom>
        </p:spPr>
      </p:pic>
      <p:sp>
        <p:nvSpPr>
          <p:cNvPr id="8" name="caption f1e_prop"/>
          <p:cNvSpPr txBox="1"/>
          <p:nvPr/>
        </p:nvSpPr>
        <p:spPr>
          <a:xfrm>
            <a:off x="5202936" y="3787988"/>
            <a:ext cx="1984248" cy="256032"/>
          </a:xfrm>
          <a:prstGeom prst="rect">
            <a:avLst/>
          </a:prstGeom>
          <a:noFill/>
          <a:ln/>
        </p:spPr>
        <p:txBody>
          <a:bodyPr wrap="square" lIns="0" tIns="0" rIns="0" bIns="0" rtlCol="0" anchor="ctr"/>
          <a:lstStyle/>
          <a:p>
            <a:pPr indent="0" marL="0">
              <a:buNone/>
            </a:pPr>
            <a:r>
              <a:rPr lang="en-US" sz="1000" i="1" dirty="0">
                <a:solidFill>
                  <a:schemeClr val="accent5"/>
                </a:solidFill>
              </a:rPr>
              <a:t>Fig. 1E  Cell-type proportions</a:t>
            </a:r>
            <a:endParaRPr lang="en-US" sz="1000" dirty="0"/>
          </a:p>
        </p:txBody>
      </p:sp>
      <p:sp>
        <p:nvSpPr>
          <p:cNvPr id="9" name="frame f1f_deg"/>
          <p:cNvSpPr/>
          <p:nvPr/>
        </p:nvSpPr>
        <p:spPr>
          <a:xfrm>
            <a:off x="7306056" y="1133856"/>
            <a:ext cx="1435608" cy="2501512"/>
          </a:xfrm>
          <a:prstGeom prst="roundRect">
            <a:avLst>
              <a:gd name="adj" fmla="val 5096"/>
            </a:avLst>
          </a:prstGeom>
          <a:solidFill>
            <a:schemeClr val="bg1"/>
          </a:solidFill>
          <a:ln w="9525">
            <a:solidFill>
              <a:srgbClr val="C9CDE0"/>
            </a:solidFill>
            <a:prstDash val="solid"/>
          </a:ln>
          <a:effectLst>
            <a:outerShdw sx="100000" sy="100000" kx="0" ky="0" algn="bl" rotWithShape="0" blurRad="76200" dist="19050" dir="5400000">
              <a:srgbClr val="2B2D5B">
                <a:alpha val="18000"/>
              </a:srgbClr>
            </a:outerShdw>
          </a:effectLst>
        </p:spPr>
      </p:sp>
      <p:pic>
        <p:nvPicPr>
          <p:cNvPr id="10" name="f1f_deg" descr="/tmp/claude-0/-home-user-owner/e66306d4-2675-5ec2-99fe-5e24f3a64605/scratchpad/figs/f1f_deg.png">    </p:cNvPr>
          <p:cNvPicPr>
            <a:picLocks noChangeAspect="1"/>
          </p:cNvPicPr>
          <p:nvPr/>
        </p:nvPicPr>
        <p:blipFill>
          <a:blip r:embed="rId3"/>
          <a:stretch>
            <a:fillRect/>
          </a:stretch>
        </p:blipFill>
        <p:spPr>
          <a:xfrm>
            <a:off x="7360920" y="1188720"/>
            <a:ext cx="1325880" cy="2391784"/>
          </a:xfrm>
          <a:prstGeom prst="rect">
            <a:avLst/>
          </a:prstGeom>
        </p:spPr>
      </p:pic>
      <p:sp>
        <p:nvSpPr>
          <p:cNvPr id="11" name="caption f1f_deg"/>
          <p:cNvSpPr txBox="1"/>
          <p:nvPr/>
        </p:nvSpPr>
        <p:spPr>
          <a:xfrm>
            <a:off x="7306056" y="3653656"/>
            <a:ext cx="1463040" cy="256032"/>
          </a:xfrm>
          <a:prstGeom prst="rect">
            <a:avLst/>
          </a:prstGeom>
          <a:noFill/>
          <a:ln/>
        </p:spPr>
        <p:txBody>
          <a:bodyPr wrap="square" lIns="0" tIns="0" rIns="0" bIns="0" rtlCol="0" anchor="ctr"/>
          <a:lstStyle/>
          <a:p>
            <a:pPr indent="0" marL="0">
              <a:buNone/>
            </a:pPr>
            <a:r>
              <a:rPr lang="en-US" sz="1000" i="1" dirty="0">
                <a:solidFill>
                  <a:schemeClr val="accent5"/>
                </a:solidFill>
              </a:rPr>
              <a:t>Fig. 1F  DEGs per type</a:t>
            </a:r>
            <a:endParaRPr lang="en-US" sz="1000" dirty="0"/>
          </a:p>
        </p:txBody>
      </p:sp>
      <p:sp>
        <p:nvSpPr>
          <p:cNvPr id="12" name="stat nuclei profiled (6 PD, 6 HC)"/>
          <p:cNvSpPr txBox="1"/>
          <p:nvPr/>
        </p:nvSpPr>
        <p:spPr>
          <a:xfrm>
            <a:off x="502920" y="5029200"/>
            <a:ext cx="1920240" cy="566928"/>
          </a:xfrm>
          <a:prstGeom prst="rect">
            <a:avLst/>
          </a:prstGeom>
          <a:noFill/>
          <a:ln/>
        </p:spPr>
        <p:txBody>
          <a:bodyPr wrap="square" lIns="0" tIns="0" rIns="0" bIns="0" rtlCol="0" anchor="b"/>
          <a:lstStyle/>
          <a:p>
            <a:pPr indent="0" marL="0">
              <a:buNone/>
            </a:pPr>
            <a:r>
              <a:rPr lang="en-US" sz="3000" b="1" dirty="0">
                <a:solidFill>
                  <a:schemeClr val="tx2"/>
                </a:solidFill>
              </a:rPr>
              <a:t>77,384</a:t>
            </a:r>
            <a:endParaRPr lang="en-US" sz="3000" dirty="0"/>
          </a:p>
        </p:txBody>
      </p:sp>
      <p:sp>
        <p:nvSpPr>
          <p:cNvPr id="13" name="stat label nuclei profiled (6 PD, 6 HC)"/>
          <p:cNvSpPr txBox="1"/>
          <p:nvPr/>
        </p:nvSpPr>
        <p:spPr>
          <a:xfrm>
            <a:off x="502920" y="5614416"/>
            <a:ext cx="1920240" cy="365760"/>
          </a:xfrm>
          <a:prstGeom prst="rect">
            <a:avLst/>
          </a:prstGeom>
          <a:noFill/>
          <a:ln/>
        </p:spPr>
        <p:txBody>
          <a:bodyPr wrap="square" lIns="0" tIns="0" rIns="0" bIns="0" rtlCol="0" anchor="t"/>
          <a:lstStyle/>
          <a:p>
            <a:pPr indent="0" marL="0">
              <a:buNone/>
            </a:pPr>
            <a:r>
              <a:rPr lang="en-US" sz="1100" dirty="0">
                <a:solidFill>
                  <a:schemeClr val="accent5"/>
                </a:solidFill>
              </a:rPr>
              <a:t>nuclei profiled (6 PD, 6 HC)</a:t>
            </a:r>
            <a:endParaRPr lang="en-US" sz="1100" dirty="0"/>
          </a:p>
        </p:txBody>
      </p:sp>
      <p:sp>
        <p:nvSpPr>
          <p:cNvPr id="14" name="stat major brain cell types"/>
          <p:cNvSpPr txBox="1"/>
          <p:nvPr/>
        </p:nvSpPr>
        <p:spPr>
          <a:xfrm>
            <a:off x="2514600" y="5029200"/>
            <a:ext cx="1920240" cy="566928"/>
          </a:xfrm>
          <a:prstGeom prst="rect">
            <a:avLst/>
          </a:prstGeom>
          <a:noFill/>
          <a:ln/>
        </p:spPr>
        <p:txBody>
          <a:bodyPr wrap="square" lIns="0" tIns="0" rIns="0" bIns="0" rtlCol="0" anchor="b"/>
          <a:lstStyle/>
          <a:p>
            <a:pPr indent="0" marL="0">
              <a:buNone/>
            </a:pPr>
            <a:r>
              <a:rPr lang="en-US" sz="3000" b="1" dirty="0">
                <a:solidFill>
                  <a:schemeClr val="accent1"/>
                </a:solidFill>
              </a:rPr>
              <a:t>8</a:t>
            </a:r>
            <a:endParaRPr lang="en-US" sz="3000" dirty="0"/>
          </a:p>
        </p:txBody>
      </p:sp>
      <p:sp>
        <p:nvSpPr>
          <p:cNvPr id="15" name="stat label major brain cell types"/>
          <p:cNvSpPr txBox="1"/>
          <p:nvPr/>
        </p:nvSpPr>
        <p:spPr>
          <a:xfrm>
            <a:off x="2514600" y="5614416"/>
            <a:ext cx="1920240" cy="365760"/>
          </a:xfrm>
          <a:prstGeom prst="rect">
            <a:avLst/>
          </a:prstGeom>
          <a:noFill/>
          <a:ln/>
        </p:spPr>
        <p:txBody>
          <a:bodyPr wrap="square" lIns="0" tIns="0" rIns="0" bIns="0" rtlCol="0" anchor="t"/>
          <a:lstStyle/>
          <a:p>
            <a:pPr indent="0" marL="0">
              <a:buNone/>
            </a:pPr>
            <a:r>
              <a:rPr lang="en-US" sz="1100" dirty="0">
                <a:solidFill>
                  <a:schemeClr val="accent5"/>
                </a:solidFill>
              </a:rPr>
              <a:t>major brain cell types</a:t>
            </a:r>
            <a:endParaRPr lang="en-US" sz="1100" dirty="0"/>
          </a:p>
        </p:txBody>
      </p:sp>
      <p:sp>
        <p:nvSpPr>
          <p:cNvPr id="16" name="stat brain-resident T cells in PD (33 → 243 nuclei, P = 0.02)"/>
          <p:cNvSpPr txBox="1"/>
          <p:nvPr/>
        </p:nvSpPr>
        <p:spPr>
          <a:xfrm>
            <a:off x="4526280" y="5029200"/>
            <a:ext cx="1920240" cy="566928"/>
          </a:xfrm>
          <a:prstGeom prst="rect">
            <a:avLst/>
          </a:prstGeom>
          <a:noFill/>
          <a:ln/>
        </p:spPr>
        <p:txBody>
          <a:bodyPr wrap="square" lIns="0" tIns="0" rIns="0" bIns="0" rtlCol="0" anchor="b"/>
          <a:lstStyle/>
          <a:p>
            <a:pPr indent="0" marL="0">
              <a:buNone/>
            </a:pPr>
            <a:r>
              <a:rPr lang="en-US" sz="3000" b="1" dirty="0">
                <a:solidFill>
                  <a:schemeClr val="accent2"/>
                </a:solidFill>
              </a:rPr>
              <a:t>7×</a:t>
            </a:r>
            <a:endParaRPr lang="en-US" sz="3000" dirty="0"/>
          </a:p>
        </p:txBody>
      </p:sp>
      <p:sp>
        <p:nvSpPr>
          <p:cNvPr id="17" name="stat label brain-resident T cells in PD (33 → 243 nuclei, P = 0.02)"/>
          <p:cNvSpPr txBox="1"/>
          <p:nvPr/>
        </p:nvSpPr>
        <p:spPr>
          <a:xfrm>
            <a:off x="4526280" y="5614416"/>
            <a:ext cx="1920240" cy="365760"/>
          </a:xfrm>
          <a:prstGeom prst="rect">
            <a:avLst/>
          </a:prstGeom>
          <a:noFill/>
          <a:ln/>
        </p:spPr>
        <p:txBody>
          <a:bodyPr wrap="square" lIns="0" tIns="0" rIns="0" bIns="0" rtlCol="0" anchor="t"/>
          <a:lstStyle/>
          <a:p>
            <a:pPr indent="0" marL="0">
              <a:buNone/>
            </a:pPr>
            <a:r>
              <a:rPr lang="en-US" sz="1100" dirty="0">
                <a:solidFill>
                  <a:schemeClr val="accent5"/>
                </a:solidFill>
              </a:rPr>
              <a:t>brain-resident T cells in PD (33 → 243 nuclei, P = 0.02)</a:t>
            </a:r>
            <a:endParaRPr lang="en-US" sz="1100" dirty="0"/>
          </a:p>
        </p:txBody>
      </p:sp>
      <p:sp>
        <p:nvSpPr>
          <p:cNvPr id="18" name="stat unique DEGs, mostly in astrocytes and microglia"/>
          <p:cNvSpPr txBox="1"/>
          <p:nvPr/>
        </p:nvSpPr>
        <p:spPr>
          <a:xfrm>
            <a:off x="6537960" y="5029200"/>
            <a:ext cx="2011680" cy="566928"/>
          </a:xfrm>
          <a:prstGeom prst="rect">
            <a:avLst/>
          </a:prstGeom>
          <a:noFill/>
          <a:ln/>
        </p:spPr>
        <p:txBody>
          <a:bodyPr wrap="square" lIns="0" tIns="0" rIns="0" bIns="0" rtlCol="0" anchor="b"/>
          <a:lstStyle/>
          <a:p>
            <a:pPr indent="0" marL="0">
              <a:buNone/>
            </a:pPr>
            <a:r>
              <a:rPr lang="en-US" sz="3000" b="1" dirty="0">
                <a:solidFill>
                  <a:schemeClr val="accent3"/>
                </a:solidFill>
              </a:rPr>
              <a:t>806</a:t>
            </a:r>
            <a:endParaRPr lang="en-US" sz="3000" dirty="0"/>
          </a:p>
        </p:txBody>
      </p:sp>
      <p:sp>
        <p:nvSpPr>
          <p:cNvPr id="19" name="stat label unique DEGs, mostly in astrocytes and microglia"/>
          <p:cNvSpPr txBox="1"/>
          <p:nvPr/>
        </p:nvSpPr>
        <p:spPr>
          <a:xfrm>
            <a:off x="6537960" y="5614416"/>
            <a:ext cx="2011680" cy="365760"/>
          </a:xfrm>
          <a:prstGeom prst="rect">
            <a:avLst/>
          </a:prstGeom>
          <a:noFill/>
          <a:ln/>
        </p:spPr>
        <p:txBody>
          <a:bodyPr wrap="square" lIns="0" tIns="0" rIns="0" bIns="0" rtlCol="0" anchor="t"/>
          <a:lstStyle/>
          <a:p>
            <a:pPr indent="0" marL="0">
              <a:buNone/>
            </a:pPr>
            <a:r>
              <a:rPr lang="en-US" sz="1100" dirty="0">
                <a:solidFill>
                  <a:schemeClr val="accent5"/>
                </a:solidFill>
              </a:rPr>
              <a:t>unique DEGs, mostly in astrocytes and microglia</a:t>
            </a:r>
            <a:endParaRPr lang="en-US" sz="1100" dirty="0"/>
          </a:p>
        </p:txBody>
      </p:sp>
      <p:sp>
        <p:nvSpPr>
          <p:cNvPr id="20" name="r1 card"/>
          <p:cNvSpPr/>
          <p:nvPr/>
        </p:nvSpPr>
        <p:spPr>
          <a:xfrm>
            <a:off x="8915400" y="1188720"/>
            <a:ext cx="2816352" cy="5074920"/>
          </a:xfrm>
          <a:prstGeom prst="roundRect">
            <a:avLst>
              <a:gd name="adj" fmla="val 3247"/>
            </a:avLst>
          </a:prstGeom>
          <a:solidFill>
            <a:srgbClr val="EEF0F8"/>
          </a:solidFill>
          <a:ln w="12700">
            <a:solidFill>
              <a:srgbClr val="EEF0F8"/>
            </a:solidFill>
            <a:prstDash val="solid"/>
          </a:ln>
        </p:spPr>
      </p:sp>
      <p:sp>
        <p:nvSpPr>
          <p:cNvPr id="21" name="heading What changed in PD"/>
          <p:cNvSpPr txBox="1"/>
          <p:nvPr/>
        </p:nvSpPr>
        <p:spPr>
          <a:xfrm>
            <a:off x="9098280" y="1280160"/>
            <a:ext cx="2468880" cy="365760"/>
          </a:xfrm>
          <a:prstGeom prst="rect">
            <a:avLst/>
          </a:prstGeom>
          <a:noFill/>
          <a:ln/>
        </p:spPr>
        <p:txBody>
          <a:bodyPr wrap="square" lIns="0" tIns="0" rIns="0" bIns="0" rtlCol="0" anchor="ctr"/>
          <a:lstStyle/>
          <a:p>
            <a:pPr indent="0" marL="0">
              <a:buNone/>
            </a:pPr>
            <a:r>
              <a:rPr lang="en-US" sz="1600" b="1" dirty="0">
                <a:solidFill>
                  <a:schemeClr val="tx2"/>
                </a:solidFill>
              </a:rPr>
              <a:t>What changed in PD</a:t>
            </a:r>
            <a:endParaRPr lang="en-US" sz="1600" dirty="0"/>
          </a:p>
        </p:txBody>
      </p:sp>
      <p:sp>
        <p:nvSpPr>
          <p:cNvPr id="22" name="r1 bullets"/>
          <p:cNvSpPr txBox="1"/>
          <p:nvPr/>
        </p:nvSpPr>
        <p:spPr>
          <a:xfrm>
            <a:off x="9098280" y="1691640"/>
            <a:ext cx="2487168" cy="4480560"/>
          </a:xfrm>
          <a:prstGeom prst="rect">
            <a:avLst/>
          </a:prstGeom>
          <a:noFill/>
          <a:ln/>
        </p:spPr>
        <p:txBody>
          <a:bodyPr wrap="square" lIns="0" tIns="0" rIns="0" bIns="0" rtlCol="0" anchor="t"/>
          <a:lstStyle/>
          <a:p>
            <a:pPr marL="177800" indent="-177800">
              <a:lnSpc>
                <a:spcPct val="105000"/>
              </a:lnSpc>
              <a:spcAft>
                <a:spcPts val="700"/>
              </a:spcAft>
              <a:buSzPct val="100000"/>
              <a:buChar char="•"/>
            </a:pPr>
            <a:r>
              <a:rPr lang="en-US" sz="1250" b="1" dirty="0">
                <a:solidFill>
                  <a:schemeClr val="tx1"/>
                </a:solidFill>
              </a:rPr>
              <a:t>Proportions: </a:t>
            </a:r>
            <a:pPr indent="0" marL="0">
              <a:lnSpc>
                <a:spcPct val="105000"/>
              </a:lnSpc>
              <a:spcAft>
                <a:spcPts val="700"/>
              </a:spcAft>
              <a:buNone/>
            </a:pPr>
            <a:r>
              <a:rPr lang="en-US" sz="1250" dirty="0">
                <a:solidFill>
                  <a:schemeClr val="tx1"/>
                </a:solidFill>
              </a:rPr>
              <a:t>five types stable; T cells up (P = 0.02), microglia up (1699 → 3684, P = 0.09), oligodendrocytes down.</a:t>
            </a:r>
            <a:endParaRPr lang="en-US" sz="1250" dirty="0"/>
          </a:p>
          <a:p>
            <a:pPr marL="177800" indent="-177800">
              <a:lnSpc>
                <a:spcPct val="105000"/>
              </a:lnSpc>
              <a:spcAft>
                <a:spcPts val="700"/>
              </a:spcAft>
              <a:buSzPct val="100000"/>
              <a:buChar char="•"/>
            </a:pPr>
            <a:r>
              <a:rPr lang="en-US" sz="1250" b="1" dirty="0">
                <a:solidFill>
                  <a:schemeClr val="tx1"/>
                </a:solidFill>
              </a:rPr>
              <a:t>Neurons go quiet: </a:t>
            </a:r>
            <a:pPr indent="0" marL="0">
              <a:lnSpc>
                <a:spcPct val="105000"/>
              </a:lnSpc>
              <a:spcAft>
                <a:spcPts val="700"/>
              </a:spcAft>
              <a:buNone/>
            </a:pPr>
            <a:r>
              <a:rPr lang="en-US" sz="1250" dirty="0">
                <a:solidFill>
                  <a:schemeClr val="tx1"/>
                </a:solidFill>
              </a:rPr>
              <a:t>79% of ExN and 67% of InN DEGs are down, led by protein folding and unfolded-protein response (HSPB1, HSP90AB1, DNAJB6, HSPA1A).</a:t>
            </a:r>
            <a:endParaRPr lang="en-US" sz="1250" dirty="0"/>
          </a:p>
          <a:p>
            <a:pPr marL="177800" indent="-177800">
              <a:lnSpc>
                <a:spcPct val="105000"/>
              </a:lnSpc>
              <a:spcAft>
                <a:spcPts val="700"/>
              </a:spcAft>
              <a:buSzPct val="100000"/>
              <a:buChar char="•"/>
            </a:pPr>
            <a:r>
              <a:rPr lang="en-US" sz="1250" b="1" dirty="0">
                <a:solidFill>
                  <a:schemeClr val="tx1"/>
                </a:solidFill>
              </a:rPr>
              <a:t>Glia switch on: </a:t>
            </a:r>
            <a:pPr indent="0" marL="0">
              <a:lnSpc>
                <a:spcPct val="105000"/>
              </a:lnSpc>
              <a:spcAft>
                <a:spcPts val="700"/>
              </a:spcAft>
              <a:buNone/>
            </a:pPr>
            <a:r>
              <a:rPr lang="en-US" sz="1250" dirty="0">
                <a:solidFill>
                  <a:schemeClr val="tx1"/>
                </a:solidFill>
              </a:rPr>
              <a:t>astrocytes: metal-ion detox (MT1G, MT1F); microglia: myeloid activation and hemopoiesis (FOS, STAT3, RUNX1, IL4R); oligodendrocytes: protein-complex assembly (HSPA1A/B).</a:t>
            </a:r>
            <a:endParaRPr lang="en-US" sz="1250" dirty="0"/>
          </a:p>
          <a:p>
            <a:pPr marL="177800" indent="-177800">
              <a:lnSpc>
                <a:spcPct val="105000"/>
              </a:lnSpc>
              <a:spcAft>
                <a:spcPts val="700"/>
              </a:spcAft>
              <a:buSzPct val="100000"/>
              <a:buChar char="•"/>
            </a:pPr>
            <a:r>
              <a:rPr lang="en-US" sz="1250" b="1" dirty="0">
                <a:solidFill>
                  <a:schemeClr val="tx1"/>
                </a:solidFill>
              </a:rPr>
              <a:t>T cells: </a:t>
            </a:r>
            <a:pPr indent="0" marL="0">
              <a:lnSpc>
                <a:spcPct val="105000"/>
              </a:lnSpc>
              <a:spcAft>
                <a:spcPts val="700"/>
              </a:spcAft>
              <a:buNone/>
            </a:pPr>
            <a:r>
              <a:rPr lang="en-US" sz="1250" dirty="0">
                <a:solidFill>
                  <a:schemeClr val="tx1"/>
                </a:solidFill>
              </a:rPr>
              <a:t>IL7R, IL15, CD28, ZAP70 pathways point to an active adaptive response.</a:t>
            </a:r>
            <a:endParaRPr lang="en-US" sz="1250" dirty="0"/>
          </a:p>
          <a:p>
            <a:pPr marL="177800" indent="-177800">
              <a:lnSpc>
                <a:spcPct val="105000"/>
              </a:lnSpc>
              <a:spcAft>
                <a:spcPts val="700"/>
              </a:spcAft>
              <a:buSzPct val="100000"/>
              <a:buChar char="•"/>
            </a:pPr>
            <a:r>
              <a:rPr lang="en-US" sz="1250" b="1" dirty="0">
                <a:solidFill>
                  <a:schemeClr val="tx1"/>
                </a:solidFill>
              </a:rPr>
              <a:t>Variance partition: </a:t>
            </a:r>
            <a:pPr indent="0" marL="0">
              <a:lnSpc>
                <a:spcPct val="105000"/>
              </a:lnSpc>
              <a:spcAft>
                <a:spcPts val="700"/>
              </a:spcAft>
              <a:buNone/>
            </a:pPr>
            <a:r>
              <a:rPr lang="en-US" sz="1250" dirty="0">
                <a:solidFill>
                  <a:schemeClr val="tx1"/>
                </a:solidFill>
              </a:rPr>
              <a:t>cell type explains &gt;56% of expression variance, donor 5.8%, PMI, age, sex &lt;0.5%.</a:t>
            </a:r>
            <a:endParaRPr lang="en-US" sz="1250" dirty="0"/>
          </a:p>
        </p:txBody>
      </p:sp>
      <p:sp>
        <p:nvSpPr>
          <p:cNvPr id="25" name="Slide Number Placeholder 0"/>
          <p:cNvSpPr>
            <a:spLocks noGrp="1"/>
          </p:cNvSpPr>
          <p:nvPr>
            <p:ph type="sldNum" sz="quarter" idx="4294967295"/>
          </p:nvPr>
        </p:nvSpPr>
        <p:spPr>
          <a:xfrm>
            <a:off x="1124712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74552" cy="731520"/>
          </a:xfrm>
          <a:prstGeom prst="rect">
            <a:avLst/>
          </a:prstGeom>
          <a:noFill/>
          <a:ln/>
        </p:spPr>
        <p:txBody>
          <a:bodyPr wrap="square" lIns="0" tIns="0" rIns="0" bIns="0" rtlCol="0" anchor="ctr"/>
          <a:lstStyle/>
          <a:p>
            <a:pPr algn="l" indent="0" marL="0">
              <a:buNone/>
            </a:pPr>
            <a:r>
              <a:rPr lang="en-US" sz="2600" b="1" dirty="0">
                <a:solidFill>
                  <a:schemeClr val="tx2"/>
                </a:solidFill>
              </a:rPr>
              <a:t>Result 2: chaperone loss tracks Lewy burden, glial crosstalk fades</a:t>
            </a:r>
            <a:endParaRPr lang="en-US" sz="2600" dirty="0"/>
          </a:p>
        </p:txBody>
      </p:sp>
      <p:sp>
        <p:nvSpPr>
          <p:cNvPr id="3" name="chip Pathology correlation"/>
          <p:cNvSpPr/>
          <p:nvPr/>
        </p:nvSpPr>
        <p:spPr>
          <a:xfrm>
            <a:off x="457200" y="1188720"/>
            <a:ext cx="2011680" cy="292608"/>
          </a:xfrm>
          <a:prstGeom prst="roundRect">
            <a:avLst>
              <a:gd name="adj" fmla="val 50000"/>
            </a:avLst>
          </a:prstGeom>
          <a:solidFill>
            <a:srgbClr val="F2A541"/>
          </a:solidFill>
          <a:ln w="12700">
            <a:solidFill>
              <a:srgbClr val="F2A541"/>
            </a:solidFill>
            <a:prstDash val="solid"/>
          </a:ln>
        </p:spPr>
      </p:sp>
      <p:sp>
        <p:nvSpPr>
          <p:cNvPr id="4" name="chip text Pathology correlation"/>
          <p:cNvSpPr txBox="1"/>
          <p:nvPr/>
        </p:nvSpPr>
        <p:spPr>
          <a:xfrm>
            <a:off x="457200" y="1188720"/>
            <a:ext cx="2011680" cy="292608"/>
          </a:xfrm>
          <a:prstGeom prst="rect">
            <a:avLst/>
          </a:prstGeom>
          <a:noFill/>
          <a:ln/>
        </p:spPr>
        <p:txBody>
          <a:bodyPr wrap="square" lIns="0" tIns="0" rIns="0" bIns="0" rtlCol="0" anchor="ctr"/>
          <a:lstStyle/>
          <a:p>
            <a:pPr algn="ctr" indent="0" marL="0">
              <a:buNone/>
            </a:pPr>
            <a:r>
              <a:rPr lang="en-US" sz="1100" b="1" dirty="0">
                <a:solidFill>
                  <a:schemeClr val="bg1"/>
                </a:solidFill>
              </a:rPr>
              <a:t>Pathology correlation</a:t>
            </a:r>
            <a:endParaRPr lang="en-US" sz="1100" dirty="0"/>
          </a:p>
        </p:txBody>
      </p:sp>
      <p:sp>
        <p:nvSpPr>
          <p:cNvPr id="5" name="frame f2b_score"/>
          <p:cNvSpPr/>
          <p:nvPr/>
        </p:nvSpPr>
        <p:spPr>
          <a:xfrm>
            <a:off x="402336" y="1545336"/>
            <a:ext cx="992597" cy="1938528"/>
          </a:xfrm>
          <a:prstGeom prst="roundRect">
            <a:avLst>
              <a:gd name="adj" fmla="val 7370"/>
            </a:avLst>
          </a:prstGeom>
          <a:solidFill>
            <a:schemeClr val="bg1"/>
          </a:solidFill>
          <a:ln w="9525">
            <a:solidFill>
              <a:srgbClr val="C9CDE0"/>
            </a:solidFill>
            <a:prstDash val="solid"/>
          </a:ln>
          <a:effectLst>
            <a:outerShdw sx="100000" sy="100000" kx="0" ky="0" algn="bl" rotWithShape="0" blurRad="76200" dist="19050" dir="5400000">
              <a:srgbClr val="2B2D5B">
                <a:alpha val="18000"/>
              </a:srgbClr>
            </a:outerShdw>
          </a:effectLst>
        </p:spPr>
      </p:sp>
      <p:pic>
        <p:nvPicPr>
          <p:cNvPr id="6" name="f2b_score" descr="/tmp/claude-0/-home-user-owner/e66306d4-2675-5ec2-99fe-5e24f3a64605/scratchpad/figs/f2b_score.png">    </p:cNvPr>
          <p:cNvPicPr>
            <a:picLocks noChangeAspect="1"/>
          </p:cNvPicPr>
          <p:nvPr/>
        </p:nvPicPr>
        <p:blipFill>
          <a:blip r:embed="rId1"/>
          <a:stretch>
            <a:fillRect/>
          </a:stretch>
        </p:blipFill>
        <p:spPr>
          <a:xfrm>
            <a:off x="457200" y="1600200"/>
            <a:ext cx="882869" cy="1828800"/>
          </a:xfrm>
          <a:prstGeom prst="rect">
            <a:avLst/>
          </a:prstGeom>
        </p:spPr>
      </p:pic>
      <p:sp>
        <p:nvSpPr>
          <p:cNvPr id="7" name="caption f2b_score"/>
          <p:cNvSpPr txBox="1"/>
          <p:nvPr/>
        </p:nvSpPr>
        <p:spPr>
          <a:xfrm>
            <a:off x="402336" y="3502152"/>
            <a:ext cx="1463040" cy="256032"/>
          </a:xfrm>
          <a:prstGeom prst="rect">
            <a:avLst/>
          </a:prstGeom>
          <a:noFill/>
          <a:ln/>
        </p:spPr>
        <p:txBody>
          <a:bodyPr wrap="square" lIns="0" tIns="0" rIns="0" bIns="0" rtlCol="0" anchor="ctr"/>
          <a:lstStyle/>
          <a:p>
            <a:pPr indent="0" marL="0">
              <a:buNone/>
            </a:pPr>
            <a:r>
              <a:rPr lang="en-US" sz="1000" i="1" dirty="0">
                <a:solidFill>
                  <a:schemeClr val="accent5"/>
                </a:solidFill>
              </a:rPr>
              <a:t>Fig. 2B  Lewy score</a:t>
            </a:r>
            <a:endParaRPr lang="en-US" sz="1000" dirty="0"/>
          </a:p>
        </p:txBody>
      </p:sp>
      <p:sp>
        <p:nvSpPr>
          <p:cNvPr id="8" name="frame f2e_corr"/>
          <p:cNvSpPr/>
          <p:nvPr/>
        </p:nvSpPr>
        <p:spPr>
          <a:xfrm>
            <a:off x="1408176" y="1545336"/>
            <a:ext cx="4681728" cy="1575671"/>
          </a:xfrm>
          <a:prstGeom prst="roundRect">
            <a:avLst>
              <a:gd name="adj" fmla="val 4643"/>
            </a:avLst>
          </a:prstGeom>
          <a:solidFill>
            <a:schemeClr val="bg1"/>
          </a:solidFill>
          <a:ln w="9525">
            <a:solidFill>
              <a:srgbClr val="C9CDE0"/>
            </a:solidFill>
            <a:prstDash val="solid"/>
          </a:ln>
          <a:effectLst>
            <a:outerShdw sx="100000" sy="100000" kx="0" ky="0" algn="bl" rotWithShape="0" blurRad="76200" dist="19050" dir="5400000">
              <a:srgbClr val="2B2D5B">
                <a:alpha val="18000"/>
              </a:srgbClr>
            </a:outerShdw>
          </a:effectLst>
        </p:spPr>
      </p:sp>
      <p:pic>
        <p:nvPicPr>
          <p:cNvPr id="9" name="f2e_corr" descr="/tmp/claude-0/-home-user-owner/e66306d4-2675-5ec2-99fe-5e24f3a64605/scratchpad/figs/f2e_corr.png">    </p:cNvPr>
          <p:cNvPicPr>
            <a:picLocks noChangeAspect="1"/>
          </p:cNvPicPr>
          <p:nvPr/>
        </p:nvPicPr>
        <p:blipFill>
          <a:blip r:embed="rId2"/>
          <a:stretch>
            <a:fillRect/>
          </a:stretch>
        </p:blipFill>
        <p:spPr>
          <a:xfrm>
            <a:off x="1463040" y="1600200"/>
            <a:ext cx="4572000" cy="1465943"/>
          </a:xfrm>
          <a:prstGeom prst="rect">
            <a:avLst/>
          </a:prstGeom>
        </p:spPr>
      </p:pic>
      <p:sp>
        <p:nvSpPr>
          <p:cNvPr id="10" name="caption f2e_corr"/>
          <p:cNvSpPr txBox="1"/>
          <p:nvPr/>
        </p:nvSpPr>
        <p:spPr>
          <a:xfrm>
            <a:off x="1408176" y="3139295"/>
            <a:ext cx="4681728" cy="256032"/>
          </a:xfrm>
          <a:prstGeom prst="rect">
            <a:avLst/>
          </a:prstGeom>
          <a:noFill/>
          <a:ln/>
        </p:spPr>
        <p:txBody>
          <a:bodyPr wrap="square" lIns="0" tIns="0" rIns="0" bIns="0" rtlCol="0" anchor="ctr"/>
          <a:lstStyle/>
          <a:p>
            <a:pPr indent="0" marL="0">
              <a:buNone/>
            </a:pPr>
            <a:r>
              <a:rPr lang="en-US" sz="1000" i="1" dirty="0">
                <a:solidFill>
                  <a:schemeClr val="accent5"/>
                </a:solidFill>
              </a:rPr>
              <a:t>Fig. 2E  Pathology score vs chaperone expression in excitatory neurons (teal = PD, red = HC)</a:t>
            </a:r>
            <a:endParaRPr lang="en-US" sz="1000" dirty="0"/>
          </a:p>
        </p:txBody>
      </p:sp>
      <p:sp>
        <p:nvSpPr>
          <p:cNvPr id="11" name="r2 left bullets"/>
          <p:cNvSpPr txBox="1"/>
          <p:nvPr/>
        </p:nvSpPr>
        <p:spPr>
          <a:xfrm>
            <a:off x="457200" y="3840480"/>
            <a:ext cx="5577840" cy="2514600"/>
          </a:xfrm>
          <a:prstGeom prst="rect">
            <a:avLst/>
          </a:prstGeom>
          <a:noFill/>
          <a:ln/>
        </p:spPr>
        <p:txBody>
          <a:bodyPr wrap="square" lIns="0" tIns="0" rIns="0" bIns="0" rtlCol="0" anchor="t"/>
          <a:lstStyle/>
          <a:p>
            <a:pPr marL="177800" indent="-177800">
              <a:lnSpc>
                <a:spcPct val="105000"/>
              </a:lnSpc>
              <a:spcAft>
                <a:spcPts val="600"/>
              </a:spcAft>
              <a:buSzPct val="100000"/>
              <a:buChar char="•"/>
            </a:pPr>
            <a:r>
              <a:rPr lang="en-US" sz="1250" b="1" dirty="0">
                <a:solidFill>
                  <a:schemeClr val="tx1"/>
                </a:solidFill>
              </a:rPr>
              <a:t>Lewy bodies and neurites </a:t>
            </a:r>
            <a:pPr indent="0" marL="0">
              <a:lnSpc>
                <a:spcPct val="105000"/>
              </a:lnSpc>
              <a:spcAft>
                <a:spcPts val="600"/>
              </a:spcAft>
              <a:buNone/>
            </a:pPr>
            <a:r>
              <a:rPr lang="en-US" sz="1250" dirty="0">
                <a:solidFill>
                  <a:schemeClr val="tx1"/>
                </a:solidFill>
              </a:rPr>
              <a:t>are present only in PD cortex (score 0.1-11.9, P = 0.03), with wide donor-to-donor spread.</a:t>
            </a:r>
            <a:endParaRPr lang="en-US" sz="1250" dirty="0"/>
          </a:p>
          <a:p>
            <a:pPr marL="177800" indent="-177800">
              <a:lnSpc>
                <a:spcPct val="105000"/>
              </a:lnSpc>
              <a:spcAft>
                <a:spcPts val="600"/>
              </a:spcAft>
              <a:buSzPct val="100000"/>
              <a:buChar char="•"/>
            </a:pPr>
            <a:r>
              <a:rPr lang="en-US" sz="1250" b="1" dirty="0">
                <a:solidFill>
                  <a:schemeClr val="tx1"/>
                </a:solidFill>
              </a:rPr>
              <a:t>Higher pathology, fewer chaperones </a:t>
            </a:r>
            <a:pPr indent="0" marL="0">
              <a:lnSpc>
                <a:spcPct val="105000"/>
              </a:lnSpc>
              <a:spcAft>
                <a:spcPts val="600"/>
              </a:spcAft>
              <a:buNone/>
            </a:pPr>
            <a:r>
              <a:rPr lang="en-US" sz="1250" dirty="0">
                <a:solidFill>
                  <a:schemeClr val="tx1"/>
                </a:solidFill>
              </a:rPr>
              <a:t>in excitatory neurons: HSP90AB1 R² = 0.74, HSPA1A 0.61, DNAJA4 0.58, HSPB1 0.47. HSPA4L (disaggregase) is the one exception.</a:t>
            </a:r>
            <a:endParaRPr lang="en-US" sz="1250" dirty="0"/>
          </a:p>
          <a:p>
            <a:pPr marL="177800" indent="-177800">
              <a:lnSpc>
                <a:spcPct val="105000"/>
              </a:lnSpc>
              <a:spcAft>
                <a:spcPts val="600"/>
              </a:spcAft>
              <a:buSzPct val="100000"/>
              <a:buChar char="•"/>
            </a:pPr>
            <a:r>
              <a:rPr lang="en-US" sz="1250" b="1" dirty="0">
                <a:solidFill>
                  <a:schemeClr val="tx1"/>
                </a:solidFill>
              </a:rPr>
              <a:t>Inhibitory neurons are spared, </a:t>
            </a:r>
            <a:pPr indent="0" marL="0">
              <a:lnSpc>
                <a:spcPct val="105000"/>
              </a:lnSpc>
              <a:spcAft>
                <a:spcPts val="600"/>
              </a:spcAft>
              <a:buNone/>
            </a:pPr>
            <a:r>
              <a:rPr lang="en-US" sz="1250" dirty="0">
                <a:solidFill>
                  <a:schemeClr val="tx1"/>
                </a:solidFill>
              </a:rPr>
              <a:t>consistent with Lewy bodies forming mainly in excitatory neurons.</a:t>
            </a:r>
            <a:endParaRPr lang="en-US" sz="1250" dirty="0"/>
          </a:p>
          <a:p>
            <a:pPr marL="177800" indent="-177800">
              <a:lnSpc>
                <a:spcPct val="105000"/>
              </a:lnSpc>
              <a:spcAft>
                <a:spcPts val="600"/>
              </a:spcAft>
              <a:buSzPct val="100000"/>
              <a:buChar char="•"/>
            </a:pPr>
            <a:r>
              <a:rPr lang="en-US" sz="1250" b="1" dirty="0">
                <a:solidFill>
                  <a:schemeClr val="tx1"/>
                </a:solidFill>
              </a:rPr>
              <a:t>PD genes: </a:t>
            </a:r>
            <a:pPr indent="0" marL="0">
              <a:lnSpc>
                <a:spcPct val="105000"/>
              </a:lnSpc>
              <a:spcAft>
                <a:spcPts val="600"/>
              </a:spcAft>
              <a:buNone/>
            </a:pPr>
            <a:r>
              <a:rPr lang="en-US" sz="1250" dirty="0">
                <a:solidFill>
                  <a:schemeClr val="tx1"/>
                </a:solidFill>
              </a:rPr>
              <a:t>SNCA and LRRK2 up (LRRK2 in microglia and OPCs); PRKN, PINK1, GBA, PARK7 down in excitatory neurons; LRRK2 and GIGYF2 expression scales with pathology.</a:t>
            </a:r>
            <a:endParaRPr lang="en-US" sz="1250" dirty="0"/>
          </a:p>
        </p:txBody>
      </p:sp>
      <p:sp>
        <p:nvSpPr>
          <p:cNvPr id="12" name="chip Cell-cell communication"/>
          <p:cNvSpPr/>
          <p:nvPr/>
        </p:nvSpPr>
        <p:spPr>
          <a:xfrm>
            <a:off x="6446520" y="1188720"/>
            <a:ext cx="2194560" cy="292608"/>
          </a:xfrm>
          <a:prstGeom prst="roundRect">
            <a:avLst>
              <a:gd name="adj" fmla="val 50000"/>
            </a:avLst>
          </a:prstGeom>
          <a:solidFill>
            <a:srgbClr val="17A398"/>
          </a:solidFill>
          <a:ln w="12700">
            <a:solidFill>
              <a:srgbClr val="17A398"/>
            </a:solidFill>
            <a:prstDash val="solid"/>
          </a:ln>
        </p:spPr>
      </p:sp>
      <p:sp>
        <p:nvSpPr>
          <p:cNvPr id="13" name="chip text Cell-cell communication"/>
          <p:cNvSpPr txBox="1"/>
          <p:nvPr/>
        </p:nvSpPr>
        <p:spPr>
          <a:xfrm>
            <a:off x="6446520" y="1188720"/>
            <a:ext cx="2194560" cy="292608"/>
          </a:xfrm>
          <a:prstGeom prst="rect">
            <a:avLst/>
          </a:prstGeom>
          <a:noFill/>
          <a:ln/>
        </p:spPr>
        <p:txBody>
          <a:bodyPr wrap="square" lIns="0" tIns="0" rIns="0" bIns="0" rtlCol="0" anchor="ctr"/>
          <a:lstStyle/>
          <a:p>
            <a:pPr algn="ctr" indent="0" marL="0">
              <a:buNone/>
            </a:pPr>
            <a:r>
              <a:rPr lang="en-US" sz="1100" b="1" dirty="0">
                <a:solidFill>
                  <a:schemeClr val="bg1"/>
                </a:solidFill>
              </a:rPr>
              <a:t>Cell-cell communication</a:t>
            </a:r>
            <a:endParaRPr lang="en-US" sz="1100" dirty="0"/>
          </a:p>
        </p:txBody>
      </p:sp>
      <p:sp>
        <p:nvSpPr>
          <p:cNvPr id="14" name="frame f4a_matrix"/>
          <p:cNvSpPr/>
          <p:nvPr/>
        </p:nvSpPr>
        <p:spPr>
          <a:xfrm>
            <a:off x="6391656" y="1545336"/>
            <a:ext cx="2800530" cy="2578608"/>
          </a:xfrm>
          <a:prstGeom prst="roundRect">
            <a:avLst>
              <a:gd name="adj" fmla="val 2837"/>
            </a:avLst>
          </a:prstGeom>
          <a:solidFill>
            <a:schemeClr val="bg1"/>
          </a:solidFill>
          <a:ln w="9525">
            <a:solidFill>
              <a:srgbClr val="C9CDE0"/>
            </a:solidFill>
            <a:prstDash val="solid"/>
          </a:ln>
          <a:effectLst>
            <a:outerShdw sx="100000" sy="100000" kx="0" ky="0" algn="bl" rotWithShape="0" blurRad="76200" dist="19050" dir="5400000">
              <a:srgbClr val="2B2D5B">
                <a:alpha val="18000"/>
              </a:srgbClr>
            </a:outerShdw>
          </a:effectLst>
        </p:spPr>
      </p:sp>
      <p:pic>
        <p:nvPicPr>
          <p:cNvPr id="15" name="f4a_matrix" descr="/tmp/claude-0/-home-user-owner/e66306d4-2675-5ec2-99fe-5e24f3a64605/scratchpad/figs/f4a_matrix.png">    </p:cNvPr>
          <p:cNvPicPr>
            <a:picLocks noChangeAspect="1"/>
          </p:cNvPicPr>
          <p:nvPr/>
        </p:nvPicPr>
        <p:blipFill>
          <a:blip r:embed="rId3"/>
          <a:stretch>
            <a:fillRect/>
          </a:stretch>
        </p:blipFill>
        <p:spPr>
          <a:xfrm>
            <a:off x="6446520" y="1600200"/>
            <a:ext cx="2690802" cy="2468880"/>
          </a:xfrm>
          <a:prstGeom prst="rect">
            <a:avLst/>
          </a:prstGeom>
        </p:spPr>
      </p:pic>
      <p:sp>
        <p:nvSpPr>
          <p:cNvPr id="16" name="caption f4a_matrix"/>
          <p:cNvSpPr txBox="1"/>
          <p:nvPr/>
        </p:nvSpPr>
        <p:spPr>
          <a:xfrm>
            <a:off x="6391656" y="4142232"/>
            <a:ext cx="2800530" cy="256032"/>
          </a:xfrm>
          <a:prstGeom prst="rect">
            <a:avLst/>
          </a:prstGeom>
          <a:noFill/>
          <a:ln/>
        </p:spPr>
        <p:txBody>
          <a:bodyPr wrap="square" lIns="0" tIns="0" rIns="0" bIns="0" rtlCol="0" anchor="ctr"/>
          <a:lstStyle/>
          <a:p>
            <a:pPr indent="0" marL="0">
              <a:buNone/>
            </a:pPr>
            <a:r>
              <a:rPr lang="en-US" sz="1000" i="1" dirty="0">
                <a:solidFill>
                  <a:schemeClr val="accent5"/>
                </a:solidFill>
              </a:rPr>
              <a:t>Fig. 4A  Interaction pairs, PD minus HC</a:t>
            </a:r>
            <a:endParaRPr lang="en-US" sz="1000" dirty="0"/>
          </a:p>
        </p:txBody>
      </p:sp>
      <p:sp>
        <p:nvSpPr>
          <p:cNvPr id="17" name="r2 right bullets"/>
          <p:cNvSpPr txBox="1"/>
          <p:nvPr/>
        </p:nvSpPr>
        <p:spPr>
          <a:xfrm>
            <a:off x="9372600" y="1600200"/>
            <a:ext cx="2359152" cy="4754880"/>
          </a:xfrm>
          <a:prstGeom prst="rect">
            <a:avLst/>
          </a:prstGeom>
          <a:noFill/>
          <a:ln/>
        </p:spPr>
        <p:txBody>
          <a:bodyPr wrap="square" lIns="0" tIns="0" rIns="0" bIns="0" rtlCol="0" anchor="t"/>
          <a:lstStyle/>
          <a:p>
            <a:pPr marL="177800" indent="-177800">
              <a:lnSpc>
                <a:spcPct val="105000"/>
              </a:lnSpc>
              <a:spcAft>
                <a:spcPts val="600"/>
              </a:spcAft>
              <a:buSzPct val="100000"/>
              <a:buChar char="•"/>
            </a:pPr>
            <a:r>
              <a:rPr lang="en-US" sz="1200" b="1" dirty="0">
                <a:solidFill>
                  <a:schemeClr val="tx1"/>
                </a:solidFill>
              </a:rPr>
              <a:t>Global loss of signalling: </a:t>
            </a:r>
            <a:pPr indent="0" marL="0">
              <a:lnSpc>
                <a:spcPct val="105000"/>
              </a:lnSpc>
              <a:spcAft>
                <a:spcPts val="600"/>
              </a:spcAft>
              <a:buNone/>
            </a:pPr>
            <a:r>
              <a:rPr lang="en-US" sz="1200" dirty="0">
                <a:solidFill>
                  <a:schemeClr val="tx1"/>
                </a:solidFill>
              </a:rPr>
              <a:t>nearly every cell-type pair has fewer ligand-receptor interactions in PD; the matrix is almost entirely blue.</a:t>
            </a:r>
            <a:endParaRPr lang="en-US" sz="1200" dirty="0"/>
          </a:p>
          <a:p>
            <a:pPr marL="177800" indent="-177800">
              <a:lnSpc>
                <a:spcPct val="105000"/>
              </a:lnSpc>
              <a:spcAft>
                <a:spcPts val="600"/>
              </a:spcAft>
              <a:buSzPct val="100000"/>
              <a:buChar char="•"/>
            </a:pPr>
            <a:r>
              <a:rPr lang="en-US" sz="1200" b="1" dirty="0">
                <a:solidFill>
                  <a:schemeClr val="tx1"/>
                </a:solidFill>
              </a:rPr>
              <a:t>ExN-astrocyte hit hardest: </a:t>
            </a:r>
            <a:pPr indent="0" marL="0">
              <a:lnSpc>
                <a:spcPct val="105000"/>
              </a:lnSpc>
              <a:spcAft>
                <a:spcPts val="600"/>
              </a:spcAft>
              <a:buNone/>
            </a:pPr>
            <a:r>
              <a:rPr lang="en-US" sz="1200" dirty="0">
                <a:solidFill>
                  <a:schemeClr val="tx1"/>
                </a:solidFill>
              </a:rPr>
              <a:t>~25% of pairs lost, including EGFR with TGF-α/betacellulin, SIRPA-CD47 (a "don’t eat me" signal), TYRO3-GAS6 and activin receptors.</a:t>
            </a:r>
            <a:endParaRPr lang="en-US" sz="1200" dirty="0"/>
          </a:p>
          <a:p>
            <a:pPr marL="177800" indent="-177800">
              <a:lnSpc>
                <a:spcPct val="105000"/>
              </a:lnSpc>
              <a:spcAft>
                <a:spcPts val="600"/>
              </a:spcAft>
              <a:buSzPct val="100000"/>
              <a:buChar char="•"/>
            </a:pPr>
            <a:r>
              <a:rPr lang="en-US" sz="1200" b="1" dirty="0">
                <a:solidFill>
                  <a:schemeClr val="tx1"/>
                </a:solidFill>
              </a:rPr>
              <a:t>T cells re-wire rather than disconnect: </a:t>
            </a:r>
            <a:pPr indent="0" marL="0">
              <a:lnSpc>
                <a:spcPct val="105000"/>
              </a:lnSpc>
              <a:spcAft>
                <a:spcPts val="600"/>
              </a:spcAft>
              <a:buNone/>
            </a:pPr>
            <a:r>
              <a:rPr lang="en-US" sz="1200" dirty="0">
                <a:solidFill>
                  <a:schemeClr val="tx1"/>
                </a:solidFill>
              </a:rPr>
              <a:t>CD74-APP/COPA and CX3CR1-CX3CL1 (immune restraint) are lost; NOTCH1/2-JAG1/2 and TNFRSF1A are gained.</a:t>
            </a:r>
            <a:endParaRPr lang="en-US" sz="1200" dirty="0"/>
          </a:p>
          <a:p>
            <a:pPr marL="177800" indent="-177800">
              <a:lnSpc>
                <a:spcPct val="105000"/>
              </a:lnSpc>
              <a:spcAft>
                <a:spcPts val="600"/>
              </a:spcAft>
              <a:buSzPct val="100000"/>
              <a:buChar char="•"/>
            </a:pPr>
            <a:r>
              <a:rPr lang="en-US" sz="1200" b="1" dirty="0">
                <a:solidFill>
                  <a:schemeClr val="tx1"/>
                </a:solidFill>
              </a:rPr>
              <a:t>Interpretation: </a:t>
            </a:r>
            <a:pPr indent="0" marL="0">
              <a:lnSpc>
                <a:spcPct val="105000"/>
              </a:lnSpc>
              <a:spcAft>
                <a:spcPts val="600"/>
              </a:spcAft>
              <a:buNone/>
            </a:pPr>
            <a:r>
              <a:rPr lang="en-US" sz="1200" dirty="0">
                <a:solidFill>
                  <a:schemeClr val="tx1"/>
                </a:solidFill>
              </a:rPr>
              <a:t>trophic neuron-glia support fades while inflammatory and Notch signalling to T cells emerges.</a:t>
            </a:r>
            <a:endParaRPr lang="en-US" sz="1200" dirty="0"/>
          </a:p>
        </p:txBody>
      </p:sp>
      <p:sp>
        <p:nvSpPr>
          <p:cNvPr id="25" name="Slide Number Placeholder 0"/>
          <p:cNvSpPr>
            <a:spLocks noGrp="1"/>
          </p:cNvSpPr>
          <p:nvPr>
            <p:ph type="sldNum" sz="quarter" idx="4294967295"/>
          </p:nvPr>
        </p:nvSpPr>
        <p:spPr>
          <a:xfrm>
            <a:off x="1124712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74552" cy="731520"/>
          </a:xfrm>
          <a:prstGeom prst="rect">
            <a:avLst/>
          </a:prstGeom>
          <a:noFill/>
          <a:ln/>
        </p:spPr>
        <p:txBody>
          <a:bodyPr wrap="square" lIns="0" tIns="0" rIns="0" bIns="0" rtlCol="0" anchor="ctr"/>
          <a:lstStyle/>
          <a:p>
            <a:pPr algn="l" indent="0" marL="0">
              <a:buNone/>
            </a:pPr>
            <a:r>
              <a:rPr lang="en-US" sz="2600" b="1" dirty="0">
                <a:solidFill>
                  <a:schemeClr val="tx2"/>
                </a:solidFill>
              </a:rPr>
              <a:t>Result 3: synaptic proteins rise; PD and AD overlap only in glia</a:t>
            </a:r>
            <a:endParaRPr lang="en-US" sz="2600" dirty="0"/>
          </a:p>
        </p:txBody>
      </p:sp>
      <p:sp>
        <p:nvSpPr>
          <p:cNvPr id="3" name="chip Proteomics + WGCNA"/>
          <p:cNvSpPr/>
          <p:nvPr/>
        </p:nvSpPr>
        <p:spPr>
          <a:xfrm>
            <a:off x="457200" y="1188720"/>
            <a:ext cx="2011680" cy="292608"/>
          </a:xfrm>
          <a:prstGeom prst="roundRect">
            <a:avLst>
              <a:gd name="adj" fmla="val 50000"/>
            </a:avLst>
          </a:prstGeom>
          <a:solidFill>
            <a:srgbClr val="17A398"/>
          </a:solidFill>
          <a:ln w="12700">
            <a:solidFill>
              <a:srgbClr val="17A398"/>
            </a:solidFill>
            <a:prstDash val="solid"/>
          </a:ln>
        </p:spPr>
      </p:sp>
      <p:sp>
        <p:nvSpPr>
          <p:cNvPr id="4" name="chip text Proteomics + WGCNA"/>
          <p:cNvSpPr txBox="1"/>
          <p:nvPr/>
        </p:nvSpPr>
        <p:spPr>
          <a:xfrm>
            <a:off x="457200" y="1188720"/>
            <a:ext cx="2011680" cy="292608"/>
          </a:xfrm>
          <a:prstGeom prst="rect">
            <a:avLst/>
          </a:prstGeom>
          <a:noFill/>
          <a:ln/>
        </p:spPr>
        <p:txBody>
          <a:bodyPr wrap="square" lIns="0" tIns="0" rIns="0" bIns="0" rtlCol="0" anchor="ctr"/>
          <a:lstStyle/>
          <a:p>
            <a:pPr algn="ctr" indent="0" marL="0">
              <a:buNone/>
            </a:pPr>
            <a:r>
              <a:rPr lang="en-US" sz="1100" b="1" dirty="0">
                <a:solidFill>
                  <a:schemeClr val="bg1"/>
                </a:solidFill>
              </a:rPr>
              <a:t>Proteomics + WGCNA</a:t>
            </a:r>
            <a:endParaRPr lang="en-US" sz="1100" dirty="0"/>
          </a:p>
        </p:txBody>
      </p:sp>
      <p:sp>
        <p:nvSpPr>
          <p:cNvPr id="5" name="frame f5a_volcano"/>
          <p:cNvSpPr/>
          <p:nvPr/>
        </p:nvSpPr>
        <p:spPr>
          <a:xfrm>
            <a:off x="402336" y="1545336"/>
            <a:ext cx="3035808" cy="2330228"/>
          </a:xfrm>
          <a:prstGeom prst="roundRect">
            <a:avLst>
              <a:gd name="adj" fmla="val 3139"/>
            </a:avLst>
          </a:prstGeom>
          <a:solidFill>
            <a:schemeClr val="bg1"/>
          </a:solidFill>
          <a:ln w="9525">
            <a:solidFill>
              <a:srgbClr val="C9CDE0"/>
            </a:solidFill>
            <a:prstDash val="solid"/>
          </a:ln>
          <a:effectLst>
            <a:outerShdw sx="100000" sy="100000" kx="0" ky="0" algn="bl" rotWithShape="0" blurRad="76200" dist="19050" dir="5400000">
              <a:srgbClr val="2B2D5B">
                <a:alpha val="18000"/>
              </a:srgbClr>
            </a:outerShdw>
          </a:effectLst>
        </p:spPr>
      </p:sp>
      <p:pic>
        <p:nvPicPr>
          <p:cNvPr id="6" name="f5a_volcano" descr="/tmp/claude-0/-home-user-owner/e66306d4-2675-5ec2-99fe-5e24f3a64605/scratchpad/figs/f5a_volcano.png">    </p:cNvPr>
          <p:cNvPicPr>
            <a:picLocks noChangeAspect="1"/>
          </p:cNvPicPr>
          <p:nvPr/>
        </p:nvPicPr>
        <p:blipFill>
          <a:blip r:embed="rId1"/>
          <a:stretch>
            <a:fillRect/>
          </a:stretch>
        </p:blipFill>
        <p:spPr>
          <a:xfrm>
            <a:off x="457200" y="1600200"/>
            <a:ext cx="2926080" cy="2220500"/>
          </a:xfrm>
          <a:prstGeom prst="rect">
            <a:avLst/>
          </a:prstGeom>
        </p:spPr>
      </p:pic>
      <p:sp>
        <p:nvSpPr>
          <p:cNvPr id="7" name="caption f5a_volcano"/>
          <p:cNvSpPr txBox="1"/>
          <p:nvPr/>
        </p:nvSpPr>
        <p:spPr>
          <a:xfrm>
            <a:off x="402336" y="3893852"/>
            <a:ext cx="3035808" cy="256032"/>
          </a:xfrm>
          <a:prstGeom prst="rect">
            <a:avLst/>
          </a:prstGeom>
          <a:noFill/>
          <a:ln/>
        </p:spPr>
        <p:txBody>
          <a:bodyPr wrap="square" lIns="0" tIns="0" rIns="0" bIns="0" rtlCol="0" anchor="ctr"/>
          <a:lstStyle/>
          <a:p>
            <a:pPr indent="0" marL="0">
              <a:buNone/>
            </a:pPr>
            <a:r>
              <a:rPr lang="en-US" sz="1000" i="1" dirty="0">
                <a:solidFill>
                  <a:schemeClr val="accent5"/>
                </a:solidFill>
              </a:rPr>
              <a:t>Fig. 5A  2534 proteins, t test</a:t>
            </a:r>
            <a:endParaRPr lang="en-US" sz="1000" dirty="0"/>
          </a:p>
        </p:txBody>
      </p:sp>
      <p:sp>
        <p:nvSpPr>
          <p:cNvPr id="8" name="frame f5d_wgcna"/>
          <p:cNvSpPr/>
          <p:nvPr/>
        </p:nvSpPr>
        <p:spPr>
          <a:xfrm>
            <a:off x="3845729" y="1545336"/>
            <a:ext cx="1726861" cy="2395728"/>
          </a:xfrm>
          <a:prstGeom prst="roundRect">
            <a:avLst>
              <a:gd name="adj" fmla="val 4236"/>
            </a:avLst>
          </a:prstGeom>
          <a:solidFill>
            <a:schemeClr val="bg1"/>
          </a:solidFill>
          <a:ln w="9525">
            <a:solidFill>
              <a:srgbClr val="C9CDE0"/>
            </a:solidFill>
            <a:prstDash val="solid"/>
          </a:ln>
          <a:effectLst>
            <a:outerShdw sx="100000" sy="100000" kx="0" ky="0" algn="bl" rotWithShape="0" blurRad="76200" dist="19050" dir="5400000">
              <a:srgbClr val="2B2D5B">
                <a:alpha val="18000"/>
              </a:srgbClr>
            </a:outerShdw>
          </a:effectLst>
        </p:spPr>
      </p:sp>
      <p:pic>
        <p:nvPicPr>
          <p:cNvPr id="9" name="f5d_wgcna" descr="/tmp/claude-0/-home-user-owner/e66306d4-2675-5ec2-99fe-5e24f3a64605/scratchpad/figs/f5d_wgcna.png">    </p:cNvPr>
          <p:cNvPicPr>
            <a:picLocks noChangeAspect="1"/>
          </p:cNvPicPr>
          <p:nvPr/>
        </p:nvPicPr>
        <p:blipFill>
          <a:blip r:embed="rId2"/>
          <a:stretch>
            <a:fillRect/>
          </a:stretch>
        </p:blipFill>
        <p:spPr>
          <a:xfrm>
            <a:off x="3900593" y="1600200"/>
            <a:ext cx="1617133" cy="2286000"/>
          </a:xfrm>
          <a:prstGeom prst="rect">
            <a:avLst/>
          </a:prstGeom>
        </p:spPr>
      </p:pic>
      <p:sp>
        <p:nvSpPr>
          <p:cNvPr id="10" name="caption f5d_wgcna"/>
          <p:cNvSpPr txBox="1"/>
          <p:nvPr/>
        </p:nvSpPr>
        <p:spPr>
          <a:xfrm>
            <a:off x="3845729" y="3959352"/>
            <a:ext cx="1726861" cy="256032"/>
          </a:xfrm>
          <a:prstGeom prst="rect">
            <a:avLst/>
          </a:prstGeom>
          <a:noFill/>
          <a:ln/>
        </p:spPr>
        <p:txBody>
          <a:bodyPr wrap="square" lIns="0" tIns="0" rIns="0" bIns="0" rtlCol="0" anchor="ctr"/>
          <a:lstStyle/>
          <a:p>
            <a:pPr indent="0" marL="0">
              <a:buNone/>
            </a:pPr>
            <a:r>
              <a:rPr lang="en-US" sz="1000" i="1" dirty="0">
                <a:solidFill>
                  <a:schemeClr val="accent5"/>
                </a:solidFill>
              </a:rPr>
              <a:t>Fig. 5D  14 WGCNA protein modules</a:t>
            </a:r>
            <a:endParaRPr lang="en-US" sz="1000" dirty="0"/>
          </a:p>
        </p:txBody>
      </p:sp>
      <p:sp>
        <p:nvSpPr>
          <p:cNvPr id="11" name="r3 left bullets"/>
          <p:cNvSpPr txBox="1"/>
          <p:nvPr/>
        </p:nvSpPr>
        <p:spPr>
          <a:xfrm>
            <a:off x="457200" y="4343400"/>
            <a:ext cx="5394960" cy="2011680"/>
          </a:xfrm>
          <a:prstGeom prst="rect">
            <a:avLst/>
          </a:prstGeom>
          <a:noFill/>
          <a:ln/>
        </p:spPr>
        <p:txBody>
          <a:bodyPr wrap="square" lIns="0" tIns="0" rIns="0" bIns="0" rtlCol="0" anchor="t"/>
          <a:lstStyle/>
          <a:p>
            <a:pPr marL="177800" indent="-177800">
              <a:lnSpc>
                <a:spcPct val="105000"/>
              </a:lnSpc>
              <a:spcAft>
                <a:spcPts val="500"/>
              </a:spcAft>
              <a:buSzPct val="100000"/>
              <a:buChar char="•"/>
            </a:pPr>
            <a:r>
              <a:rPr lang="en-US" sz="1200" b="1" dirty="0">
                <a:solidFill>
                  <a:schemeClr val="tx1"/>
                </a:solidFill>
              </a:rPr>
              <a:t>22 differential proteins </a:t>
            </a:r>
            <a:pPr indent="0" marL="0">
              <a:lnSpc>
                <a:spcPct val="105000"/>
              </a:lnSpc>
              <a:spcAft>
                <a:spcPts val="500"/>
              </a:spcAft>
              <a:buNone/>
            </a:pPr>
            <a:r>
              <a:rPr lang="en-US" sz="1200" dirty="0">
                <a:solidFill>
                  <a:schemeClr val="tx1"/>
                </a:solidFill>
              </a:rPr>
              <a:t>(nominal P &lt; 0.05): CDH2, GSTT1, N4BP1 up; SEC13, BRCC3, NDRG2 down. GO: glutathione metabolism up; branched-chain amino acid catabolism and ER-to-Golgi transport down.</a:t>
            </a:r>
            <a:endParaRPr lang="en-US" sz="1200" dirty="0"/>
          </a:p>
          <a:p>
            <a:pPr marL="177800" indent="-177800">
              <a:lnSpc>
                <a:spcPct val="105000"/>
              </a:lnSpc>
              <a:spcAft>
                <a:spcPts val="500"/>
              </a:spcAft>
              <a:buSzPct val="100000"/>
              <a:buChar char="•"/>
            </a:pPr>
            <a:r>
              <a:rPr lang="en-US" sz="1200" b="1" dirty="0">
                <a:solidFill>
                  <a:schemeClr val="tx1"/>
                </a:solidFill>
              </a:rPr>
              <a:t>Synapse modules rise in PD: </a:t>
            </a:r>
            <a:pPr indent="0" marL="0">
              <a:lnSpc>
                <a:spcPct val="105000"/>
              </a:lnSpc>
              <a:spcAft>
                <a:spcPts val="500"/>
              </a:spcAft>
              <a:buNone/>
            </a:pPr>
            <a:r>
              <a:rPr lang="en-US" sz="1200" dirty="0">
                <a:solidFill>
                  <a:schemeClr val="tx1"/>
                </a:solidFill>
              </a:rPr>
              <a:t>M1 synaptic vesicle cycle and M2 synapse organization have higher eigengene expression and are enriched for excitatory-neuron markers (HPCA, NPTX1, SYN2).</a:t>
            </a:r>
            <a:endParaRPr lang="en-US" sz="1200" dirty="0"/>
          </a:p>
          <a:p>
            <a:pPr marL="177800" indent="-177800">
              <a:lnSpc>
                <a:spcPct val="105000"/>
              </a:lnSpc>
              <a:spcAft>
                <a:spcPts val="500"/>
              </a:spcAft>
              <a:buSzPct val="100000"/>
              <a:buChar char="•"/>
            </a:pPr>
            <a:r>
              <a:rPr lang="en-US" sz="1200" b="1" dirty="0">
                <a:solidFill>
                  <a:schemeClr val="tx1"/>
                </a:solidFill>
              </a:rPr>
              <a:t>Cross-omics concordance: </a:t>
            </a:r>
            <a:pPr indent="0" marL="0">
              <a:lnSpc>
                <a:spcPct val="105000"/>
              </a:lnSpc>
              <a:spcAft>
                <a:spcPts val="500"/>
              </a:spcAft>
              <a:buNone/>
            </a:pPr>
            <a:r>
              <a:rPr lang="en-US" sz="1200" dirty="0">
                <a:solidFill>
                  <a:schemeClr val="tx1"/>
                </a:solidFill>
              </a:rPr>
              <a:t>the same presynaptic assembly and axonogenesis terms were up at the RNA level in neurons, and RNA velocity flagged SYN2.</a:t>
            </a:r>
            <a:endParaRPr lang="en-US" sz="1200" dirty="0"/>
          </a:p>
        </p:txBody>
      </p:sp>
      <p:sp>
        <p:nvSpPr>
          <p:cNvPr id="12" name="chip PD versus AD"/>
          <p:cNvSpPr/>
          <p:nvPr/>
        </p:nvSpPr>
        <p:spPr>
          <a:xfrm>
            <a:off x="6263640" y="1188720"/>
            <a:ext cx="1463040" cy="292608"/>
          </a:xfrm>
          <a:prstGeom prst="roundRect">
            <a:avLst>
              <a:gd name="adj" fmla="val 50000"/>
            </a:avLst>
          </a:prstGeom>
          <a:solidFill>
            <a:srgbClr val="E4572E"/>
          </a:solidFill>
          <a:ln w="12700">
            <a:solidFill>
              <a:srgbClr val="E4572E"/>
            </a:solidFill>
            <a:prstDash val="solid"/>
          </a:ln>
        </p:spPr>
      </p:sp>
      <p:sp>
        <p:nvSpPr>
          <p:cNvPr id="13" name="chip text PD versus AD"/>
          <p:cNvSpPr txBox="1"/>
          <p:nvPr/>
        </p:nvSpPr>
        <p:spPr>
          <a:xfrm>
            <a:off x="6263640" y="1188720"/>
            <a:ext cx="1463040" cy="292608"/>
          </a:xfrm>
          <a:prstGeom prst="rect">
            <a:avLst/>
          </a:prstGeom>
          <a:noFill/>
          <a:ln/>
        </p:spPr>
        <p:txBody>
          <a:bodyPr wrap="square" lIns="0" tIns="0" rIns="0" bIns="0" rtlCol="0" anchor="ctr"/>
          <a:lstStyle/>
          <a:p>
            <a:pPr algn="ctr" indent="0" marL="0">
              <a:buNone/>
            </a:pPr>
            <a:r>
              <a:rPr lang="en-US" sz="1100" b="1" dirty="0">
                <a:solidFill>
                  <a:schemeClr val="bg1"/>
                </a:solidFill>
              </a:rPr>
              <a:t>PD versus AD</a:t>
            </a:r>
            <a:endParaRPr lang="en-US" sz="1100" dirty="0"/>
          </a:p>
        </p:txBody>
      </p:sp>
      <p:sp>
        <p:nvSpPr>
          <p:cNvPr id="14" name="frame f6a_degs"/>
          <p:cNvSpPr/>
          <p:nvPr/>
        </p:nvSpPr>
        <p:spPr>
          <a:xfrm>
            <a:off x="6208776" y="1545336"/>
            <a:ext cx="3127248" cy="2318984"/>
          </a:xfrm>
          <a:prstGeom prst="roundRect">
            <a:avLst>
              <a:gd name="adj" fmla="val 3154"/>
            </a:avLst>
          </a:prstGeom>
          <a:solidFill>
            <a:schemeClr val="bg1"/>
          </a:solidFill>
          <a:ln w="9525">
            <a:solidFill>
              <a:srgbClr val="C9CDE0"/>
            </a:solidFill>
            <a:prstDash val="solid"/>
          </a:ln>
          <a:effectLst>
            <a:outerShdw sx="100000" sy="100000" kx="0" ky="0" algn="bl" rotWithShape="0" blurRad="76200" dist="19050" dir="5400000">
              <a:srgbClr val="2B2D5B">
                <a:alpha val="18000"/>
              </a:srgbClr>
            </a:outerShdw>
          </a:effectLst>
        </p:spPr>
      </p:sp>
      <p:pic>
        <p:nvPicPr>
          <p:cNvPr id="15" name="f6a_degs" descr="/tmp/claude-0/-home-user-owner/e66306d4-2675-5ec2-99fe-5e24f3a64605/scratchpad/figs/f6a_degs.png">    </p:cNvPr>
          <p:cNvPicPr>
            <a:picLocks noChangeAspect="1"/>
          </p:cNvPicPr>
          <p:nvPr/>
        </p:nvPicPr>
        <p:blipFill>
          <a:blip r:embed="rId3"/>
          <a:stretch>
            <a:fillRect/>
          </a:stretch>
        </p:blipFill>
        <p:spPr>
          <a:xfrm>
            <a:off x="6263640" y="1600200"/>
            <a:ext cx="3017520" cy="2209256"/>
          </a:xfrm>
          <a:prstGeom prst="rect">
            <a:avLst/>
          </a:prstGeom>
        </p:spPr>
      </p:pic>
      <p:sp>
        <p:nvSpPr>
          <p:cNvPr id="16" name="caption f6a_degs"/>
          <p:cNvSpPr txBox="1"/>
          <p:nvPr/>
        </p:nvSpPr>
        <p:spPr>
          <a:xfrm>
            <a:off x="6208776" y="3882608"/>
            <a:ext cx="3127248" cy="256032"/>
          </a:xfrm>
          <a:prstGeom prst="rect">
            <a:avLst/>
          </a:prstGeom>
          <a:noFill/>
          <a:ln/>
        </p:spPr>
        <p:txBody>
          <a:bodyPr wrap="square" lIns="0" tIns="0" rIns="0" bIns="0" rtlCol="0" anchor="ctr"/>
          <a:lstStyle/>
          <a:p>
            <a:pPr indent="0" marL="0">
              <a:buNone/>
            </a:pPr>
            <a:r>
              <a:rPr lang="en-US" sz="1000" i="1" dirty="0">
                <a:solidFill>
                  <a:schemeClr val="accent5"/>
                </a:solidFill>
              </a:rPr>
              <a:t>Fig. 6A  Shared DEGs with AD (Mathys 2019)</a:t>
            </a:r>
            <a:endParaRPr lang="en-US" sz="1000" dirty="0"/>
          </a:p>
        </p:txBody>
      </p:sp>
      <p:sp>
        <p:nvSpPr>
          <p:cNvPr id="17" name="frame f6c_bars"/>
          <p:cNvSpPr/>
          <p:nvPr/>
        </p:nvSpPr>
        <p:spPr>
          <a:xfrm>
            <a:off x="9363456" y="1545336"/>
            <a:ext cx="2423160" cy="1510821"/>
          </a:xfrm>
          <a:prstGeom prst="roundRect">
            <a:avLst>
              <a:gd name="adj" fmla="val 4842"/>
            </a:avLst>
          </a:prstGeom>
          <a:solidFill>
            <a:schemeClr val="bg1"/>
          </a:solidFill>
          <a:ln w="9525">
            <a:solidFill>
              <a:srgbClr val="C9CDE0"/>
            </a:solidFill>
            <a:prstDash val="solid"/>
          </a:ln>
          <a:effectLst>
            <a:outerShdw sx="100000" sy="100000" kx="0" ky="0" algn="bl" rotWithShape="0" blurRad="76200" dist="19050" dir="5400000">
              <a:srgbClr val="2B2D5B">
                <a:alpha val="18000"/>
              </a:srgbClr>
            </a:outerShdw>
          </a:effectLst>
        </p:spPr>
      </p:sp>
      <p:pic>
        <p:nvPicPr>
          <p:cNvPr id="18" name="f6c_bars" descr="/tmp/claude-0/-home-user-owner/e66306d4-2675-5ec2-99fe-5e24f3a64605/scratchpad/figs/f6c_bars.png">    </p:cNvPr>
          <p:cNvPicPr>
            <a:picLocks noChangeAspect="1"/>
          </p:cNvPicPr>
          <p:nvPr/>
        </p:nvPicPr>
        <p:blipFill>
          <a:blip r:embed="rId4"/>
          <a:stretch>
            <a:fillRect/>
          </a:stretch>
        </p:blipFill>
        <p:spPr>
          <a:xfrm>
            <a:off x="9418320" y="1600200"/>
            <a:ext cx="2313432" cy="1401093"/>
          </a:xfrm>
          <a:prstGeom prst="rect">
            <a:avLst/>
          </a:prstGeom>
        </p:spPr>
      </p:pic>
      <p:sp>
        <p:nvSpPr>
          <p:cNvPr id="19" name="caption f6c_bars"/>
          <p:cNvSpPr txBox="1"/>
          <p:nvPr/>
        </p:nvSpPr>
        <p:spPr>
          <a:xfrm>
            <a:off x="9363456" y="3074445"/>
            <a:ext cx="2423160" cy="256032"/>
          </a:xfrm>
          <a:prstGeom prst="rect">
            <a:avLst/>
          </a:prstGeom>
          <a:noFill/>
          <a:ln/>
        </p:spPr>
        <p:txBody>
          <a:bodyPr wrap="square" lIns="0" tIns="0" rIns="0" bIns="0" rtlCol="0" anchor="ctr"/>
          <a:lstStyle/>
          <a:p>
            <a:pPr indent="0" marL="0">
              <a:buNone/>
            </a:pPr>
            <a:r>
              <a:rPr lang="en-US" sz="1000" i="1" dirty="0">
                <a:solidFill>
                  <a:schemeClr val="accent5"/>
                </a:solidFill>
              </a:rPr>
              <a:t>Fig. 6C  Shared pathways</a:t>
            </a:r>
            <a:endParaRPr lang="en-US" sz="1000" dirty="0"/>
          </a:p>
        </p:txBody>
      </p:sp>
      <p:sp>
        <p:nvSpPr>
          <p:cNvPr id="20" name="r3 right bullets"/>
          <p:cNvSpPr txBox="1"/>
          <p:nvPr/>
        </p:nvSpPr>
        <p:spPr>
          <a:xfrm>
            <a:off x="6263640" y="4343400"/>
            <a:ext cx="5468112" cy="2011680"/>
          </a:xfrm>
          <a:prstGeom prst="rect">
            <a:avLst/>
          </a:prstGeom>
          <a:noFill/>
          <a:ln/>
        </p:spPr>
        <p:txBody>
          <a:bodyPr wrap="square" lIns="0" tIns="0" rIns="0" bIns="0" rtlCol="0" anchor="t"/>
          <a:lstStyle/>
          <a:p>
            <a:pPr marL="177800" indent="-177800">
              <a:lnSpc>
                <a:spcPct val="105000"/>
              </a:lnSpc>
              <a:spcAft>
                <a:spcPts val="500"/>
              </a:spcAft>
              <a:buSzPct val="100000"/>
              <a:buChar char="•"/>
            </a:pPr>
            <a:r>
              <a:rPr lang="en-US" sz="1200" b="1" dirty="0">
                <a:solidFill>
                  <a:schemeClr val="tx1"/>
                </a:solidFill>
              </a:rPr>
              <a:t>Zero shared neuronal DEGs </a:t>
            </a:r>
            <a:pPr indent="0" marL="0">
              <a:lnSpc>
                <a:spcPct val="105000"/>
              </a:lnSpc>
              <a:spcAft>
                <a:spcPts val="500"/>
              </a:spcAft>
              <a:buNone/>
            </a:pPr>
            <a:r>
              <a:rPr lang="en-US" sz="1200" dirty="0">
                <a:solidFill>
                  <a:schemeClr val="tx1"/>
                </a:solidFill>
              </a:rPr>
              <a:t>between PD and AD prefrontal cortex (24 AD vs 24 controls), despite 138 shared DEGs overall.</a:t>
            </a:r>
            <a:endParaRPr lang="en-US" sz="1200" dirty="0"/>
          </a:p>
          <a:p>
            <a:pPr marL="177800" indent="-177800">
              <a:lnSpc>
                <a:spcPct val="105000"/>
              </a:lnSpc>
              <a:spcAft>
                <a:spcPts val="500"/>
              </a:spcAft>
              <a:buSzPct val="100000"/>
              <a:buChar char="•"/>
            </a:pPr>
            <a:r>
              <a:rPr lang="en-US" sz="1200" b="1" dirty="0">
                <a:solidFill>
                  <a:schemeClr val="tx1"/>
                </a:solidFill>
              </a:rPr>
              <a:t>Overlap lives in glia: </a:t>
            </a:r>
            <a:pPr indent="0" marL="0">
              <a:lnSpc>
                <a:spcPct val="105000"/>
              </a:lnSpc>
              <a:spcAft>
                <a:spcPts val="500"/>
              </a:spcAft>
              <a:buNone/>
            </a:pPr>
            <a:r>
              <a:rPr lang="en-US" sz="1200" dirty="0">
                <a:solidFill>
                  <a:schemeClr val="tx1"/>
                </a:solidFill>
              </a:rPr>
              <a:t>astrocytes share metal-ion detoxification (MT1E, MT2A); microglia share immune activation and APOE, SPP1, APOC1 changes. Oligodendrocytes share SLC38A2, CA2.</a:t>
            </a:r>
            <a:endParaRPr lang="en-US" sz="1200" dirty="0"/>
          </a:p>
          <a:p>
            <a:pPr marL="177800" indent="-177800">
              <a:lnSpc>
                <a:spcPct val="105000"/>
              </a:lnSpc>
              <a:spcAft>
                <a:spcPts val="500"/>
              </a:spcAft>
              <a:buSzPct val="100000"/>
              <a:buChar char="•"/>
            </a:pPr>
            <a:r>
              <a:rPr lang="en-US" sz="1200" b="1" dirty="0">
                <a:solidFill>
                  <a:schemeClr val="tx1"/>
                </a:solidFill>
              </a:rPr>
              <a:t>Proteome agrees: </a:t>
            </a:r>
            <a:pPr indent="0" marL="0">
              <a:lnSpc>
                <a:spcPct val="105000"/>
              </a:lnSpc>
              <a:spcAft>
                <a:spcPts val="500"/>
              </a:spcAft>
              <a:buNone/>
            </a:pPr>
            <a:r>
              <a:rPr lang="en-US" sz="1200" dirty="0">
                <a:solidFill>
                  <a:schemeClr val="tx1"/>
                </a:solidFill>
              </a:rPr>
              <a:t>only CDH2 overlaps with the AD proteome; 12 up and 17 down pathways are shared (cytoskeletal transport, ER-Golgi, actin depolymerization).</a:t>
            </a:r>
            <a:endParaRPr lang="en-US" sz="1200" dirty="0"/>
          </a:p>
          <a:p>
            <a:pPr marL="177800" indent="-177800">
              <a:lnSpc>
                <a:spcPct val="105000"/>
              </a:lnSpc>
              <a:spcAft>
                <a:spcPts val="500"/>
              </a:spcAft>
              <a:buSzPct val="100000"/>
              <a:buChar char="•"/>
            </a:pPr>
            <a:r>
              <a:rPr lang="en-US" sz="1200" b="1" dirty="0">
                <a:solidFill>
                  <a:schemeClr val="tx1"/>
                </a:solidFill>
              </a:rPr>
              <a:t>Message: </a:t>
            </a:r>
            <a:pPr indent="0" marL="0">
              <a:lnSpc>
                <a:spcPct val="105000"/>
              </a:lnSpc>
              <a:spcAft>
                <a:spcPts val="500"/>
              </a:spcAft>
              <a:buNone/>
            </a:pPr>
            <a:r>
              <a:rPr lang="en-US" sz="1200" dirty="0">
                <a:solidFill>
                  <a:schemeClr val="tx1"/>
                </a:solidFill>
              </a:rPr>
              <a:t>neuronal vulnerability is disease-specific; glial inflammation is a common denominator.</a:t>
            </a:r>
            <a:endParaRPr lang="en-US" sz="1200" dirty="0"/>
          </a:p>
        </p:txBody>
      </p:sp>
      <p:sp>
        <p:nvSpPr>
          <p:cNvPr id="25" name="Slide Number Placeholder 0"/>
          <p:cNvSpPr>
            <a:spLocks noGrp="1"/>
          </p:cNvSpPr>
          <p:nvPr>
            <p:ph type="sldNum" sz="quarter" idx="4294967295"/>
          </p:nvPr>
        </p:nvSpPr>
        <p:spPr>
          <a:xfrm>
            <a:off x="1124712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74552" cy="731520"/>
          </a:xfrm>
          <a:prstGeom prst="rect">
            <a:avLst/>
          </a:prstGeom>
          <a:noFill/>
          <a:ln/>
        </p:spPr>
        <p:txBody>
          <a:bodyPr wrap="square" lIns="0" tIns="0" rIns="0" bIns="0" rtlCol="0" anchor="ctr"/>
          <a:lstStyle/>
          <a:p>
            <a:pPr algn="l" indent="0" marL="0">
              <a:buNone/>
            </a:pPr>
            <a:r>
              <a:rPr lang="en-US" sz="2600" b="1" dirty="0">
                <a:solidFill>
                  <a:schemeClr val="bg1"/>
                </a:solidFill>
              </a:rPr>
              <a:t>Take-aways and critical appraisal</a:t>
            </a:r>
            <a:endParaRPr lang="en-US" sz="2600" dirty="0"/>
          </a:p>
        </p:txBody>
      </p:sp>
      <p:sp>
        <p:nvSpPr>
          <p:cNvPr id="3" name="takeaway card"/>
          <p:cNvSpPr/>
          <p:nvPr/>
        </p:nvSpPr>
        <p:spPr>
          <a:xfrm>
            <a:off x="457200" y="1188720"/>
            <a:ext cx="5532120" cy="5074920"/>
          </a:xfrm>
          <a:prstGeom prst="roundRect">
            <a:avLst>
              <a:gd name="adj" fmla="val 1802"/>
            </a:avLst>
          </a:prstGeom>
          <a:solidFill>
            <a:srgbClr val="FFFFFF"/>
          </a:solidFill>
          <a:ln w="12700">
            <a:solidFill>
              <a:srgbClr val="FFFFFF"/>
            </a:solidFill>
            <a:prstDash val="solid"/>
          </a:ln>
        </p:spPr>
      </p:sp>
      <p:sp>
        <p:nvSpPr>
          <p:cNvPr id="4" name="icon circle bulb"/>
          <p:cNvSpPr/>
          <p:nvPr/>
        </p:nvSpPr>
        <p:spPr>
          <a:xfrm>
            <a:off x="640080" y="1325880"/>
            <a:ext cx="457200" cy="457200"/>
          </a:xfrm>
          <a:prstGeom prst="ellipse">
            <a:avLst/>
          </a:prstGeom>
          <a:solidFill>
            <a:srgbClr val="F2A541"/>
          </a:solidFill>
          <a:ln w="12700">
            <a:solidFill>
              <a:srgbClr val="F2A541"/>
            </a:solidFill>
            <a:prstDash val="solid"/>
          </a:ln>
        </p:spPr>
      </p:sp>
      <p:pic>
        <p:nvPicPr>
          <p:cNvPr id="5" name="icon bulb" descr="/tmp/claude-0/-home-user-owner/e66306d4-2675-5ec2-99fe-5e24f3a64605/scratchpad/build/img/ic_bulb.png">    </p:cNvPr>
          <p:cNvPicPr>
            <a:picLocks noChangeAspect="1"/>
          </p:cNvPicPr>
          <p:nvPr/>
        </p:nvPicPr>
        <p:blipFill>
          <a:blip r:embed="rId1"/>
          <a:stretch>
            <a:fillRect/>
          </a:stretch>
        </p:blipFill>
        <p:spPr>
          <a:xfrm>
            <a:off x="758952" y="1444752"/>
            <a:ext cx="219456" cy="219456"/>
          </a:xfrm>
          <a:prstGeom prst="rect">
            <a:avLst/>
          </a:prstGeom>
        </p:spPr>
      </p:pic>
      <p:sp>
        <p:nvSpPr>
          <p:cNvPr id="6" name="heading What the paper shows"/>
          <p:cNvSpPr txBox="1"/>
          <p:nvPr/>
        </p:nvSpPr>
        <p:spPr>
          <a:xfrm>
            <a:off x="1234440" y="1371600"/>
            <a:ext cx="4480560" cy="365760"/>
          </a:xfrm>
          <a:prstGeom prst="rect">
            <a:avLst/>
          </a:prstGeom>
          <a:noFill/>
          <a:ln/>
        </p:spPr>
        <p:txBody>
          <a:bodyPr wrap="square" lIns="0" tIns="0" rIns="0" bIns="0" rtlCol="0" anchor="ctr"/>
          <a:lstStyle/>
          <a:p>
            <a:pPr indent="0" marL="0">
              <a:buNone/>
            </a:pPr>
            <a:r>
              <a:rPr lang="en-US" sz="1600" b="1" dirty="0">
                <a:solidFill>
                  <a:schemeClr val="tx2"/>
                </a:solidFill>
              </a:rPr>
              <a:t>What the paper shows</a:t>
            </a:r>
            <a:endParaRPr lang="en-US" sz="1600" dirty="0"/>
          </a:p>
        </p:txBody>
      </p:sp>
      <p:sp>
        <p:nvSpPr>
          <p:cNvPr id="7" name="takeaway bullets"/>
          <p:cNvSpPr txBox="1"/>
          <p:nvPr/>
        </p:nvSpPr>
        <p:spPr>
          <a:xfrm>
            <a:off x="685800" y="1874520"/>
            <a:ext cx="5120640" cy="4297680"/>
          </a:xfrm>
          <a:prstGeom prst="rect">
            <a:avLst/>
          </a:prstGeom>
          <a:noFill/>
          <a:ln/>
        </p:spPr>
        <p:txBody>
          <a:bodyPr wrap="square" lIns="0" tIns="0" rIns="0" bIns="0" rtlCol="0" anchor="t"/>
          <a:lstStyle/>
          <a:p>
            <a:pPr marL="177800" indent="-177800">
              <a:lnSpc>
                <a:spcPct val="105000"/>
              </a:lnSpc>
              <a:spcAft>
                <a:spcPts val="1200"/>
              </a:spcAft>
              <a:buSzPct val="100000"/>
              <a:buChar char="•"/>
            </a:pPr>
            <a:r>
              <a:rPr lang="en-US" sz="1400" b="1" dirty="0">
                <a:solidFill>
                  <a:schemeClr val="tx1"/>
                </a:solidFill>
              </a:rPr>
              <a:t>First single-cell atlas of PD prefrontal cortex </a:t>
            </a:r>
            <a:pPr indent="0" marL="0">
              <a:lnSpc>
                <a:spcPct val="105000"/>
              </a:lnSpc>
              <a:spcAft>
                <a:spcPts val="1200"/>
              </a:spcAft>
              <a:buNone/>
            </a:pPr>
            <a:r>
              <a:rPr lang="en-US" sz="1400" dirty="0">
                <a:solidFill>
                  <a:schemeClr val="tx1"/>
                </a:solidFill>
              </a:rPr>
              <a:t>(77,384 nuclei, 8 types) with paired proteomics and Lewy pathology from the same donors; data public (GEO GSE202210, PRIDE PXD030142).</a:t>
            </a:r>
            <a:endParaRPr lang="en-US" sz="1400" dirty="0"/>
          </a:p>
          <a:p>
            <a:pPr marL="177800" indent="-177800">
              <a:lnSpc>
                <a:spcPct val="105000"/>
              </a:lnSpc>
              <a:spcAft>
                <a:spcPts val="1200"/>
              </a:spcAft>
              <a:buSzPct val="100000"/>
              <a:buChar char="•"/>
            </a:pPr>
            <a:r>
              <a:rPr lang="en-US" sz="1400" b="1" dirty="0">
                <a:solidFill>
                  <a:schemeClr val="tx1"/>
                </a:solidFill>
              </a:rPr>
              <a:t>Neuroinflammation is cellular and specific: </a:t>
            </a:r>
            <a:pPr indent="0" marL="0">
              <a:lnSpc>
                <a:spcPct val="105000"/>
              </a:lnSpc>
              <a:spcAft>
                <a:spcPts val="1200"/>
              </a:spcAft>
              <a:buNone/>
            </a:pPr>
            <a:r>
              <a:rPr lang="en-US" sz="1400" dirty="0">
                <a:solidFill>
                  <a:schemeClr val="tx1"/>
                </a:solidFill>
              </a:rPr>
              <a:t>more brain-resident T cells and microglia, activation programs in glia, LRRK2 in microglia/OPCs.</a:t>
            </a:r>
            <a:endParaRPr lang="en-US" sz="1400" dirty="0"/>
          </a:p>
          <a:p>
            <a:pPr marL="177800" indent="-177800">
              <a:lnSpc>
                <a:spcPct val="105000"/>
              </a:lnSpc>
              <a:spcAft>
                <a:spcPts val="1200"/>
              </a:spcAft>
              <a:buSzPct val="100000"/>
              <a:buChar char="•"/>
            </a:pPr>
            <a:r>
              <a:rPr lang="en-US" sz="1400" b="1" dirty="0">
                <a:solidFill>
                  <a:schemeClr val="tx1"/>
                </a:solidFill>
              </a:rPr>
              <a:t>Excitatory neurons are the vulnerable population: </a:t>
            </a:r>
            <a:pPr indent="0" marL="0">
              <a:lnSpc>
                <a:spcPct val="105000"/>
              </a:lnSpc>
              <a:spcAft>
                <a:spcPts val="1200"/>
              </a:spcAft>
              <a:buNone/>
            </a:pPr>
            <a:r>
              <a:rPr lang="en-US" sz="1400" dirty="0">
                <a:solidFill>
                  <a:schemeClr val="tx1"/>
                </a:solidFill>
              </a:rPr>
              <a:t>chaperone loss scales with α-synuclein burden; HSP90AB1 and DNAJB6, which normally restrain α-syn aggregation, are candidate targets.</a:t>
            </a:r>
            <a:endParaRPr lang="en-US" sz="1400" dirty="0"/>
          </a:p>
          <a:p>
            <a:pPr marL="177800" indent="-177800">
              <a:lnSpc>
                <a:spcPct val="105000"/>
              </a:lnSpc>
              <a:spcAft>
                <a:spcPts val="1200"/>
              </a:spcAft>
              <a:buSzPct val="100000"/>
              <a:buChar char="•"/>
            </a:pPr>
            <a:r>
              <a:rPr lang="en-US" sz="1400" b="1" dirty="0">
                <a:solidFill>
                  <a:schemeClr val="tx1"/>
                </a:solidFill>
              </a:rPr>
              <a:t>Neuron-astrocyte support is lost </a:t>
            </a:r>
            <a:pPr indent="0" marL="0">
              <a:lnSpc>
                <a:spcPct val="105000"/>
              </a:lnSpc>
              <a:spcAft>
                <a:spcPts val="1200"/>
              </a:spcAft>
              <a:buNone/>
            </a:pPr>
            <a:r>
              <a:rPr lang="en-US" sz="1400" dirty="0">
                <a:solidFill>
                  <a:schemeClr val="tx1"/>
                </a:solidFill>
              </a:rPr>
              <a:t>while neuron-T cell Notch signalling appears.</a:t>
            </a:r>
            <a:endParaRPr lang="en-US" sz="1400" dirty="0"/>
          </a:p>
          <a:p>
            <a:pPr marL="177800" indent="-177800">
              <a:lnSpc>
                <a:spcPct val="105000"/>
              </a:lnSpc>
              <a:spcAft>
                <a:spcPts val="1200"/>
              </a:spcAft>
              <a:buSzPct val="100000"/>
              <a:buChar char="•"/>
            </a:pPr>
            <a:r>
              <a:rPr lang="en-US" sz="1400" b="1" dirty="0">
                <a:solidFill>
                  <a:schemeClr val="tx1"/>
                </a:solidFill>
              </a:rPr>
              <a:t>PD and AD diverge in neurons, converge in glia, </a:t>
            </a:r>
            <a:pPr indent="0" marL="0">
              <a:lnSpc>
                <a:spcPct val="105000"/>
              </a:lnSpc>
              <a:spcAft>
                <a:spcPts val="1200"/>
              </a:spcAft>
              <a:buNone/>
            </a:pPr>
            <a:r>
              <a:rPr lang="en-US" sz="1400" dirty="0">
                <a:solidFill>
                  <a:schemeClr val="tx1"/>
                </a:solidFill>
              </a:rPr>
              <a:t>arguing for disease-specific neuronal mechanisms on a shared inflammatory background.</a:t>
            </a:r>
            <a:endParaRPr lang="en-US" sz="1400" dirty="0"/>
          </a:p>
        </p:txBody>
      </p:sp>
      <p:sp>
        <p:nvSpPr>
          <p:cNvPr id="8" name="critique card"/>
          <p:cNvSpPr/>
          <p:nvPr/>
        </p:nvSpPr>
        <p:spPr>
          <a:xfrm>
            <a:off x="6217920" y="1188720"/>
            <a:ext cx="5513832" cy="5074920"/>
          </a:xfrm>
          <a:prstGeom prst="roundRect">
            <a:avLst>
              <a:gd name="adj" fmla="val 1802"/>
            </a:avLst>
          </a:prstGeom>
          <a:solidFill>
            <a:srgbClr val="FFFFFF"/>
          </a:solidFill>
          <a:ln w="12700">
            <a:solidFill>
              <a:srgbClr val="FFFFFF"/>
            </a:solidFill>
            <a:prstDash val="solid"/>
          </a:ln>
        </p:spPr>
      </p:sp>
      <p:sp>
        <p:nvSpPr>
          <p:cNvPr id="9" name="icon circle warn"/>
          <p:cNvSpPr/>
          <p:nvPr/>
        </p:nvSpPr>
        <p:spPr>
          <a:xfrm>
            <a:off x="6400800" y="1325880"/>
            <a:ext cx="457200" cy="457200"/>
          </a:xfrm>
          <a:prstGeom prst="ellipse">
            <a:avLst/>
          </a:prstGeom>
          <a:solidFill>
            <a:srgbClr val="E4572E"/>
          </a:solidFill>
          <a:ln w="12700">
            <a:solidFill>
              <a:srgbClr val="E4572E"/>
            </a:solidFill>
            <a:prstDash val="solid"/>
          </a:ln>
        </p:spPr>
      </p:sp>
      <p:pic>
        <p:nvPicPr>
          <p:cNvPr id="10" name="icon warn" descr="/tmp/claude-0/-home-user-owner/e66306d4-2675-5ec2-99fe-5e24f3a64605/scratchpad/build/img/ic_warn.png">    </p:cNvPr>
          <p:cNvPicPr>
            <a:picLocks noChangeAspect="1"/>
          </p:cNvPicPr>
          <p:nvPr/>
        </p:nvPicPr>
        <p:blipFill>
          <a:blip r:embed="rId2"/>
          <a:stretch>
            <a:fillRect/>
          </a:stretch>
        </p:blipFill>
        <p:spPr>
          <a:xfrm>
            <a:off x="6519672" y="1444752"/>
            <a:ext cx="219456" cy="219456"/>
          </a:xfrm>
          <a:prstGeom prst="rect">
            <a:avLst/>
          </a:prstGeom>
        </p:spPr>
      </p:pic>
      <p:sp>
        <p:nvSpPr>
          <p:cNvPr id="11" name="heading Questions to raise in discussion"/>
          <p:cNvSpPr txBox="1"/>
          <p:nvPr/>
        </p:nvSpPr>
        <p:spPr>
          <a:xfrm>
            <a:off x="6995160" y="1371600"/>
            <a:ext cx="4480560" cy="365760"/>
          </a:xfrm>
          <a:prstGeom prst="rect">
            <a:avLst/>
          </a:prstGeom>
          <a:noFill/>
          <a:ln/>
        </p:spPr>
        <p:txBody>
          <a:bodyPr wrap="square" lIns="0" tIns="0" rIns="0" bIns="0" rtlCol="0" anchor="ctr"/>
          <a:lstStyle/>
          <a:p>
            <a:pPr indent="0" marL="0">
              <a:buNone/>
            </a:pPr>
            <a:r>
              <a:rPr lang="en-US" sz="1600" b="1" dirty="0">
                <a:solidFill>
                  <a:schemeClr val="tx2"/>
                </a:solidFill>
              </a:rPr>
              <a:t>Questions to raise in discussion</a:t>
            </a:r>
            <a:endParaRPr lang="en-US" sz="1600" dirty="0"/>
          </a:p>
        </p:txBody>
      </p:sp>
      <p:sp>
        <p:nvSpPr>
          <p:cNvPr id="12" name="critique bullets"/>
          <p:cNvSpPr txBox="1"/>
          <p:nvPr/>
        </p:nvSpPr>
        <p:spPr>
          <a:xfrm>
            <a:off x="6446520" y="1874520"/>
            <a:ext cx="5120640" cy="4297680"/>
          </a:xfrm>
          <a:prstGeom prst="rect">
            <a:avLst/>
          </a:prstGeom>
          <a:noFill/>
          <a:ln/>
        </p:spPr>
        <p:txBody>
          <a:bodyPr wrap="square" lIns="0" tIns="0" rIns="0" bIns="0" rtlCol="0" anchor="t"/>
          <a:lstStyle/>
          <a:p>
            <a:pPr marL="177800" indent="-177800">
              <a:lnSpc>
                <a:spcPct val="105000"/>
              </a:lnSpc>
              <a:spcAft>
                <a:spcPts val="1200"/>
              </a:spcAft>
              <a:buSzPct val="100000"/>
              <a:buChar char="•"/>
            </a:pPr>
            <a:r>
              <a:rPr lang="en-US" sz="1400" b="1" dirty="0">
                <a:solidFill>
                  <a:schemeClr val="tx1"/>
                </a:solidFill>
              </a:rPr>
              <a:t>n = 6 vs 6. </a:t>
            </a:r>
            <a:pPr indent="0" marL="0">
              <a:lnSpc>
                <a:spcPct val="105000"/>
              </a:lnSpc>
              <a:spcAft>
                <a:spcPts val="1200"/>
              </a:spcAft>
              <a:buNone/>
            </a:pPr>
            <a:r>
              <a:rPr lang="en-US" sz="1400" dirty="0">
                <a:solidFill>
                  <a:schemeClr val="tx1"/>
                </a:solidFill>
              </a:rPr>
              <a:t>Correlations with pathology rest on six PD points; one donor (score 11.9) can drive R². Proteomic hits are uncorrected P &lt; 0.05 and need replication.</a:t>
            </a:r>
            <a:endParaRPr lang="en-US" sz="1400" dirty="0"/>
          </a:p>
          <a:p>
            <a:pPr marL="177800" indent="-177800">
              <a:lnSpc>
                <a:spcPct val="105000"/>
              </a:lnSpc>
              <a:spcAft>
                <a:spcPts val="1200"/>
              </a:spcAft>
              <a:buSzPct val="100000"/>
              <a:buChar char="•"/>
            </a:pPr>
            <a:r>
              <a:rPr lang="en-US" sz="1400" b="1" dirty="0">
                <a:solidFill>
                  <a:schemeClr val="tx1"/>
                </a:solidFill>
              </a:rPr>
              <a:t>Pseudoreplication. </a:t>
            </a:r>
            <a:pPr indent="0" marL="0">
              <a:lnSpc>
                <a:spcPct val="105000"/>
              </a:lnSpc>
              <a:spcAft>
                <a:spcPts val="1200"/>
              </a:spcAft>
              <a:buNone/>
            </a:pPr>
            <a:r>
              <a:rPr lang="en-US" sz="1400" dirty="0">
                <a:solidFill>
                  <a:schemeClr val="tx1"/>
                </a:solidFill>
              </a:rPr>
              <a:t>Wilcoxon treats each nucleus as independent, so DEG counts (and the 806 figure) are inflated relative to donor-level pseudobulk tests. Variance partition helps but does not fix this.</a:t>
            </a:r>
            <a:endParaRPr lang="en-US" sz="1400" dirty="0"/>
          </a:p>
          <a:p>
            <a:pPr marL="177800" indent="-177800">
              <a:lnSpc>
                <a:spcPct val="105000"/>
              </a:lnSpc>
              <a:spcAft>
                <a:spcPts val="1200"/>
              </a:spcAft>
              <a:buSzPct val="100000"/>
              <a:buChar char="•"/>
            </a:pPr>
            <a:r>
              <a:rPr lang="en-US" sz="1400" b="1" dirty="0">
                <a:solidFill>
                  <a:schemeClr val="tx1"/>
                </a:solidFill>
              </a:rPr>
              <a:t>Correlation, not causation. </a:t>
            </a:r>
            <a:pPr indent="0" marL="0">
              <a:lnSpc>
                <a:spcPct val="105000"/>
              </a:lnSpc>
              <a:spcAft>
                <a:spcPts val="1200"/>
              </a:spcAft>
              <a:buNone/>
            </a:pPr>
            <a:r>
              <a:rPr lang="en-US" sz="1400" dirty="0">
                <a:solidFill>
                  <a:schemeClr val="tx1"/>
                </a:solidFill>
              </a:rPr>
              <a:t>Is chaperone loss a cause of aggregation or a late consequence of dying neurons? Only RNAscope-level, not functional, validation.</a:t>
            </a:r>
            <a:endParaRPr lang="en-US" sz="1400" dirty="0"/>
          </a:p>
          <a:p>
            <a:pPr marL="177800" indent="-177800">
              <a:lnSpc>
                <a:spcPct val="105000"/>
              </a:lnSpc>
              <a:spcAft>
                <a:spcPts val="1200"/>
              </a:spcAft>
              <a:buSzPct val="100000"/>
              <a:buChar char="•"/>
            </a:pPr>
            <a:r>
              <a:rPr lang="en-US" sz="1400" b="1" dirty="0">
                <a:solidFill>
                  <a:schemeClr val="tx1"/>
                </a:solidFill>
              </a:rPr>
              <a:t>Design limits. </a:t>
            </a:r>
            <a:pPr indent="0" marL="0">
              <a:lnSpc>
                <a:spcPct val="105000"/>
              </a:lnSpc>
              <a:spcAft>
                <a:spcPts val="1200"/>
              </a:spcAft>
              <a:buNone/>
            </a:pPr>
            <a:r>
              <a:rPr lang="en-US" sz="1400" dirty="0">
                <a:solidFill>
                  <a:schemeClr val="tx1"/>
                </a:solidFill>
              </a:rPr>
              <a:t>Late-stage, unblinded, end-stage tissue; T cells are rare (276 nuclei); WGCNA pooled PD and HC; AD comparison spans different cohorts, regions (BA9 vs BA10) and pipelines.</a:t>
            </a:r>
            <a:endParaRPr lang="en-US" sz="1400" dirty="0"/>
          </a:p>
          <a:p>
            <a:pPr marL="177800" indent="-177800">
              <a:lnSpc>
                <a:spcPct val="105000"/>
              </a:lnSpc>
              <a:spcAft>
                <a:spcPts val="1200"/>
              </a:spcAft>
              <a:buSzPct val="100000"/>
              <a:buChar char="•"/>
            </a:pPr>
            <a:r>
              <a:rPr lang="en-US" sz="1400" b="1" dirty="0">
                <a:solidFill>
                  <a:schemeClr val="tx1"/>
                </a:solidFill>
              </a:rPr>
              <a:t>Next steps. </a:t>
            </a:r>
            <a:pPr indent="0" marL="0">
              <a:lnSpc>
                <a:spcPct val="105000"/>
              </a:lnSpc>
              <a:spcAft>
                <a:spcPts val="1200"/>
              </a:spcAft>
              <a:buNone/>
            </a:pPr>
            <a:r>
              <a:rPr lang="en-US" sz="1400" dirty="0">
                <a:solidFill>
                  <a:schemeClr val="tx1"/>
                </a:solidFill>
              </a:rPr>
              <a:t>Larger cohorts with pseudobulk models, early-stage and incidental Lewy body cases, spatial transcriptomics, and perturbing HSP90AB1/DNAJB6 in neuron-glia co-cultures.</a:t>
            </a:r>
            <a:endParaRPr lang="en-US" sz="1400" dirty="0"/>
          </a:p>
        </p:txBody>
      </p:sp>
      <p:sp>
        <p:nvSpPr>
          <p:cNvPr id="25" name="Slide Number Placeholder 0"/>
          <p:cNvSpPr>
            <a:spLocks noGrp="1"/>
          </p:cNvSpPr>
          <p:nvPr>
            <p:ph type="sldNum" sz="quarter" idx="4294967295"/>
          </p:nvPr>
        </p:nvSpPr>
        <p:spPr>
          <a:xfrm>
            <a:off x="1124712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PD Atlas">
  <a:themeElements>
    <a:clrScheme name="PD Atlas">
      <a:dk1>
        <a:srgbClr val="1B1D3A"/>
      </a:dk1>
      <a:lt1>
        <a:srgbClr val="FFFFFF"/>
      </a:lt1>
      <a:dk2>
        <a:srgbClr val="2B2D5B"/>
      </a:dk2>
      <a:lt2>
        <a:srgbClr val="EEF0F8"/>
      </a:lt2>
      <a:accent1>
        <a:srgbClr val="E4572E"/>
      </a:accent1>
      <a:accent2>
        <a:srgbClr val="17A398"/>
      </a:accent2>
      <a:accent3>
        <a:srgbClr val="F2A541"/>
      </a:accent3>
      <a:accent4>
        <a:srgbClr val="4A4D8C"/>
      </a:accent4>
      <a:accent5>
        <a:srgbClr val="6B7190"/>
      </a:accent5>
      <a:accent6>
        <a:srgbClr val="C9CDE0"/>
      </a:accent6>
      <a:hlink>
        <a:srgbClr val="17A398"/>
      </a:hlink>
      <a:folHlink>
        <a:srgbClr val="4A4D8C"/>
      </a:folHlink>
    </a:clrScheme>
    <a:fontScheme name="PD Atla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Single-cell transcriptomic and proteomic analysis of Parkinson’s disease brains</dc:title>
  <dc:subject>PptxGenJS Presentation</dc:subject>
  <dc:creator>Journal club</dc:creator>
  <cp:lastModifiedBy>Journal club</cp:lastModifiedBy>
  <cp:revision>1</cp:revision>
  <dcterms:created xsi:type="dcterms:W3CDTF">2026-10-25T18:05:14Z</dcterms:created>
  <dcterms:modified xsi:type="dcterms:W3CDTF">2026-10-25T18:05:14Z</dcterms:modified>
</cp:coreProperties>
</file>